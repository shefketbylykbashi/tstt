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286" r:id="rId5"/>
    <p:sldId id="257" r:id="rId6"/>
    <p:sldId id="258" r:id="rId7"/>
    <p:sldId id="287" r:id="rId8"/>
    <p:sldId id="288" r:id="rId9"/>
    <p:sldId id="289" r:id="rId10"/>
    <p:sldId id="290" r:id="rId11"/>
    <p:sldId id="297" r:id="rId12"/>
    <p:sldId id="292" r:id="rId13"/>
    <p:sldId id="322" r:id="rId14"/>
    <p:sldId id="293" r:id="rId15"/>
    <p:sldId id="294" r:id="rId16"/>
    <p:sldId id="295" r:id="rId17"/>
    <p:sldId id="296" r:id="rId18"/>
    <p:sldId id="298" r:id="rId19"/>
    <p:sldId id="299" r:id="rId20"/>
    <p:sldId id="301" r:id="rId21"/>
    <p:sldId id="302" r:id="rId22"/>
    <p:sldId id="303" r:id="rId23"/>
    <p:sldId id="323" r:id="rId24"/>
    <p:sldId id="304" r:id="rId25"/>
    <p:sldId id="307" r:id="rId26"/>
    <p:sldId id="310" r:id="rId27"/>
    <p:sldId id="311" r:id="rId28"/>
    <p:sldId id="312" r:id="rId29"/>
    <p:sldId id="313" r:id="rId30"/>
    <p:sldId id="314" r:id="rId31"/>
    <p:sldId id="315" r:id="rId32"/>
    <p:sldId id="324" r:id="rId33"/>
    <p:sldId id="326" r:id="rId34"/>
    <p:sldId id="325" r:id="rId35"/>
    <p:sldId id="316" r:id="rId36"/>
    <p:sldId id="327" r:id="rId37"/>
    <p:sldId id="317" r:id="rId38"/>
    <p:sldId id="330" r:id="rId39"/>
    <p:sldId id="331" r:id="rId40"/>
    <p:sldId id="332" r:id="rId41"/>
    <p:sldId id="318" r:id="rId42"/>
    <p:sldId id="320" r:id="rId43"/>
    <p:sldId id="319" r:id="rId44"/>
    <p:sldId id="321" r:id="rId45"/>
    <p:sldId id="27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96" y="9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DB1B-906C-4A70-8D16-DC8EF26B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D03FF-4B9A-C958-4228-97ACEC9E7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46F5B-18F6-4DCD-B1D5-368F4AC70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125BC-D0B8-D81D-7CE0-C2BD5DC4A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16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C872-88CE-E907-3C9C-8296AB7A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78A1C-9A6C-9A02-447B-9759B80F5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1318A-2EE1-4FC0-3360-C6E0C33DC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1DAED-B226-2B0B-B68D-99453B81D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12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7B401-97FA-B2D0-A4B6-313FDB3E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DB9AA-FEC3-CE4F-774F-FBF39AAF2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263D6-F16B-181A-DE98-87E16ED3B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8AE74-D752-49F5-83D8-44FA3F254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664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70E88-E5DE-8C71-BCAA-CAD83F092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CAAE6-96E8-3040-AF7D-A950B656B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C1EA0-4AC3-EC54-2CD3-6BA1AE119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89E07-2D2F-6709-7DF6-8188CF325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79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AAF3-6CC1-497E-B621-1B519953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3CD6F-299C-6D03-0E4D-3AFC0CDA1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722A2-8F0C-4096-A54F-C5EFC9AA3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3E372-8BF9-3062-5494-C16A1C25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6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422F-A591-426F-CBFF-F91B4AE8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6A0AE-BA67-551C-85FF-449F28FE8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552EE-C56F-F42A-90A5-13D758D35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0EFCB-CA7A-F71C-C0C5-F6B086F00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2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32F6F-F601-1FEA-8716-0612FE55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DB5E8-B3C1-E13E-C724-F14E3F28C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0B8C2-8568-2456-BBB1-FF90A8FD7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0D2AD-492E-B7AF-DC34-BF70DD063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505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8F99-D953-D218-F097-06FFC313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CD032-4658-24F2-6BF5-4A078D584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18BDB-6B29-71E2-531F-F35AF7810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0DE1A-3C96-7BAB-158C-DFCAA22C6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431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B3DDD-A6B7-7621-5A7A-467ABDCA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E0C4E-95C3-2154-6024-214E623D9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E06A3-A874-D00A-4F30-CC4ABC3F1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8389-FC7D-8B2A-ABF2-126C07C39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56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C64EF-8072-80DE-EF9F-48D030F7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3AC28-02D8-CFB4-2BDF-CD7C0B88F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5067C-938B-D359-ED80-04556DC1E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FDD35-D44C-5947-1AB4-808B960EB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025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90CF9-6D64-2101-E19E-1F9D06948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9548E-B935-DF33-FA95-5DD933DA2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5DA70-779D-5BEA-6CDD-C7182CA80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96AC-AED9-3C02-6CF2-AB73FD6ED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19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F150-F30D-0BC2-6268-5A0CF536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B57F7-6B1D-15C3-4E34-48ED1D5AA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BB9DD-C4B9-4C98-7BEC-20C0793AF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1EE6F-C42C-4BA9-BA39-22DCB2446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42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2A0B-2EF0-E193-2585-E9961101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1A854-258A-9D67-E5D7-54B8701F3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2BCFA-CFC2-8F7E-3B78-61E4DE7FA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8BBFE-ECAA-A1D0-C7DD-76404B1C4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886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AD4B-A741-6FE2-1624-779538B7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C4390-3DEC-ACBF-0E96-AB56AF47A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1F9D0-785C-16A8-E27D-B0C926112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098AC-CDEE-73AE-5779-6F33B2847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412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91DE-F072-C387-FE3A-00675420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3D99D-B369-E2AA-5980-40BA0928C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61382-CFC7-C334-98A8-501A660C8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7209D-5C00-D8D6-E7FF-7A91F1EB1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16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E5F7-CC0F-E2F3-C865-589A9EF1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F2DD5-1CA4-7081-4A57-60004DD4A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3B8F1-2667-FC7B-2B2A-545DCF189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2C367-3CBA-8E25-7995-46D2E8689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16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A696A-8EBE-EF53-7B37-3BB54851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C7F25-FC71-E5AB-1E00-81C93FBC2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9E743-F7D2-D387-DACB-0F5BC56BA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1C536-AAD6-B013-63A5-35C8B23A0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83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78C0-9EE9-442B-E20A-778024361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C3292-D1B8-8946-1573-45F37BE0E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2F151-3F2F-40F9-F222-9706D999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0A580-8B93-B304-B029-264E0CDB8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68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E36FE-5A8B-0B5E-D95F-2A6EB194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4AA62-7CDB-7FD2-2C93-636B5A3DC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B10DF-1AC5-82B4-0D55-6412395B4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D2735-F6DE-72DB-1AF6-E55307EDC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926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ED37-C12F-0C8B-36E1-979D6351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A1A14-71A2-0D91-0168-56212DDEB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BC2D0-87C0-45A2-BAB3-3AABFC01E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68E31-7EA9-C500-65A4-54CD9B25D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85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B9F7-5933-0264-5FD4-6D1657C8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B554F-5799-C148-077D-25FF78210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91E17-5FF6-3D10-4EC1-28AA61745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66A8A-607F-0462-5B05-A074E878A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5298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3945-1B7E-4B17-6591-7FC417CB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7C035-6FC5-CFA3-40F2-D8E9A170C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5FCC9-801A-9093-4B7F-C757B535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D9147-A646-F61E-8191-7126D8A3F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452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0B81-D5EC-6946-45FA-D55D9E2E6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F4C04-4F17-B09B-22F7-26189DD4D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19EFF-B405-154D-CD65-FDE343F9F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28931-EC5E-6E37-6D2F-BEDCF6BA7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97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C7A0-7A45-B04C-975A-92DA0010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1F6CA-2028-978F-8DBC-81C6969A6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BF175-5311-C429-23D5-AD955973E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E9D46-5A35-4916-6FD9-64819D58C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4876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E8A2-A5BC-4841-9E80-0A698E20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6023E-9DC6-B013-54A4-410C6077B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DBA5A-AFF2-10F7-3ADA-5B5113152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2928D-D1D3-549B-6932-678C27081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613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75B4-8F9E-3FCD-0B88-9D5F7BD8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9DDFB-B356-61E3-855D-EB670CE13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6316A-0A31-9C52-170E-5A596117D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F15B5-9AEB-ACB1-9680-265FA4FD1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3484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1420-3DBB-A62D-6C1C-07ABB2B4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7348F-067B-1720-0B38-05A3C784E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29038-994A-91EB-D80D-A5260D0EF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6D97D-3748-7A26-6118-899A69B90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204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8FFF-0DB0-A2BC-48DB-E9FD6D03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2D1C5-9449-FF0C-3627-59BE5D56A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2E7DF-4AC3-41F0-498F-CBB15DA92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958D2-99C5-C25F-BEDE-78432BCBA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858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6220-4664-A551-BF23-E0BE96DB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B04A3-A573-E7C8-0D9C-1E6ADAA92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C7BDA-AF3F-A86F-400B-436171027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5FCB4-489A-AC63-9C8B-3D9E44151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033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0D94F-DAF6-9B49-1BCA-FC7140C1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2D4D5-1FCB-E3B0-4440-A1F941AB7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F87E8-63B1-31E5-575C-C92455870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C148B-AFF9-93C3-487A-441660A3D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879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1F09-D268-B9A7-EB5B-AFC09C124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B0BC7-11CB-CEC3-61E4-77475C0B8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88C50-2093-11C1-271E-31802123E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6815C-5C45-0A72-DB54-C6CD8B607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670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B14B-153A-3829-222A-EF6DCEF9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0B4C3-0EF2-4397-488C-694B9CD08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5A629-2585-C43A-0CE8-F5EA4FF93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15A0-F694-3868-F32B-FDE2FF9BF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12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E15CC-DD1A-18AD-FBB1-89E6F784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18419-E3C0-2358-6E00-F638662E6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646D5-6B46-BA50-2734-E3913FC90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38954-2D64-D191-3EAB-CB09AB2C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973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C3583-9517-912C-97DD-AF4C069C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D97E1-1F2B-DAC8-FA34-C1569EBBE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4FDFA-4E56-BBD3-FF38-AEC4A4A8A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13259-FAD4-5ED4-7C6A-41A297186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656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D45E-D131-CDE9-EE9C-450CA6FE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C3E0A-7B7A-4C49-8129-4FEE5549F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9B8C8-80AC-948B-1EFE-A1B70EE92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68FE2-A736-A66E-DBC0-DEA622676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1617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929" y="3941904"/>
            <a:ext cx="8814141" cy="644836"/>
          </a:xfrm>
        </p:spPr>
        <p:txBody>
          <a:bodyPr anchor="b">
            <a:normAutofit/>
          </a:bodyPr>
          <a:lstStyle/>
          <a:p>
            <a:pPr algn="ctr"/>
            <a:r>
              <a:rPr lang="en-US" sz="1800" dirty="0"/>
              <a:t>TEMA: </a:t>
            </a:r>
            <a:r>
              <a:rPr lang="en-US" sz="1800" dirty="0" err="1"/>
              <a:t>Integrimi</a:t>
            </a:r>
            <a:r>
              <a:rPr lang="en-US" sz="1800" dirty="0"/>
              <a:t> I </a:t>
            </a:r>
            <a:r>
              <a:rPr lang="sq-AL" sz="1800" dirty="0"/>
              <a:t>inteligjencës artificiale dhe blockchain në tokenizimin e artit</a:t>
            </a:r>
            <a:endParaRPr lang="en-US" sz="180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8504C3D-EAF9-7856-CEDF-FC6347AE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C6D32-3D05-2493-104F-C279C7B4796B}"/>
              </a:ext>
            </a:extLst>
          </p:cNvPr>
          <p:cNvSpPr txBox="1"/>
          <p:nvPr/>
        </p:nvSpPr>
        <p:spPr>
          <a:xfrm>
            <a:off x="2957513" y="243185"/>
            <a:ext cx="6105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UNIVERSITETI I PRISHTIN</a:t>
            </a:r>
            <a:r>
              <a:rPr lang="az-Cyrl-AZ" dirty="0"/>
              <a:t>Ё</a:t>
            </a:r>
            <a:r>
              <a:rPr lang="en-US" dirty="0"/>
              <a:t>S</a:t>
            </a:r>
          </a:p>
          <a:p>
            <a:pPr algn="ctr"/>
            <a:r>
              <a:rPr lang="en-US" dirty="0"/>
              <a:t>FAKULTETI I INXHINIERISË ELEKTRIKE DHE KOMPJUTERIKE</a:t>
            </a:r>
          </a:p>
          <a:p>
            <a:pPr algn="ctr"/>
            <a:r>
              <a:rPr lang="en-US" dirty="0"/>
              <a:t>PROGRAMI: INXHINIERI KOMPJUTERIKE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CD8248-62FA-F6B9-A341-E6CB83AFF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711" y="1228759"/>
            <a:ext cx="2314575" cy="22193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96734A-3095-859F-CFDE-CAF3751E3346}"/>
              </a:ext>
            </a:extLst>
          </p:cNvPr>
          <p:cNvSpPr txBox="1"/>
          <p:nvPr/>
        </p:nvSpPr>
        <p:spPr>
          <a:xfrm>
            <a:off x="3043236" y="3510328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PUNIM</a:t>
            </a:r>
            <a:r>
              <a:rPr lang="sq-AL" sz="1800" b="1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SEMINARIK</a:t>
            </a:r>
            <a:endParaRPr lang="en-US" sz="1800" b="1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159314-01F9-A7FF-34A8-5FDD471D937E}"/>
              </a:ext>
            </a:extLst>
          </p:cNvPr>
          <p:cNvSpPr txBox="1"/>
          <p:nvPr/>
        </p:nvSpPr>
        <p:spPr>
          <a:xfrm>
            <a:off x="4712492" y="5943466"/>
            <a:ext cx="27670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 err="1"/>
              <a:t>Prishtin</a:t>
            </a:r>
            <a:r>
              <a:rPr lang="sq-AL" sz="1200" dirty="0"/>
              <a:t>ë, </a:t>
            </a:r>
            <a:r>
              <a:rPr lang="it-IT" sz="1200" dirty="0" err="1"/>
              <a:t>Prill</a:t>
            </a:r>
            <a:r>
              <a:rPr lang="it-IT" sz="1200" dirty="0"/>
              <a:t> 202</a:t>
            </a:r>
            <a:r>
              <a:rPr lang="sq-AL" sz="1200" dirty="0"/>
              <a:t>6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887806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 err="1"/>
              <a:t>Kapitujt</a:t>
            </a:r>
            <a:r>
              <a:rPr lang="en-US" dirty="0"/>
              <a:t> </a:t>
            </a:r>
            <a:r>
              <a:rPr lang="en-US" dirty="0" err="1"/>
              <a:t>kryesor</a:t>
            </a:r>
            <a:r>
              <a:rPr lang="sq-AL" dirty="0"/>
              <a:t>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3228975" cy="3269589"/>
          </a:xfrm>
        </p:spPr>
        <p:txBody>
          <a:bodyPr>
            <a:normAutofit fontScale="92500" lnSpcReduction="10000"/>
          </a:bodyPr>
          <a:lstStyle/>
          <a:p>
            <a:pPr marL="400050" indent="-400050">
              <a:buAutoNum type="romanUcPeriod"/>
            </a:pPr>
            <a:r>
              <a:rPr lang="en-US" dirty="0"/>
              <a:t>HYRJA</a:t>
            </a:r>
            <a:endParaRPr lang="sq-AL" dirty="0"/>
          </a:p>
          <a:p>
            <a:pPr marL="400050" indent="-400050">
              <a:buAutoNum type="romanUcPeriod"/>
            </a:pPr>
            <a:r>
              <a:rPr lang="sv-SE" dirty="0"/>
              <a:t>ANALIZA TEKNIKE E SISTEMIT IOT</a:t>
            </a:r>
            <a:endParaRPr lang="sq-AL" dirty="0"/>
          </a:p>
          <a:p>
            <a:pPr marL="400050" indent="-400050">
              <a:buAutoNum type="romanUcPeriod"/>
            </a:pPr>
            <a:r>
              <a:rPr lang="en-US" dirty="0"/>
              <a:t>PËRDORIMI REAL I IOT NË HEALTHCARE DHE ANALIZIMI I ZGJIDHJEVE</a:t>
            </a:r>
            <a:endParaRPr lang="sq-AL" dirty="0"/>
          </a:p>
          <a:p>
            <a:pPr marL="400050" indent="-400050">
              <a:buAutoNum type="romanUcPeriod"/>
            </a:pPr>
            <a:r>
              <a:rPr lang="en-US" dirty="0"/>
              <a:t>DISKUTIME DHE PËRFUNDIME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en-US" dirty="0"/>
              <a:t>A. </a:t>
            </a:r>
            <a:r>
              <a:rPr lang="en-US" dirty="0" err="1"/>
              <a:t>Përshkrimi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domenit</a:t>
            </a:r>
            <a:r>
              <a:rPr lang="en-US" dirty="0"/>
              <a:t> IoT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shëndetësi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lnSpcReduction="10000"/>
          </a:bodyPr>
          <a:lstStyle/>
          <a:p>
            <a:r>
              <a:rPr lang="en-US" b="0" dirty="0" err="1"/>
              <a:t>Interneti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Gjërave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shëndetësi</a:t>
            </a:r>
            <a:r>
              <a:rPr lang="en-US" b="0" dirty="0"/>
              <a:t>, </a:t>
            </a:r>
            <a:r>
              <a:rPr lang="en-US" b="0" dirty="0" err="1"/>
              <a:t>ose</a:t>
            </a:r>
            <a:r>
              <a:rPr lang="en-US" b="0" dirty="0"/>
              <a:t> IoMT, </a:t>
            </a:r>
            <a:r>
              <a:rPr lang="en-US" b="0" dirty="0" err="1"/>
              <a:t>përfshin</a:t>
            </a:r>
            <a:r>
              <a:rPr lang="en-US" b="0" dirty="0"/>
              <a:t> </a:t>
            </a:r>
            <a:r>
              <a:rPr lang="en-US" b="0" dirty="0" err="1"/>
              <a:t>pajisje</a:t>
            </a:r>
            <a:r>
              <a:rPr lang="en-US" b="0" dirty="0"/>
              <a:t> </a:t>
            </a:r>
            <a:r>
              <a:rPr lang="en-US" b="0" dirty="0" err="1"/>
              <a:t>mjekësore</a:t>
            </a:r>
            <a:r>
              <a:rPr lang="en-US" b="0" dirty="0"/>
              <a:t>, </a:t>
            </a:r>
            <a:r>
              <a:rPr lang="en-US" b="0" dirty="0" err="1"/>
              <a:t>sensorë</a:t>
            </a:r>
            <a:r>
              <a:rPr lang="en-US" b="0" dirty="0"/>
              <a:t> wearable, </a:t>
            </a:r>
            <a:r>
              <a:rPr lang="en-US" b="0" dirty="0" err="1"/>
              <a:t>rrjete</a:t>
            </a:r>
            <a:r>
              <a:rPr lang="en-US" b="0" dirty="0"/>
              <a:t> </a:t>
            </a:r>
            <a:r>
              <a:rPr lang="en-US" b="0" dirty="0" err="1"/>
              <a:t>komunikimi</a:t>
            </a:r>
            <a:r>
              <a:rPr lang="en-US" b="0" dirty="0"/>
              <a:t>, gateway, </a:t>
            </a:r>
            <a:r>
              <a:rPr lang="en-US" b="0" dirty="0" err="1"/>
              <a:t>platforma</a:t>
            </a:r>
            <a:r>
              <a:rPr lang="en-US" b="0" dirty="0"/>
              <a:t> edge </a:t>
            </a:r>
            <a:r>
              <a:rPr lang="en-US" b="0" dirty="0" err="1"/>
              <a:t>dhe</a:t>
            </a:r>
            <a:r>
              <a:rPr lang="en-US" b="0" dirty="0"/>
              <a:t> cloud,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aplikacione</a:t>
            </a:r>
            <a:r>
              <a:rPr lang="en-US" b="0" dirty="0"/>
              <a:t> </a:t>
            </a:r>
            <a:r>
              <a:rPr lang="en-US" b="0" dirty="0" err="1"/>
              <a:t>analitike</a:t>
            </a:r>
            <a:r>
              <a:rPr lang="en-US" b="0" dirty="0"/>
              <a:t> </a:t>
            </a:r>
            <a:r>
              <a:rPr lang="en-US" b="0" dirty="0" err="1"/>
              <a:t>që</a:t>
            </a:r>
            <a:r>
              <a:rPr lang="en-US" b="0" dirty="0"/>
              <a:t> </a:t>
            </a:r>
            <a:r>
              <a:rPr lang="en-US" b="0" dirty="0" err="1"/>
              <a:t>mbledhin</a:t>
            </a:r>
            <a:r>
              <a:rPr lang="en-US" b="0" dirty="0"/>
              <a:t>, </a:t>
            </a:r>
            <a:r>
              <a:rPr lang="en-US" b="0" dirty="0" err="1"/>
              <a:t>transmetojnë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përpunojnë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</a:t>
            </a:r>
            <a:r>
              <a:rPr lang="en-US" b="0" dirty="0"/>
              <a:t> </a:t>
            </a:r>
            <a:r>
              <a:rPr lang="en-US" b="0" dirty="0" err="1"/>
              <a:t>shëndetësore</a:t>
            </a:r>
            <a:r>
              <a:rPr lang="en-US" b="0" dirty="0"/>
              <a:t>. Roli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tij</a:t>
            </a:r>
            <a:r>
              <a:rPr lang="en-US" b="0" dirty="0"/>
              <a:t> </a:t>
            </a:r>
            <a:r>
              <a:rPr lang="en-US" b="0" dirty="0" err="1"/>
              <a:t>kryesor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ta </a:t>
            </a:r>
            <a:r>
              <a:rPr lang="en-US" b="0" dirty="0" err="1"/>
              <a:t>zhvendosë</a:t>
            </a:r>
            <a:r>
              <a:rPr lang="en-US" b="0" dirty="0"/>
              <a:t> </a:t>
            </a:r>
            <a:r>
              <a:rPr lang="en-US" b="0" dirty="0" err="1"/>
              <a:t>monitorimin</a:t>
            </a:r>
            <a:r>
              <a:rPr lang="en-US" b="0" dirty="0"/>
              <a:t> </a:t>
            </a:r>
            <a:r>
              <a:rPr lang="en-US" b="0" dirty="0" err="1"/>
              <a:t>nga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model </a:t>
            </a:r>
            <a:r>
              <a:rPr lang="en-US" b="0" dirty="0" err="1"/>
              <a:t>episodik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reaktiv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model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vazhdueshëm</a:t>
            </a:r>
            <a:r>
              <a:rPr lang="en-US" b="0" dirty="0"/>
              <a:t>,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shpërndarë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ndjeshëm</a:t>
            </a:r>
            <a:r>
              <a:rPr lang="en-US" b="0" dirty="0"/>
              <a:t> </a:t>
            </a:r>
            <a:r>
              <a:rPr lang="en-US" b="0" dirty="0" err="1"/>
              <a:t>ndaj</a:t>
            </a:r>
            <a:r>
              <a:rPr lang="en-US" b="0" dirty="0"/>
              <a:t> </a:t>
            </a:r>
            <a:r>
              <a:rPr lang="en-US" b="0" dirty="0" err="1"/>
              <a:t>ndryshimeve</a:t>
            </a:r>
            <a:r>
              <a:rPr lang="en-US" b="0" dirty="0"/>
              <a:t> </a:t>
            </a:r>
            <a:r>
              <a:rPr lang="en-US" b="0" dirty="0" err="1"/>
              <a:t>fiziologjike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pacientit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/>
              <a:t>Nga </a:t>
            </a:r>
            <a:r>
              <a:rPr lang="en-US" b="0" dirty="0" err="1"/>
              <a:t>pikëpamja</a:t>
            </a:r>
            <a:r>
              <a:rPr lang="en-US" b="0" dirty="0"/>
              <a:t> </a:t>
            </a:r>
            <a:r>
              <a:rPr lang="en-US" b="0" dirty="0" err="1"/>
              <a:t>teknike</a:t>
            </a:r>
            <a:r>
              <a:rPr lang="en-US" b="0" dirty="0"/>
              <a:t>,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sistem</a:t>
            </a:r>
            <a:r>
              <a:rPr lang="en-US" b="0" dirty="0"/>
              <a:t> IoT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shëndetësi</a:t>
            </a:r>
            <a:r>
              <a:rPr lang="en-US" b="0" dirty="0"/>
              <a:t> </a:t>
            </a:r>
            <a:r>
              <a:rPr lang="en-US" b="0" dirty="0" err="1"/>
              <a:t>zakonisht</a:t>
            </a:r>
            <a:r>
              <a:rPr lang="en-US" b="0" dirty="0"/>
              <a:t> </a:t>
            </a:r>
            <a:r>
              <a:rPr lang="en-US" b="0" dirty="0" err="1"/>
              <a:t>ndërtohet</a:t>
            </a:r>
            <a:r>
              <a:rPr lang="en-US" b="0" dirty="0"/>
              <a:t> </a:t>
            </a:r>
            <a:r>
              <a:rPr lang="en-US" b="0" dirty="0" err="1"/>
              <a:t>mbi</a:t>
            </a:r>
            <a:r>
              <a:rPr lang="en-US" b="0" dirty="0"/>
              <a:t> </a:t>
            </a:r>
            <a:r>
              <a:rPr lang="en-US" b="0" dirty="0" err="1"/>
              <a:t>disa</a:t>
            </a:r>
            <a:r>
              <a:rPr lang="en-US" b="0" dirty="0"/>
              <a:t> </a:t>
            </a:r>
            <a:r>
              <a:rPr lang="en-US" b="0" dirty="0" err="1"/>
              <a:t>shtresa</a:t>
            </a:r>
            <a:r>
              <a:rPr lang="en-US" b="0" dirty="0"/>
              <a:t>: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sensorëve</a:t>
            </a:r>
            <a:r>
              <a:rPr lang="en-US" b="0" dirty="0"/>
              <a:t>,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komunikimit</a:t>
            </a:r>
            <a:r>
              <a:rPr lang="en-US" b="0" dirty="0"/>
              <a:t>,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përpunimit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aplikimit</a:t>
            </a:r>
            <a:r>
              <a:rPr lang="en-US" b="0" dirty="0"/>
              <a:t>, </a:t>
            </a:r>
            <a:r>
              <a:rPr lang="en-US" b="0" dirty="0" err="1"/>
              <a:t>ku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dhënat</a:t>
            </a:r>
            <a:r>
              <a:rPr lang="en-US" b="0" dirty="0"/>
              <a:t> </a:t>
            </a:r>
            <a:r>
              <a:rPr lang="en-US" b="0" dirty="0" err="1"/>
              <a:t>paraqiten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formë</a:t>
            </a:r>
            <a:r>
              <a:rPr lang="en-US" b="0" dirty="0"/>
              <a:t> </a:t>
            </a:r>
            <a:r>
              <a:rPr lang="en-US" b="0" dirty="0" err="1"/>
              <a:t>panelesh</a:t>
            </a:r>
            <a:r>
              <a:rPr lang="en-US" b="0" dirty="0"/>
              <a:t>, </a:t>
            </a:r>
            <a:r>
              <a:rPr lang="en-US" b="0" dirty="0" err="1"/>
              <a:t>alarmesh</a:t>
            </a:r>
            <a:r>
              <a:rPr lang="en-US" b="0" dirty="0"/>
              <a:t> </a:t>
            </a:r>
            <a:r>
              <a:rPr lang="en-US" b="0" dirty="0" err="1"/>
              <a:t>ose</a:t>
            </a:r>
            <a:r>
              <a:rPr lang="en-US" b="0" dirty="0"/>
              <a:t> </a:t>
            </a:r>
            <a:r>
              <a:rPr lang="en-US" b="0" dirty="0" err="1"/>
              <a:t>mekanizmash</a:t>
            </a:r>
            <a:r>
              <a:rPr lang="en-US" b="0" dirty="0"/>
              <a:t> </a:t>
            </a:r>
            <a:r>
              <a:rPr lang="en-US" b="0" dirty="0" err="1"/>
              <a:t>mbështetës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vendimmarrje</a:t>
            </a:r>
            <a:r>
              <a:rPr lang="en-US" b="0" dirty="0"/>
              <a:t> </a:t>
            </a:r>
            <a:r>
              <a:rPr lang="en-US" b="0" dirty="0" err="1"/>
              <a:t>klinike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D965-F0CD-A0B3-C21B-F9DDDDE9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FE4A-8312-AE97-4E24-CB195809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en-US" dirty="0"/>
              <a:t>B. </a:t>
            </a:r>
            <a:r>
              <a:rPr lang="en-US" dirty="0" err="1"/>
              <a:t>Rëndësia</a:t>
            </a:r>
            <a:r>
              <a:rPr lang="en-US" dirty="0"/>
              <a:t> e IoT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praktikë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B323E-D644-D5FC-2B66-F6B6309F0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828222"/>
          </a:xfrm>
        </p:spPr>
        <p:txBody>
          <a:bodyPr>
            <a:normAutofit/>
          </a:bodyPr>
          <a:lstStyle/>
          <a:p>
            <a:r>
              <a:rPr lang="en-US" b="0" dirty="0" err="1"/>
              <a:t>Rëndësia</a:t>
            </a:r>
            <a:r>
              <a:rPr lang="en-US" b="0" dirty="0"/>
              <a:t> </a:t>
            </a:r>
            <a:r>
              <a:rPr lang="en-US" b="0" dirty="0" err="1"/>
              <a:t>praktike</a:t>
            </a:r>
            <a:r>
              <a:rPr lang="en-US" b="0" dirty="0"/>
              <a:t> e IoT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shëndetësi</a:t>
            </a:r>
            <a:r>
              <a:rPr lang="en-US" b="0" dirty="0"/>
              <a:t> </a:t>
            </a:r>
            <a:r>
              <a:rPr lang="en-US" b="0" dirty="0" err="1"/>
              <a:t>lidhet</a:t>
            </a:r>
            <a:r>
              <a:rPr lang="en-US" b="0" dirty="0"/>
              <a:t> me </a:t>
            </a:r>
            <a:r>
              <a:rPr lang="en-US" b="0" dirty="0" err="1"/>
              <a:t>nevojën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monitorim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vazhdueshëm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pacientëve</a:t>
            </a:r>
            <a:r>
              <a:rPr lang="en-US" b="0" dirty="0"/>
              <a:t> me </a:t>
            </a:r>
            <a:r>
              <a:rPr lang="en-US" b="0" dirty="0" err="1"/>
              <a:t>sëmundje</a:t>
            </a:r>
            <a:r>
              <a:rPr lang="en-US" b="0" dirty="0"/>
              <a:t> </a:t>
            </a:r>
            <a:r>
              <a:rPr lang="en-US" b="0" dirty="0" err="1"/>
              <a:t>kronike</a:t>
            </a:r>
            <a:r>
              <a:rPr lang="en-US" b="0" dirty="0"/>
              <a:t>, </a:t>
            </a:r>
            <a:r>
              <a:rPr lang="en-US" b="0" dirty="0" err="1"/>
              <a:t>probleme</a:t>
            </a:r>
            <a:r>
              <a:rPr lang="en-US" b="0" dirty="0"/>
              <a:t> </a:t>
            </a:r>
            <a:r>
              <a:rPr lang="en-US" b="0" dirty="0" err="1"/>
              <a:t>kardiovaskulare</a:t>
            </a:r>
            <a:r>
              <a:rPr lang="en-US" b="0" dirty="0"/>
              <a:t>, </a:t>
            </a:r>
            <a:r>
              <a:rPr lang="en-US" b="0" dirty="0" err="1"/>
              <a:t>gjendje</a:t>
            </a:r>
            <a:r>
              <a:rPr lang="en-US" b="0" dirty="0"/>
              <a:t> </a:t>
            </a:r>
            <a:r>
              <a:rPr lang="en-US" b="0" dirty="0" err="1"/>
              <a:t>respiratore</a:t>
            </a:r>
            <a:r>
              <a:rPr lang="en-US" b="0" dirty="0"/>
              <a:t>, </a:t>
            </a:r>
            <a:r>
              <a:rPr lang="en-US" b="0" dirty="0" err="1"/>
              <a:t>diabet</a:t>
            </a:r>
            <a:r>
              <a:rPr lang="en-US" b="0" dirty="0"/>
              <a:t> </a:t>
            </a:r>
            <a:r>
              <a:rPr lang="en-US" b="0" dirty="0" err="1"/>
              <a:t>ose</a:t>
            </a:r>
            <a:r>
              <a:rPr lang="en-US" b="0" dirty="0"/>
              <a:t> </a:t>
            </a:r>
            <a:r>
              <a:rPr lang="en-US" b="0" dirty="0" err="1"/>
              <a:t>nevojë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ndjekje</a:t>
            </a:r>
            <a:r>
              <a:rPr lang="en-US" b="0" dirty="0"/>
              <a:t> pas </a:t>
            </a:r>
            <a:r>
              <a:rPr lang="en-US" b="0" dirty="0" err="1"/>
              <a:t>daljes</a:t>
            </a:r>
            <a:r>
              <a:rPr lang="en-US" b="0" dirty="0"/>
              <a:t> </a:t>
            </a:r>
            <a:r>
              <a:rPr lang="en-US" b="0" dirty="0" err="1"/>
              <a:t>nga</a:t>
            </a:r>
            <a:r>
              <a:rPr lang="en-US" b="0" dirty="0"/>
              <a:t> </a:t>
            </a:r>
            <a:r>
              <a:rPr lang="en-US" b="0" dirty="0" err="1"/>
              <a:t>spitali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Këto</a:t>
            </a:r>
            <a:r>
              <a:rPr lang="en-US" b="0" dirty="0"/>
              <a:t> </a:t>
            </a:r>
            <a:r>
              <a:rPr lang="en-US" b="0" dirty="0" err="1"/>
              <a:t>sisteme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ndihmojnë</a:t>
            </a:r>
            <a:r>
              <a:rPr lang="en-US" b="0" dirty="0"/>
              <a:t> </a:t>
            </a:r>
            <a:r>
              <a:rPr lang="en-US" b="0" dirty="0" err="1"/>
              <a:t>profesionistët</a:t>
            </a:r>
            <a:r>
              <a:rPr lang="en-US" b="0" dirty="0"/>
              <a:t> </a:t>
            </a:r>
            <a:r>
              <a:rPr lang="en-US" b="0" dirty="0" err="1"/>
              <a:t>shëndetësorë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identifikojnë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herët</a:t>
            </a:r>
            <a:r>
              <a:rPr lang="en-US" b="0" dirty="0"/>
              <a:t> </a:t>
            </a:r>
            <a:r>
              <a:rPr lang="en-US" b="0" dirty="0" err="1"/>
              <a:t>devijimet</a:t>
            </a:r>
            <a:r>
              <a:rPr lang="en-US" b="0" dirty="0"/>
              <a:t> e </a:t>
            </a:r>
            <a:r>
              <a:rPr lang="en-US" b="0" dirty="0" err="1"/>
              <a:t>parametrave</a:t>
            </a:r>
            <a:r>
              <a:rPr lang="en-US" b="0" dirty="0"/>
              <a:t> </a:t>
            </a:r>
            <a:r>
              <a:rPr lang="en-US" b="0" dirty="0" err="1"/>
              <a:t>jetësorë</a:t>
            </a:r>
            <a:r>
              <a:rPr lang="en-US" b="0" dirty="0"/>
              <a:t>,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monitorojnë</a:t>
            </a:r>
            <a:r>
              <a:rPr lang="en-US" b="0" dirty="0"/>
              <a:t> </a:t>
            </a:r>
            <a:r>
              <a:rPr lang="en-US" b="0" dirty="0" err="1"/>
              <a:t>pacientë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ambiente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shpërndara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ndërhyjnë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shpejt</a:t>
            </a:r>
            <a:r>
              <a:rPr lang="en-US" b="0" dirty="0"/>
              <a:t> </a:t>
            </a:r>
            <a:r>
              <a:rPr lang="en-US" b="0" dirty="0" err="1"/>
              <a:t>kur</a:t>
            </a:r>
            <a:r>
              <a:rPr lang="en-US" b="0" dirty="0"/>
              <a:t> </a:t>
            </a:r>
            <a:r>
              <a:rPr lang="en-US" b="0" dirty="0" err="1"/>
              <a:t>paraqitet</a:t>
            </a:r>
            <a:r>
              <a:rPr lang="en-US" b="0" dirty="0"/>
              <a:t> </a:t>
            </a:r>
            <a:r>
              <a:rPr lang="en-US" b="0" dirty="0" err="1"/>
              <a:t>rrezik</a:t>
            </a:r>
            <a:r>
              <a:rPr lang="en-US" b="0" dirty="0"/>
              <a:t> </a:t>
            </a:r>
            <a:r>
              <a:rPr lang="en-US" b="0" dirty="0" err="1"/>
              <a:t>klinik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Kombinimi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IoMT me edge computing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analiza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avancuara</a:t>
            </a:r>
            <a:r>
              <a:rPr lang="en-US" b="0" dirty="0"/>
              <a:t> </a:t>
            </a:r>
            <a:r>
              <a:rPr lang="en-US" b="0" dirty="0" err="1"/>
              <a:t>rrit</a:t>
            </a:r>
            <a:r>
              <a:rPr lang="en-US" b="0" dirty="0"/>
              <a:t> </a:t>
            </a:r>
            <a:r>
              <a:rPr lang="en-US" b="0" dirty="0" err="1"/>
              <a:t>vlerën</a:t>
            </a:r>
            <a:r>
              <a:rPr lang="en-US" b="0" dirty="0"/>
              <a:t> e </a:t>
            </a:r>
            <a:r>
              <a:rPr lang="en-US" b="0" dirty="0" err="1"/>
              <a:t>këtyre</a:t>
            </a:r>
            <a:r>
              <a:rPr lang="en-US" b="0" dirty="0"/>
              <a:t> </a:t>
            </a:r>
            <a:r>
              <a:rPr lang="en-US" b="0" dirty="0" err="1"/>
              <a:t>sistemeve</a:t>
            </a:r>
            <a:r>
              <a:rPr lang="en-US" b="0" dirty="0"/>
              <a:t>, </a:t>
            </a:r>
            <a:r>
              <a:rPr lang="en-US" b="0" dirty="0" err="1"/>
              <a:t>sepse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dhënat</a:t>
            </a:r>
            <a:r>
              <a:rPr lang="en-US" b="0" dirty="0"/>
              <a:t> </a:t>
            </a:r>
            <a:r>
              <a:rPr lang="en-US" b="0" dirty="0" err="1"/>
              <a:t>nuk</a:t>
            </a:r>
            <a:r>
              <a:rPr lang="en-US" b="0" dirty="0"/>
              <a:t> </a:t>
            </a:r>
            <a:r>
              <a:rPr lang="en-US" b="0" dirty="0" err="1"/>
              <a:t>përdoren</a:t>
            </a:r>
            <a:r>
              <a:rPr lang="en-US" b="0" dirty="0"/>
              <a:t> </a:t>
            </a:r>
            <a:r>
              <a:rPr lang="en-US" b="0" dirty="0" err="1"/>
              <a:t>vetëm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ruajtje</a:t>
            </a:r>
            <a:r>
              <a:rPr lang="en-US" b="0" dirty="0"/>
              <a:t>,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edhe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alarme</a:t>
            </a:r>
            <a:r>
              <a:rPr lang="en-US" b="0" dirty="0"/>
              <a:t>, </a:t>
            </a:r>
            <a:r>
              <a:rPr lang="en-US" b="0" dirty="0" err="1"/>
              <a:t>analiza</a:t>
            </a:r>
            <a:r>
              <a:rPr lang="en-US" b="0" dirty="0"/>
              <a:t> </a:t>
            </a:r>
            <a:r>
              <a:rPr lang="en-US" b="0" dirty="0" err="1"/>
              <a:t>trendesh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prioritizim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pacientëve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772CD15-9022-3779-16FB-CF21F675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BFC3-7897-88EC-C966-24320383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69D5-1DFF-0DE6-46FF-1EA8C118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en-US" dirty="0"/>
              <a:t>C. </a:t>
            </a:r>
            <a:r>
              <a:rPr lang="en-US" dirty="0" err="1"/>
              <a:t>Problemet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synohen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zgjidhen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D9CE5-8C11-FBE1-1F7C-13E29BC93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lnSpcReduction="10000"/>
          </a:bodyPr>
          <a:lstStyle/>
          <a:p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nga</a:t>
            </a:r>
            <a:r>
              <a:rPr lang="en-US" b="0" dirty="0"/>
              <a:t> </a:t>
            </a:r>
            <a:r>
              <a:rPr lang="en-US" b="0" dirty="0" err="1"/>
              <a:t>problemet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që</a:t>
            </a:r>
            <a:r>
              <a:rPr lang="en-US" b="0" dirty="0"/>
              <a:t> IoT </a:t>
            </a:r>
            <a:r>
              <a:rPr lang="en-US" b="0" dirty="0" err="1"/>
              <a:t>synon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zgjidhë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shëndetësi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mungesa</a:t>
            </a:r>
            <a:r>
              <a:rPr lang="en-US" b="0" dirty="0"/>
              <a:t> e </a:t>
            </a:r>
            <a:r>
              <a:rPr lang="en-US" b="0" dirty="0" err="1"/>
              <a:t>monitorimit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vazhdueshëm</a:t>
            </a:r>
            <a:r>
              <a:rPr lang="en-US" b="0" dirty="0"/>
              <a:t>.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modelin</a:t>
            </a:r>
            <a:r>
              <a:rPr lang="en-US" b="0" dirty="0"/>
              <a:t> </a:t>
            </a:r>
            <a:r>
              <a:rPr lang="en-US" b="0" dirty="0" err="1"/>
              <a:t>tradicional</a:t>
            </a:r>
            <a:r>
              <a:rPr lang="en-US" b="0" dirty="0"/>
              <a:t>, </a:t>
            </a:r>
            <a:r>
              <a:rPr lang="en-US" b="0" dirty="0" err="1"/>
              <a:t>parametrat</a:t>
            </a:r>
            <a:r>
              <a:rPr lang="en-US" b="0" dirty="0"/>
              <a:t> </a:t>
            </a:r>
            <a:r>
              <a:rPr lang="en-US" b="0" dirty="0" err="1"/>
              <a:t>jetësorë</a:t>
            </a:r>
            <a:r>
              <a:rPr lang="en-US" b="0" dirty="0"/>
              <a:t> </a:t>
            </a:r>
            <a:r>
              <a:rPr lang="en-US" b="0" dirty="0" err="1"/>
              <a:t>maten</a:t>
            </a:r>
            <a:r>
              <a:rPr lang="en-US" b="0" dirty="0"/>
              <a:t> </a:t>
            </a:r>
            <a:r>
              <a:rPr lang="en-US" b="0" dirty="0" err="1"/>
              <a:t>vetëm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momente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caktuara</a:t>
            </a:r>
            <a:r>
              <a:rPr lang="en-US" b="0" dirty="0"/>
              <a:t>, </a:t>
            </a:r>
            <a:r>
              <a:rPr lang="en-US" b="0" dirty="0" err="1"/>
              <a:t>prandaj</a:t>
            </a:r>
            <a:r>
              <a:rPr lang="en-US" b="0" dirty="0"/>
              <a:t> episode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rëndësishme</a:t>
            </a:r>
            <a:r>
              <a:rPr lang="en-US" b="0" dirty="0"/>
              <a:t> </a:t>
            </a:r>
            <a:r>
              <a:rPr lang="en-US" b="0" dirty="0" err="1"/>
              <a:t>fiziologjike</a:t>
            </a:r>
            <a:r>
              <a:rPr lang="en-US" b="0" dirty="0"/>
              <a:t> </a:t>
            </a:r>
            <a:r>
              <a:rPr lang="en-US" b="0" dirty="0" err="1"/>
              <a:t>mund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mos</a:t>
            </a:r>
            <a:r>
              <a:rPr lang="en-US" b="0" dirty="0"/>
              <a:t> </a:t>
            </a:r>
            <a:r>
              <a:rPr lang="en-US" b="0" dirty="0" err="1"/>
              <a:t>kapen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kohë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/>
              <a:t>Problem </a:t>
            </a:r>
            <a:r>
              <a:rPr lang="en-US" b="0" dirty="0" err="1"/>
              <a:t>tjetër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vonesa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zbulimin</a:t>
            </a:r>
            <a:r>
              <a:rPr lang="en-US" b="0" dirty="0"/>
              <a:t> e </a:t>
            </a:r>
            <a:r>
              <a:rPr lang="en-US" b="0" dirty="0" err="1"/>
              <a:t>përkeqësimit</a:t>
            </a:r>
            <a:r>
              <a:rPr lang="en-US" b="0" dirty="0"/>
              <a:t> </a:t>
            </a:r>
            <a:r>
              <a:rPr lang="en-US" b="0" dirty="0" err="1"/>
              <a:t>klinik</a:t>
            </a:r>
            <a:r>
              <a:rPr lang="en-US" b="0" dirty="0"/>
              <a:t>, </a:t>
            </a:r>
            <a:r>
              <a:rPr lang="en-US" b="0" dirty="0" err="1"/>
              <a:t>sidomos</a:t>
            </a:r>
            <a:r>
              <a:rPr lang="en-US" b="0" dirty="0"/>
              <a:t> </a:t>
            </a:r>
            <a:r>
              <a:rPr lang="en-US" b="0" dirty="0" err="1"/>
              <a:t>kur</a:t>
            </a:r>
            <a:r>
              <a:rPr lang="en-US" b="0" dirty="0"/>
              <a:t> </a:t>
            </a:r>
            <a:r>
              <a:rPr lang="en-US" b="0" dirty="0" err="1"/>
              <a:t>pacienti</a:t>
            </a:r>
            <a:r>
              <a:rPr lang="en-US" b="0" dirty="0"/>
              <a:t> </a:t>
            </a:r>
            <a:r>
              <a:rPr lang="en-US" b="0" dirty="0" err="1"/>
              <a:t>ndodhet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shtëpi</a:t>
            </a:r>
            <a:r>
              <a:rPr lang="en-US" b="0" dirty="0"/>
              <a:t> </a:t>
            </a:r>
            <a:r>
              <a:rPr lang="en-US" b="0" dirty="0" err="1"/>
              <a:t>ose</a:t>
            </a:r>
            <a:r>
              <a:rPr lang="en-US" b="0" dirty="0"/>
              <a:t> </a:t>
            </a:r>
            <a:r>
              <a:rPr lang="en-US" b="0" dirty="0" err="1"/>
              <a:t>larg</a:t>
            </a:r>
            <a:r>
              <a:rPr lang="en-US" b="0" dirty="0"/>
              <a:t> </a:t>
            </a:r>
            <a:r>
              <a:rPr lang="en-US" b="0" dirty="0" err="1"/>
              <a:t>institucionit</a:t>
            </a:r>
            <a:r>
              <a:rPr lang="en-US" b="0" dirty="0"/>
              <a:t> </a:t>
            </a:r>
            <a:r>
              <a:rPr lang="en-US" b="0" dirty="0" err="1"/>
              <a:t>shëndetësor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/>
              <a:t>Po </a:t>
            </a:r>
            <a:r>
              <a:rPr lang="en-US" b="0" dirty="0" err="1"/>
              <a:t>ashtu</a:t>
            </a:r>
            <a:r>
              <a:rPr lang="en-US" b="0" dirty="0"/>
              <a:t>, </a:t>
            </a:r>
            <a:r>
              <a:rPr lang="en-US" b="0" dirty="0" err="1"/>
              <a:t>literatura</a:t>
            </a:r>
            <a:r>
              <a:rPr lang="en-US" b="0" dirty="0"/>
              <a:t> </a:t>
            </a:r>
            <a:r>
              <a:rPr lang="en-US" b="0" dirty="0" err="1"/>
              <a:t>evidenton</a:t>
            </a:r>
            <a:r>
              <a:rPr lang="en-US" b="0" dirty="0"/>
              <a:t> </a:t>
            </a:r>
            <a:r>
              <a:rPr lang="en-US" b="0" dirty="0" err="1"/>
              <a:t>fragmentimin</a:t>
            </a:r>
            <a:r>
              <a:rPr lang="en-US" b="0" dirty="0"/>
              <a:t> 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, </a:t>
            </a:r>
            <a:r>
              <a:rPr lang="en-US" b="0" dirty="0" err="1"/>
              <a:t>heterogjenitetin</a:t>
            </a:r>
            <a:r>
              <a:rPr lang="en-US" b="0" dirty="0"/>
              <a:t> e </a:t>
            </a:r>
            <a:r>
              <a:rPr lang="en-US" b="0" dirty="0" err="1"/>
              <a:t>pajisjeve</a:t>
            </a:r>
            <a:r>
              <a:rPr lang="en-US" b="0" dirty="0"/>
              <a:t>, </a:t>
            </a:r>
            <a:r>
              <a:rPr lang="en-US" b="0" dirty="0" err="1"/>
              <a:t>mungesën</a:t>
            </a:r>
            <a:r>
              <a:rPr lang="en-US" b="0" dirty="0"/>
              <a:t> e </a:t>
            </a:r>
            <a:r>
              <a:rPr lang="en-US" b="0" dirty="0" err="1"/>
              <a:t>interoperabilitetit</a:t>
            </a:r>
            <a:r>
              <a:rPr lang="en-US" b="0" dirty="0"/>
              <a:t>, </a:t>
            </a:r>
            <a:r>
              <a:rPr lang="en-US" b="0" dirty="0" err="1"/>
              <a:t>zhurmën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sinjal</a:t>
            </a:r>
            <a:r>
              <a:rPr lang="en-US" b="0" dirty="0"/>
              <a:t>, </a:t>
            </a:r>
            <a:r>
              <a:rPr lang="en-US" b="0" dirty="0" err="1"/>
              <a:t>kufizimet</a:t>
            </a:r>
            <a:r>
              <a:rPr lang="en-US" b="0" dirty="0"/>
              <a:t> e </a:t>
            </a:r>
            <a:r>
              <a:rPr lang="en-US" b="0" dirty="0" err="1"/>
              <a:t>baterisë</a:t>
            </a:r>
            <a:r>
              <a:rPr lang="en-US" b="0" dirty="0"/>
              <a:t>, </a:t>
            </a:r>
            <a:r>
              <a:rPr lang="en-US" b="0" dirty="0" err="1"/>
              <a:t>humbjen</a:t>
            </a:r>
            <a:r>
              <a:rPr lang="en-US" b="0" dirty="0"/>
              <a:t> e </a:t>
            </a:r>
            <a:r>
              <a:rPr lang="en-US" b="0" dirty="0" err="1"/>
              <a:t>paketave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rreziqet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privatësinë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sigurinë</a:t>
            </a:r>
            <a:r>
              <a:rPr lang="en-US" b="0" dirty="0"/>
              <a:t> 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B93A0F8-22B4-FB31-D9D0-FE2F2F1A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0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AA5D7-71D2-8AF3-8869-A436A4DA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1C6AC-6D05-5651-77D0-5CD346A65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en-US" dirty="0"/>
              <a:t>D. </a:t>
            </a:r>
            <a:r>
              <a:rPr lang="en-US" dirty="0" err="1"/>
              <a:t>Qëllimi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objektivat</a:t>
            </a:r>
            <a:r>
              <a:rPr lang="en-US" dirty="0"/>
              <a:t> e </a:t>
            </a:r>
            <a:r>
              <a:rPr lang="en-US" dirty="0" err="1"/>
              <a:t>punimit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22444-DBD8-0D7C-6CBE-4675EEE6E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4409247"/>
          </a:xfrm>
        </p:spPr>
        <p:txBody>
          <a:bodyPr>
            <a:normAutofit/>
          </a:bodyPr>
          <a:lstStyle/>
          <a:p>
            <a:r>
              <a:rPr lang="en-US" b="0" dirty="0" err="1"/>
              <a:t>Qëllimi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këtij</a:t>
            </a:r>
            <a:r>
              <a:rPr lang="en-US" b="0" dirty="0"/>
              <a:t> </a:t>
            </a:r>
            <a:r>
              <a:rPr lang="en-US" b="0" dirty="0" err="1"/>
              <a:t>punimi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ofrojë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analizë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thelluar</a:t>
            </a:r>
            <a:r>
              <a:rPr lang="en-US" b="0" dirty="0"/>
              <a:t> </a:t>
            </a:r>
            <a:r>
              <a:rPr lang="en-US" b="0" dirty="0" err="1"/>
              <a:t>teknike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arkitekturore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sistemeve</a:t>
            </a:r>
            <a:r>
              <a:rPr lang="en-US" b="0" dirty="0"/>
              <a:t> IoT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monitorim</a:t>
            </a:r>
            <a:r>
              <a:rPr lang="en-US" b="0" dirty="0"/>
              <a:t> </a:t>
            </a:r>
            <a:r>
              <a:rPr lang="en-US" b="0" dirty="0" err="1"/>
              <a:t>inteligjent</a:t>
            </a:r>
            <a:r>
              <a:rPr lang="en-US" b="0" dirty="0"/>
              <a:t> </a:t>
            </a:r>
            <a:r>
              <a:rPr lang="en-US" b="0" dirty="0" err="1"/>
              <a:t>shëndetësor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Objektivat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janë</a:t>
            </a:r>
            <a:r>
              <a:rPr lang="sq-AL" b="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identifikimi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klasifikimi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sensorëve</a:t>
            </a:r>
            <a:r>
              <a:rPr lang="en-US" b="0" dirty="0"/>
              <a:t> </a:t>
            </a:r>
            <a:r>
              <a:rPr lang="en-US" b="0" dirty="0" err="1"/>
              <a:t>biomjekësorë</a:t>
            </a:r>
            <a:r>
              <a:rPr lang="en-US" b="0" dirty="0"/>
              <a:t>, 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analiza</a:t>
            </a:r>
            <a:r>
              <a:rPr lang="en-US" b="0" dirty="0"/>
              <a:t> e </a:t>
            </a:r>
            <a:r>
              <a:rPr lang="en-US" b="0" dirty="0" err="1"/>
              <a:t>rangjeve</a:t>
            </a:r>
            <a:r>
              <a:rPr lang="en-US" b="0" dirty="0"/>
              <a:t> </a:t>
            </a:r>
            <a:r>
              <a:rPr lang="en-US" b="0" dirty="0" err="1"/>
              <a:t>normale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kritike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parametrave</a:t>
            </a:r>
            <a:r>
              <a:rPr lang="en-US" b="0" dirty="0"/>
              <a:t> </a:t>
            </a:r>
            <a:r>
              <a:rPr lang="en-US" b="0" dirty="0" err="1"/>
              <a:t>jetësorë</a:t>
            </a:r>
            <a:r>
              <a:rPr lang="en-US" b="0" dirty="0"/>
              <a:t>,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krahasimi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protokolleve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komunikimit</a:t>
            </a:r>
            <a:r>
              <a:rPr lang="en-US" b="0" dirty="0"/>
              <a:t>, 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shpjegimi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rolit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IoT gateway </a:t>
            </a:r>
            <a:r>
              <a:rPr lang="en-US" b="0" dirty="0" err="1"/>
              <a:t>dhe</a:t>
            </a:r>
            <a:r>
              <a:rPr lang="en-US" b="0" dirty="0"/>
              <a:t> edge layer, 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propozimi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arkitekture</a:t>
            </a:r>
            <a:r>
              <a:rPr lang="en-US" b="0" dirty="0"/>
              <a:t> </a:t>
            </a:r>
            <a:r>
              <a:rPr lang="en-US" b="0" dirty="0" err="1"/>
              <a:t>hibride</a:t>
            </a:r>
            <a:r>
              <a:rPr lang="en-US" b="0" dirty="0"/>
              <a:t> edge-cloud </a:t>
            </a:r>
            <a:r>
              <a:rPr lang="en-US" b="0" dirty="0" err="1"/>
              <a:t>që</a:t>
            </a:r>
            <a:r>
              <a:rPr lang="en-US" b="0" dirty="0"/>
              <a:t> </a:t>
            </a:r>
            <a:r>
              <a:rPr lang="en-US" b="0" dirty="0" err="1"/>
              <a:t>përmirëson</a:t>
            </a:r>
            <a:r>
              <a:rPr lang="en-US" b="0" dirty="0"/>
              <a:t> </a:t>
            </a:r>
            <a:r>
              <a:rPr lang="en-US" b="0" dirty="0" err="1"/>
              <a:t>interpretimin</a:t>
            </a:r>
            <a:r>
              <a:rPr lang="en-US" b="0" dirty="0"/>
              <a:t> 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mbështet</a:t>
            </a:r>
            <a:r>
              <a:rPr lang="en-US" b="0" dirty="0"/>
              <a:t> </a:t>
            </a:r>
            <a:r>
              <a:rPr lang="en-US" b="0" dirty="0" err="1"/>
              <a:t>monitorim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inteligjent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proaktiv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pacientëve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75121B-7427-9AB4-88AB-19716AA4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31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7562-1609-ACF6-9B23-78EED800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A59C-9EBC-33D3-1F0A-178C7E7C0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sq-AL" dirty="0"/>
              <a:t>e. </a:t>
            </a:r>
            <a:r>
              <a:rPr lang="en-US" dirty="0" err="1"/>
              <a:t>Struktura</a:t>
            </a:r>
            <a:r>
              <a:rPr lang="en-US" dirty="0"/>
              <a:t> e </a:t>
            </a:r>
            <a:r>
              <a:rPr lang="en-US" dirty="0" err="1"/>
              <a:t>punimit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E8ECC-FEDD-88FC-EFE9-34AB1F1B3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lnSpcReduction="10000"/>
          </a:bodyPr>
          <a:lstStyle/>
          <a:p>
            <a:r>
              <a:rPr lang="en-US" b="0" dirty="0" err="1"/>
              <a:t>Punimi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organizuar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katër</a:t>
            </a:r>
            <a:r>
              <a:rPr lang="en-US" b="0" dirty="0"/>
              <a:t> </a:t>
            </a:r>
            <a:r>
              <a:rPr lang="en-US" b="0" dirty="0" err="1"/>
              <a:t>kapituj</a:t>
            </a:r>
            <a:r>
              <a:rPr lang="sq-AL" b="0" dirty="0"/>
              <a:t>:</a:t>
            </a:r>
            <a:r>
              <a:rPr lang="en-US" b="0" dirty="0"/>
              <a:t> 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Kapitulli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parë</a:t>
            </a:r>
            <a:r>
              <a:rPr lang="en-US" dirty="0"/>
              <a:t> </a:t>
            </a:r>
            <a:r>
              <a:rPr lang="en-US" b="0" dirty="0" err="1"/>
              <a:t>paraqet</a:t>
            </a:r>
            <a:r>
              <a:rPr lang="en-US" b="0" dirty="0"/>
              <a:t> </a:t>
            </a:r>
            <a:r>
              <a:rPr lang="en-US" b="0" dirty="0" err="1"/>
              <a:t>hyrjen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vendos</a:t>
            </a:r>
            <a:r>
              <a:rPr lang="en-US" b="0" dirty="0"/>
              <a:t> </a:t>
            </a:r>
            <a:r>
              <a:rPr lang="en-US" b="0" dirty="0" err="1"/>
              <a:t>kornizën</a:t>
            </a:r>
            <a:r>
              <a:rPr lang="en-US" b="0" dirty="0"/>
              <a:t> </a:t>
            </a:r>
            <a:r>
              <a:rPr lang="en-US" b="0" dirty="0" err="1"/>
              <a:t>teorike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motivuese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temës</a:t>
            </a:r>
            <a:r>
              <a:rPr lang="en-US" b="0" dirty="0"/>
              <a:t>. 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Kapitulli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dytë</a:t>
            </a:r>
            <a:r>
              <a:rPr lang="en-US" dirty="0"/>
              <a:t> </a:t>
            </a:r>
            <a:r>
              <a:rPr lang="en-US" b="0" dirty="0" err="1"/>
              <a:t>fokusohet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analizën</a:t>
            </a:r>
            <a:r>
              <a:rPr lang="en-US" b="0" dirty="0"/>
              <a:t> </a:t>
            </a:r>
            <a:r>
              <a:rPr lang="en-US" b="0" dirty="0" err="1"/>
              <a:t>teknike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sistemeve</a:t>
            </a:r>
            <a:r>
              <a:rPr lang="en-US" b="0" dirty="0"/>
              <a:t> IoT </a:t>
            </a:r>
            <a:r>
              <a:rPr lang="en-US" b="0" dirty="0" err="1"/>
              <a:t>në</a:t>
            </a:r>
            <a:r>
              <a:rPr lang="en-US" b="0" dirty="0"/>
              <a:t> healthcare, duke </a:t>
            </a:r>
            <a:r>
              <a:rPr lang="en-US" b="0" dirty="0" err="1"/>
              <a:t>trajtuar</a:t>
            </a:r>
            <a:r>
              <a:rPr lang="en-US" b="0" dirty="0"/>
              <a:t> </a:t>
            </a:r>
            <a:r>
              <a:rPr lang="en-US" b="0" dirty="0" err="1"/>
              <a:t>sensorët</a:t>
            </a:r>
            <a:r>
              <a:rPr lang="en-US" b="0" dirty="0"/>
              <a:t>, </a:t>
            </a:r>
            <a:r>
              <a:rPr lang="en-US" b="0" dirty="0" err="1"/>
              <a:t>parametrat</a:t>
            </a:r>
            <a:r>
              <a:rPr lang="en-US" b="0" dirty="0"/>
              <a:t>, </a:t>
            </a:r>
            <a:r>
              <a:rPr lang="en-US" b="0" dirty="0" err="1"/>
              <a:t>transmetimin</a:t>
            </a:r>
            <a:r>
              <a:rPr lang="en-US" b="0" dirty="0"/>
              <a:t> 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, gateway-t, </a:t>
            </a:r>
            <a:r>
              <a:rPr lang="en-US" b="0" dirty="0" err="1"/>
              <a:t>protokollet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arkitekturat</a:t>
            </a:r>
            <a:r>
              <a:rPr lang="en-US" b="0" dirty="0"/>
              <a:t>. 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Kapitulli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tretë</a:t>
            </a:r>
            <a:r>
              <a:rPr lang="en-US" dirty="0"/>
              <a:t> </a:t>
            </a:r>
            <a:r>
              <a:rPr lang="en-US" b="0" dirty="0" err="1"/>
              <a:t>përbën</a:t>
            </a:r>
            <a:r>
              <a:rPr lang="en-US" b="0" dirty="0"/>
              <a:t> </a:t>
            </a:r>
            <a:r>
              <a:rPr lang="en-US" b="0" dirty="0" err="1"/>
              <a:t>pjesën</a:t>
            </a:r>
            <a:r>
              <a:rPr lang="en-US" b="0" dirty="0"/>
              <a:t> </a:t>
            </a:r>
            <a:r>
              <a:rPr lang="en-US" b="0" dirty="0" err="1"/>
              <a:t>qendrore</a:t>
            </a:r>
            <a:r>
              <a:rPr lang="en-US" b="0" dirty="0"/>
              <a:t>, </a:t>
            </a:r>
            <a:r>
              <a:rPr lang="en-US" b="0" dirty="0" err="1"/>
              <a:t>ku</a:t>
            </a:r>
            <a:r>
              <a:rPr lang="en-US" b="0" dirty="0"/>
              <a:t> </a:t>
            </a:r>
            <a:r>
              <a:rPr lang="en-US" b="0" dirty="0" err="1"/>
              <a:t>analizohet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zgjidhje</a:t>
            </a:r>
            <a:r>
              <a:rPr lang="en-US" b="0" dirty="0"/>
              <a:t> </a:t>
            </a:r>
            <a:r>
              <a:rPr lang="en-US" b="0" dirty="0" err="1"/>
              <a:t>reale</a:t>
            </a:r>
            <a:r>
              <a:rPr lang="en-US" b="0" dirty="0"/>
              <a:t> IoT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monitorim</a:t>
            </a:r>
            <a:r>
              <a:rPr lang="en-US" b="0" dirty="0"/>
              <a:t> </a:t>
            </a:r>
            <a:r>
              <a:rPr lang="en-US" b="0" dirty="0" err="1"/>
              <a:t>shëndetësor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mbi</a:t>
            </a:r>
            <a:r>
              <a:rPr lang="en-US" b="0" dirty="0"/>
              <a:t> </a:t>
            </a:r>
            <a:r>
              <a:rPr lang="en-US" b="0" dirty="0" err="1"/>
              <a:t>këtë</a:t>
            </a:r>
            <a:r>
              <a:rPr lang="en-US" b="0" dirty="0"/>
              <a:t> </a:t>
            </a:r>
            <a:r>
              <a:rPr lang="en-US" b="0" dirty="0" err="1"/>
              <a:t>bazë</a:t>
            </a:r>
            <a:r>
              <a:rPr lang="en-US" b="0" dirty="0"/>
              <a:t> </a:t>
            </a:r>
            <a:r>
              <a:rPr lang="en-US" b="0" dirty="0" err="1"/>
              <a:t>propozohet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arkitekturë</a:t>
            </a:r>
            <a:r>
              <a:rPr lang="en-US" b="0" dirty="0"/>
              <a:t> </a:t>
            </a:r>
            <a:r>
              <a:rPr lang="en-US" b="0" dirty="0" err="1"/>
              <a:t>hibride</a:t>
            </a:r>
            <a:r>
              <a:rPr lang="en-US" b="0" dirty="0"/>
              <a:t> e </a:t>
            </a:r>
            <a:r>
              <a:rPr lang="en-US" b="0" dirty="0" err="1"/>
              <a:t>zgjeruar</a:t>
            </a:r>
            <a:r>
              <a:rPr lang="en-US" b="0" dirty="0"/>
              <a:t>. </a:t>
            </a:r>
            <a:endParaRPr lang="sq-AL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Kapitulli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katërt</a:t>
            </a:r>
            <a:r>
              <a:rPr lang="en-US" dirty="0"/>
              <a:t> </a:t>
            </a:r>
            <a:r>
              <a:rPr lang="en-US" b="0" dirty="0" err="1"/>
              <a:t>përmbledh</a:t>
            </a:r>
            <a:r>
              <a:rPr lang="en-US" b="0" dirty="0"/>
              <a:t> </a:t>
            </a:r>
            <a:r>
              <a:rPr lang="en-US" b="0" dirty="0" err="1"/>
              <a:t>gjetjet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paraqet</a:t>
            </a:r>
            <a:r>
              <a:rPr lang="en-US" b="0" dirty="0"/>
              <a:t> </a:t>
            </a:r>
            <a:r>
              <a:rPr lang="en-US" b="0" dirty="0" err="1"/>
              <a:t>përfundimet</a:t>
            </a:r>
            <a:r>
              <a:rPr lang="en-US" b="0" dirty="0"/>
              <a:t> finale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punimit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6A01CFC-C21F-E552-8520-559EACFC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1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CF10-827A-9FC1-62FB-564502CC6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anchor="b">
            <a:normAutofit/>
          </a:bodyPr>
          <a:lstStyle/>
          <a:p>
            <a:r>
              <a:rPr lang="en-US" b="1"/>
              <a:t>II. ANALIZA TEKNIKE E SISTEMIT IOT</a:t>
            </a:r>
            <a:br>
              <a:rPr lang="en-US" b="1"/>
            </a:br>
            <a:endParaRPr lang="en-CH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735D608-5822-30B2-3622-BBE9573B19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72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8547A-125B-A6B5-7632-FBBEEC78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35FE-0470-65F4-2594-01616607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8031162" cy="1017937"/>
          </a:xfrm>
        </p:spPr>
        <p:txBody>
          <a:bodyPr>
            <a:normAutofit fontScale="90000"/>
          </a:bodyPr>
          <a:lstStyle/>
          <a:p>
            <a:r>
              <a:rPr lang="en-US" b="1"/>
              <a:t>A. Analiza e sensorëve dhe parametrave</a:t>
            </a:r>
            <a:br>
              <a:rPr lang="sq-AL"/>
            </a:br>
            <a:r>
              <a:rPr lang="sq-AL"/>
              <a:t>1. Llojet e sensorëve në IoT Healthcare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49C92-8A6C-29C8-28B3-E6B21D81A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247" y="1886778"/>
            <a:ext cx="5855803" cy="3790122"/>
          </a:xfrm>
        </p:spPr>
        <p:txBody>
          <a:bodyPr>
            <a:normAutofit/>
          </a:bodyPr>
          <a:lstStyle/>
          <a:p>
            <a:r>
              <a:rPr lang="en-US" sz="1400" b="0" dirty="0" err="1"/>
              <a:t>Në</a:t>
            </a:r>
            <a:r>
              <a:rPr lang="en-US" sz="1400" b="0" dirty="0"/>
              <a:t> </a:t>
            </a:r>
            <a:r>
              <a:rPr lang="en-US" sz="1400" b="0" dirty="0" err="1"/>
              <a:t>sistemet</a:t>
            </a:r>
            <a:r>
              <a:rPr lang="en-US" sz="1400" b="0" dirty="0"/>
              <a:t> </a:t>
            </a:r>
            <a:r>
              <a:rPr lang="en-US" sz="1400" b="0" dirty="0" err="1"/>
              <a:t>moderne</a:t>
            </a:r>
            <a:r>
              <a:rPr lang="en-US" sz="1400" b="0" dirty="0"/>
              <a:t> IoMT, </a:t>
            </a:r>
            <a:r>
              <a:rPr lang="en-US" sz="1400" b="0" dirty="0" err="1"/>
              <a:t>sensorët</a:t>
            </a:r>
            <a:r>
              <a:rPr lang="en-US" sz="1400" b="0" dirty="0"/>
              <a:t> </a:t>
            </a:r>
            <a:r>
              <a:rPr lang="en-US" sz="1400" b="0" dirty="0" err="1"/>
              <a:t>nuk</a:t>
            </a:r>
            <a:r>
              <a:rPr lang="en-US" sz="1400" b="0" dirty="0"/>
              <a:t> </a:t>
            </a:r>
            <a:r>
              <a:rPr lang="en-US" sz="1400" b="0" dirty="0" err="1"/>
              <a:t>duhen</a:t>
            </a:r>
            <a:r>
              <a:rPr lang="en-US" sz="1400" b="0" dirty="0"/>
              <a:t> </a:t>
            </a:r>
            <a:r>
              <a:rPr lang="en-US" sz="1400" b="0" dirty="0" err="1"/>
              <a:t>parë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</a:t>
            </a:r>
            <a:r>
              <a:rPr lang="en-US" sz="1400" b="0" dirty="0" err="1"/>
              <a:t>komponentë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izoluar</a:t>
            </a:r>
            <a:r>
              <a:rPr lang="en-US" sz="1400" b="0" dirty="0"/>
              <a:t> </a:t>
            </a:r>
            <a:r>
              <a:rPr lang="en-US" sz="1400" b="0" dirty="0" err="1"/>
              <a:t>për</a:t>
            </a:r>
            <a:r>
              <a:rPr lang="en-US" sz="1400" b="0" dirty="0"/>
              <a:t> </a:t>
            </a:r>
            <a:r>
              <a:rPr lang="en-US" sz="1400" b="0" dirty="0" err="1"/>
              <a:t>matjen</a:t>
            </a:r>
            <a:r>
              <a:rPr lang="en-US" sz="1400" b="0" dirty="0"/>
              <a:t> e </a:t>
            </a:r>
            <a:r>
              <a:rPr lang="en-US" sz="1400" b="0" dirty="0" err="1"/>
              <a:t>një</a:t>
            </a:r>
            <a:r>
              <a:rPr lang="en-US" sz="1400" b="0" dirty="0"/>
              <a:t> </a:t>
            </a:r>
            <a:r>
              <a:rPr lang="en-US" sz="1400" b="0" dirty="0" err="1"/>
              <a:t>parametri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vetëm</a:t>
            </a:r>
            <a:r>
              <a:rPr lang="en-US" sz="1400" b="0" dirty="0"/>
              <a:t>, </a:t>
            </a:r>
            <a:r>
              <a:rPr lang="en-US" sz="1400" b="0" dirty="0" err="1"/>
              <a:t>por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</a:t>
            </a:r>
            <a:r>
              <a:rPr lang="en-US" sz="1400" b="0" dirty="0" err="1"/>
              <a:t>pjesë</a:t>
            </a:r>
            <a:r>
              <a:rPr lang="en-US" sz="1400" b="0" dirty="0"/>
              <a:t> e </a:t>
            </a:r>
            <a:r>
              <a:rPr lang="en-US" sz="1400" b="0" dirty="0" err="1"/>
              <a:t>një</a:t>
            </a:r>
            <a:r>
              <a:rPr lang="en-US" sz="1400" b="0" dirty="0"/>
              <a:t> </a:t>
            </a:r>
            <a:r>
              <a:rPr lang="en-US" sz="1400" b="0" dirty="0" err="1"/>
              <a:t>infrastrukture</a:t>
            </a:r>
            <a:r>
              <a:rPr lang="en-US" sz="1400" b="0" dirty="0"/>
              <a:t> </a:t>
            </a:r>
            <a:r>
              <a:rPr lang="en-US" sz="1400" b="0" dirty="0" err="1"/>
              <a:t>multimodale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mbledhjes</a:t>
            </a:r>
            <a:r>
              <a:rPr lang="en-US" sz="1400" b="0" dirty="0"/>
              <a:t> </a:t>
            </a:r>
            <a:r>
              <a:rPr lang="en-US" sz="1400" b="0" dirty="0" err="1"/>
              <a:t>së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dhënave</a:t>
            </a:r>
            <a:r>
              <a:rPr lang="en-US" sz="1400" b="0" dirty="0"/>
              <a:t> </a:t>
            </a:r>
            <a:r>
              <a:rPr lang="en-US" sz="1400" b="0" dirty="0" err="1"/>
              <a:t>biomjekësore</a:t>
            </a:r>
            <a:r>
              <a:rPr lang="en-US" sz="1400" b="0" dirty="0"/>
              <a:t>. </a:t>
            </a:r>
            <a:r>
              <a:rPr lang="en-US" sz="1400" b="0" dirty="0" err="1"/>
              <a:t>Në</a:t>
            </a:r>
            <a:r>
              <a:rPr lang="en-US" sz="1400" b="0" dirty="0"/>
              <a:t> </a:t>
            </a:r>
            <a:r>
              <a:rPr lang="en-US" sz="1400" b="0" dirty="0" err="1"/>
              <a:t>praktikë</a:t>
            </a:r>
            <a:r>
              <a:rPr lang="en-US" sz="1400" b="0" dirty="0"/>
              <a:t>, </a:t>
            </a:r>
            <a:r>
              <a:rPr lang="en-US" sz="1400" b="0" dirty="0" err="1"/>
              <a:t>një</a:t>
            </a:r>
            <a:r>
              <a:rPr lang="en-US" sz="1400" b="0" dirty="0"/>
              <a:t> </a:t>
            </a:r>
            <a:r>
              <a:rPr lang="en-US" sz="1400" b="0" dirty="0" err="1"/>
              <a:t>platformë</a:t>
            </a:r>
            <a:r>
              <a:rPr lang="en-US" sz="1400" b="0" dirty="0"/>
              <a:t> e </a:t>
            </a:r>
            <a:r>
              <a:rPr lang="en-US" sz="1400" b="0" dirty="0" err="1"/>
              <a:t>avancuar</a:t>
            </a:r>
            <a:r>
              <a:rPr lang="en-US" sz="1400" b="0" dirty="0"/>
              <a:t> e smart health monitoring </a:t>
            </a:r>
            <a:r>
              <a:rPr lang="en-US" sz="1400" b="0" dirty="0" err="1"/>
              <a:t>kombinon</a:t>
            </a:r>
            <a:r>
              <a:rPr lang="en-US" sz="1400" b="0" dirty="0"/>
              <a:t>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kardiovaskularë</a:t>
            </a:r>
            <a:r>
              <a:rPr lang="en-US" sz="1400" b="0" dirty="0"/>
              <a:t>, </a:t>
            </a:r>
            <a:r>
              <a:rPr lang="en-US" sz="1400" b="0" dirty="0" err="1"/>
              <a:t>respiratorë</a:t>
            </a:r>
            <a:r>
              <a:rPr lang="en-US" sz="1400" b="0" dirty="0"/>
              <a:t>, </a:t>
            </a:r>
            <a:r>
              <a:rPr lang="en-US" sz="1400" b="0" dirty="0" err="1"/>
              <a:t>metabolikë</a:t>
            </a:r>
            <a:r>
              <a:rPr lang="en-US" sz="1400" b="0" dirty="0"/>
              <a:t>, </a:t>
            </a:r>
            <a:r>
              <a:rPr lang="en-US" sz="1400" b="0" dirty="0" err="1"/>
              <a:t>termikë</a:t>
            </a:r>
            <a:r>
              <a:rPr lang="en-US" sz="1400" b="0" dirty="0"/>
              <a:t> </a:t>
            </a:r>
            <a:r>
              <a:rPr lang="en-US" sz="1400" b="0" dirty="0" err="1"/>
              <a:t>dhe</a:t>
            </a:r>
            <a:r>
              <a:rPr lang="en-US" sz="1400" b="0" dirty="0"/>
              <a:t>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aktivitetit</a:t>
            </a:r>
            <a:r>
              <a:rPr lang="en-US" sz="1400" b="0" dirty="0"/>
              <a:t> </a:t>
            </a:r>
            <a:r>
              <a:rPr lang="en-US" sz="1400" b="0" dirty="0" err="1"/>
              <a:t>fizik</a:t>
            </a:r>
            <a:r>
              <a:rPr lang="en-US" sz="1400" b="0" dirty="0"/>
              <a:t> </a:t>
            </a:r>
            <a:r>
              <a:rPr lang="en-US" sz="1400" b="0" dirty="0" err="1"/>
              <a:t>për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ndërtuar</a:t>
            </a:r>
            <a:r>
              <a:rPr lang="en-US" sz="1400" b="0" dirty="0"/>
              <a:t> </a:t>
            </a:r>
            <a:r>
              <a:rPr lang="en-US" sz="1400" b="0" dirty="0" err="1"/>
              <a:t>një</a:t>
            </a:r>
            <a:r>
              <a:rPr lang="en-US" sz="1400" b="0" dirty="0"/>
              <a:t> </a:t>
            </a:r>
            <a:r>
              <a:rPr lang="en-US" sz="1400" b="0" dirty="0" err="1"/>
              <a:t>profil</a:t>
            </a:r>
            <a:r>
              <a:rPr lang="en-US" sz="1400" b="0" dirty="0"/>
              <a:t> </a:t>
            </a:r>
            <a:r>
              <a:rPr lang="en-US" sz="1400" b="0" dirty="0" err="1"/>
              <a:t>sa</a:t>
            </a:r>
            <a:r>
              <a:rPr lang="en-US" sz="1400" b="0" dirty="0"/>
              <a:t> </a:t>
            </a:r>
            <a:r>
              <a:rPr lang="en-US" sz="1400" b="0" dirty="0" err="1"/>
              <a:t>më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plotë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gjendjes</a:t>
            </a:r>
            <a:r>
              <a:rPr lang="en-US" sz="1400" b="0" dirty="0"/>
              <a:t> </a:t>
            </a:r>
            <a:r>
              <a:rPr lang="en-US" sz="1400" b="0" dirty="0" err="1"/>
              <a:t>së</a:t>
            </a:r>
            <a:r>
              <a:rPr lang="en-US" sz="1400" b="0" dirty="0"/>
              <a:t> </a:t>
            </a:r>
            <a:r>
              <a:rPr lang="en-US" sz="1400" b="0" dirty="0" err="1"/>
              <a:t>pacientit</a:t>
            </a:r>
            <a:r>
              <a:rPr lang="en-US" sz="1400" b="0" dirty="0"/>
              <a:t>. </a:t>
            </a:r>
            <a:endParaRPr lang="sq-AL" sz="1400" b="0" dirty="0"/>
          </a:p>
          <a:p>
            <a:r>
              <a:rPr lang="en-US" sz="1400" b="0" dirty="0" err="1"/>
              <a:t>Sensorët</a:t>
            </a:r>
            <a:r>
              <a:rPr lang="en-US" sz="1400" b="0" dirty="0"/>
              <a:t> </a:t>
            </a:r>
            <a:r>
              <a:rPr lang="en-US" sz="1400" b="0" dirty="0" err="1"/>
              <a:t>më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përdorur</a:t>
            </a:r>
            <a:r>
              <a:rPr lang="en-US" sz="1400" b="0" dirty="0"/>
              <a:t> </a:t>
            </a:r>
            <a:r>
              <a:rPr lang="en-US" sz="1400" b="0" dirty="0" err="1"/>
              <a:t>përfshijnë</a:t>
            </a:r>
            <a:r>
              <a:rPr lang="en-US" sz="1400" b="0" dirty="0"/>
              <a:t> PPG </a:t>
            </a:r>
            <a:r>
              <a:rPr lang="en-US" sz="1400" b="0" dirty="0" err="1"/>
              <a:t>për</a:t>
            </a:r>
            <a:r>
              <a:rPr lang="en-US" sz="1400" b="0" dirty="0"/>
              <a:t> </a:t>
            </a:r>
            <a:r>
              <a:rPr lang="en-US" sz="1400" b="0" dirty="0" err="1"/>
              <a:t>matjen</a:t>
            </a:r>
            <a:r>
              <a:rPr lang="en-US" sz="1400" b="0" dirty="0"/>
              <a:t> e </a:t>
            </a:r>
            <a:r>
              <a:rPr lang="en-US" sz="1400" b="0" dirty="0" err="1"/>
              <a:t>rrahjeve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zemrës</a:t>
            </a:r>
            <a:r>
              <a:rPr lang="en-US" sz="1400" b="0" dirty="0"/>
              <a:t> </a:t>
            </a:r>
            <a:r>
              <a:rPr lang="en-US" sz="1400" b="0" dirty="0" err="1"/>
              <a:t>dhe</a:t>
            </a:r>
            <a:r>
              <a:rPr lang="en-US" sz="1400" b="0" dirty="0"/>
              <a:t> SpO2, ECG </a:t>
            </a:r>
            <a:r>
              <a:rPr lang="en-US" sz="1400" b="0" dirty="0" err="1"/>
              <a:t>për</a:t>
            </a:r>
            <a:r>
              <a:rPr lang="en-US" sz="1400" b="0" dirty="0"/>
              <a:t> </a:t>
            </a:r>
            <a:r>
              <a:rPr lang="en-US" sz="1400" b="0" dirty="0" err="1"/>
              <a:t>aktivitetin</a:t>
            </a:r>
            <a:r>
              <a:rPr lang="en-US" sz="1400" b="0" dirty="0"/>
              <a:t> </a:t>
            </a:r>
            <a:r>
              <a:rPr lang="en-US" sz="1400" b="0" dirty="0" err="1"/>
              <a:t>elektrik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zemrës</a:t>
            </a:r>
            <a:r>
              <a:rPr lang="en-US" sz="1400" b="0" dirty="0"/>
              <a:t>, EMG </a:t>
            </a:r>
            <a:r>
              <a:rPr lang="en-US" sz="1400" b="0" dirty="0" err="1"/>
              <a:t>për</a:t>
            </a:r>
            <a:r>
              <a:rPr lang="en-US" sz="1400" b="0" dirty="0"/>
              <a:t> </a:t>
            </a:r>
            <a:r>
              <a:rPr lang="en-US" sz="1400" b="0" dirty="0" err="1"/>
              <a:t>aktivitetin</a:t>
            </a:r>
            <a:r>
              <a:rPr lang="en-US" sz="1400" b="0" dirty="0"/>
              <a:t> </a:t>
            </a:r>
            <a:r>
              <a:rPr lang="en-US" sz="1400" b="0" dirty="0" err="1"/>
              <a:t>muskulor</a:t>
            </a:r>
            <a:r>
              <a:rPr lang="en-US" sz="1400" b="0" dirty="0"/>
              <a:t>,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temperaturës</a:t>
            </a:r>
            <a:r>
              <a:rPr lang="en-US" sz="1400" b="0" dirty="0"/>
              <a:t>,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presionit</a:t>
            </a:r>
            <a:r>
              <a:rPr lang="en-US" sz="1400" b="0" dirty="0"/>
              <a:t> arterial,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respiratorë</a:t>
            </a:r>
            <a:r>
              <a:rPr lang="en-US" sz="1400" b="0" dirty="0"/>
              <a:t>,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metabolikë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CGM,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elektrodermalë</a:t>
            </a:r>
            <a:r>
              <a:rPr lang="en-US" sz="1400" b="0" dirty="0"/>
              <a:t> GSR </a:t>
            </a:r>
            <a:r>
              <a:rPr lang="en-US" sz="1400" b="0" dirty="0" err="1"/>
              <a:t>dhe</a:t>
            </a:r>
            <a:r>
              <a:rPr lang="en-US" sz="1400" b="0" dirty="0"/>
              <a:t>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aktivitetit</a:t>
            </a:r>
            <a:r>
              <a:rPr lang="en-US" sz="1400" b="0" dirty="0"/>
              <a:t> </a:t>
            </a:r>
            <a:r>
              <a:rPr lang="en-US" sz="1400" b="0" dirty="0" err="1"/>
              <a:t>si</a:t>
            </a:r>
            <a:r>
              <a:rPr lang="en-US" sz="1400" b="0" dirty="0"/>
              <a:t> </a:t>
            </a:r>
            <a:r>
              <a:rPr lang="en-US" sz="1400" b="0" dirty="0" err="1"/>
              <a:t>akselerometra</a:t>
            </a:r>
            <a:r>
              <a:rPr lang="en-US" sz="1400" b="0" dirty="0"/>
              <a:t> </a:t>
            </a:r>
            <a:r>
              <a:rPr lang="en-US" sz="1400" b="0" dirty="0" err="1"/>
              <a:t>dhe</a:t>
            </a:r>
            <a:r>
              <a:rPr lang="en-US" sz="1400" b="0" dirty="0"/>
              <a:t> </a:t>
            </a:r>
            <a:r>
              <a:rPr lang="en-US" sz="1400" b="0" dirty="0" err="1"/>
              <a:t>gjiroskopë</a:t>
            </a:r>
            <a:r>
              <a:rPr lang="en-US" sz="1400" b="0" dirty="0"/>
              <a:t>. Vlera </a:t>
            </a:r>
            <a:r>
              <a:rPr lang="en-US" sz="1400" b="0" dirty="0" err="1"/>
              <a:t>reale</a:t>
            </a:r>
            <a:r>
              <a:rPr lang="en-US" sz="1400" b="0" dirty="0"/>
              <a:t> </a:t>
            </a:r>
            <a:r>
              <a:rPr lang="en-US" sz="1400" b="0" dirty="0" err="1"/>
              <a:t>diagnostike</a:t>
            </a:r>
            <a:r>
              <a:rPr lang="en-US" sz="1400" b="0" dirty="0"/>
              <a:t> </a:t>
            </a:r>
            <a:r>
              <a:rPr lang="en-US" sz="1400" b="0" dirty="0" err="1"/>
              <a:t>rritet</a:t>
            </a:r>
            <a:r>
              <a:rPr lang="en-US" sz="1400" b="0" dirty="0"/>
              <a:t> </a:t>
            </a:r>
            <a:r>
              <a:rPr lang="en-US" sz="1400" b="0" dirty="0" err="1"/>
              <a:t>kur</a:t>
            </a:r>
            <a:r>
              <a:rPr lang="en-US" sz="1400" b="0" dirty="0"/>
              <a:t> </a:t>
            </a:r>
            <a:r>
              <a:rPr lang="en-US" sz="1400" b="0" dirty="0" err="1"/>
              <a:t>këta</a:t>
            </a:r>
            <a:r>
              <a:rPr lang="en-US" sz="1400" b="0" dirty="0"/>
              <a:t> </a:t>
            </a:r>
            <a:r>
              <a:rPr lang="en-US" sz="1400" b="0" dirty="0" err="1"/>
              <a:t>sensorë</a:t>
            </a:r>
            <a:r>
              <a:rPr lang="en-US" sz="1400" b="0" dirty="0"/>
              <a:t> </a:t>
            </a:r>
            <a:r>
              <a:rPr lang="en-US" sz="1400" b="0" dirty="0" err="1"/>
              <a:t>kombinohen</a:t>
            </a:r>
            <a:r>
              <a:rPr lang="en-US" sz="1400" b="0" dirty="0"/>
              <a:t> </a:t>
            </a:r>
            <a:r>
              <a:rPr lang="en-US" sz="1400" b="0" dirty="0" err="1"/>
              <a:t>në</a:t>
            </a:r>
            <a:r>
              <a:rPr lang="en-US" sz="1400" b="0" dirty="0"/>
              <a:t> </a:t>
            </a:r>
            <a:r>
              <a:rPr lang="en-US" sz="1400" b="0" dirty="0" err="1"/>
              <a:t>një</a:t>
            </a:r>
            <a:r>
              <a:rPr lang="en-US" sz="1400" b="0" dirty="0"/>
              <a:t> pipeline </a:t>
            </a:r>
            <a:r>
              <a:rPr lang="en-US" sz="1400" b="0" dirty="0" err="1"/>
              <a:t>të</a:t>
            </a:r>
            <a:r>
              <a:rPr lang="en-US" sz="1400" b="0" dirty="0"/>
              <a:t> </a:t>
            </a:r>
            <a:r>
              <a:rPr lang="en-US" sz="1400" b="0" dirty="0" err="1"/>
              <a:t>unifikuar</a:t>
            </a:r>
            <a:r>
              <a:rPr lang="en-US" sz="1400" b="0" dirty="0"/>
              <a:t> </a:t>
            </a:r>
            <a:r>
              <a:rPr lang="en-US" sz="1400" b="0" dirty="0" err="1"/>
              <a:t>monitorimi</a:t>
            </a:r>
            <a:r>
              <a:rPr lang="en-US" sz="14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6B093C0-825E-9B34-69EE-4C654E02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5947F-D10C-E8AF-9A0D-17C070B6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197" y="1375420"/>
            <a:ext cx="5855803" cy="438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4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1377-20C8-800E-D20C-92C11F66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5034CE4-2F56-C525-BEE8-3DEE847A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461E5-98B3-A989-DF47-48B1D1411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197" y="1235397"/>
            <a:ext cx="5855803" cy="438720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CB9C67-13B0-A5F3-5B28-BEB2CE4AA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0439"/>
              </p:ext>
            </p:extLst>
          </p:nvPr>
        </p:nvGraphicFramePr>
        <p:xfrm>
          <a:off x="316748" y="1560334"/>
          <a:ext cx="6284076" cy="37373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4692">
                  <a:extLst>
                    <a:ext uri="{9D8B030D-6E8A-4147-A177-3AD203B41FA5}">
                      <a16:colId xmlns:a16="http://schemas.microsoft.com/office/drawing/2014/main" val="1824369917"/>
                    </a:ext>
                  </a:extLst>
                </a:gridCol>
                <a:gridCol w="2094692">
                  <a:extLst>
                    <a:ext uri="{9D8B030D-6E8A-4147-A177-3AD203B41FA5}">
                      <a16:colId xmlns:a16="http://schemas.microsoft.com/office/drawing/2014/main" val="930766872"/>
                    </a:ext>
                  </a:extLst>
                </a:gridCol>
                <a:gridCol w="2094692">
                  <a:extLst>
                    <a:ext uri="{9D8B030D-6E8A-4147-A177-3AD203B41FA5}">
                      <a16:colId xmlns:a16="http://schemas.microsoft.com/office/drawing/2014/main" val="3650732251"/>
                    </a:ext>
                  </a:extLst>
                </a:gridCol>
              </a:tblGrid>
              <a:tr h="35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Kategoria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Shembuj sensorësh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Parametrat e matur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451051"/>
                  </a:ext>
                </a:extLst>
              </a:tr>
              <a:tr h="35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 err="1"/>
                        <a:t>Kardiovaskularë</a:t>
                      </a:r>
                      <a:endParaRPr 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PPG, ECG, BP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HR, HRV, SpO2, BP, ritëm kardiak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05275"/>
                  </a:ext>
                </a:extLst>
              </a:tr>
              <a:tr h="61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Respiratorë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Airflow sensor, spirometer, snore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RR, volum respirator, obstruksion, episode të apneas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775474"/>
                  </a:ext>
                </a:extLst>
              </a:tr>
              <a:tr h="35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 err="1"/>
                        <a:t>Termikë</a:t>
                      </a:r>
                      <a:endParaRPr 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Thermistor, infrared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Temperaturë trupore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164110"/>
                  </a:ext>
                </a:extLst>
              </a:tr>
              <a:tr h="35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Metabolikë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Glucometer, CGM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 err="1"/>
                        <a:t>Glukozë</a:t>
                      </a:r>
                      <a:endParaRPr 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744619"/>
                  </a:ext>
                </a:extLst>
              </a:tr>
              <a:tr h="61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 err="1"/>
                        <a:t>Neuromuskularë</a:t>
                      </a:r>
                      <a:endParaRPr 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EMG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Aktivitet muskulor, lodhje, rehabilitim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198023"/>
                  </a:ext>
                </a:extLst>
              </a:tr>
              <a:tr h="35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 err="1"/>
                        <a:t>Psikofiziologjikë</a:t>
                      </a:r>
                      <a:endParaRPr 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GSR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Aktivizim simpatik, stres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836785"/>
                  </a:ext>
                </a:extLst>
              </a:tr>
              <a:tr h="61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Kontekstualë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Accelerometer, gyroscope, body position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 err="1"/>
                        <a:t>Aktivitet</a:t>
                      </a:r>
                      <a:r>
                        <a:rPr lang="en-US" sz="1200" b="0" dirty="0"/>
                        <a:t>, </a:t>
                      </a:r>
                      <a:r>
                        <a:rPr lang="en-US" sz="1200" b="0" dirty="0" err="1"/>
                        <a:t>rënie</a:t>
                      </a:r>
                      <a:r>
                        <a:rPr lang="en-US" sz="1200" b="0" dirty="0"/>
                        <a:t>, </a:t>
                      </a:r>
                      <a:r>
                        <a:rPr lang="en-US" sz="1200" b="0" dirty="0" err="1"/>
                        <a:t>orientim</a:t>
                      </a:r>
                      <a:r>
                        <a:rPr lang="en-US" sz="1200" b="0" dirty="0"/>
                        <a:t>, </a:t>
                      </a:r>
                      <a:r>
                        <a:rPr lang="en-US" sz="1200" b="0" dirty="0" err="1"/>
                        <a:t>gjumë</a:t>
                      </a:r>
                      <a:r>
                        <a:rPr lang="en-US" sz="1200" b="0" dirty="0"/>
                        <a:t>, </a:t>
                      </a:r>
                      <a:r>
                        <a:rPr lang="en-US" sz="1200" b="0" dirty="0" err="1"/>
                        <a:t>posturë</a:t>
                      </a:r>
                      <a:endParaRPr 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362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298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20C9F-6A7F-BAB4-C45D-75383A094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26FF-35B8-28EC-8CB7-748DC734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Parametrat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maten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5A7B7-A722-D726-EBD9-26595D3F6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fontScale="85000" lnSpcReduction="20000"/>
          </a:bodyPr>
          <a:lstStyle/>
          <a:p>
            <a:r>
              <a:rPr lang="en-US" b="0" dirty="0" err="1"/>
              <a:t>Parametrat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zakonshëm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smart health monitoring </a:t>
            </a:r>
            <a:r>
              <a:rPr lang="en-US" b="0" dirty="0" err="1"/>
              <a:t>janë</a:t>
            </a:r>
            <a:r>
              <a:rPr lang="sq-AL" b="0" dirty="0"/>
              <a:t>:</a:t>
            </a:r>
            <a:r>
              <a:rPr lang="en-US" b="0" dirty="0"/>
              <a:t>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rrahjet</a:t>
            </a:r>
            <a:r>
              <a:rPr lang="en-US" b="0" dirty="0"/>
              <a:t> e </a:t>
            </a:r>
            <a:r>
              <a:rPr lang="en-US" b="0" dirty="0" err="1"/>
              <a:t>zemrës</a:t>
            </a:r>
            <a:r>
              <a:rPr lang="en-US" b="0" dirty="0"/>
              <a:t>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saturimi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oksigjenit</a:t>
            </a:r>
            <a:r>
              <a:rPr lang="en-US" b="0" dirty="0"/>
              <a:t>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temperatura</a:t>
            </a:r>
            <a:r>
              <a:rPr lang="en-US" b="0" dirty="0"/>
              <a:t> e </a:t>
            </a:r>
            <a:r>
              <a:rPr lang="en-US" b="0" dirty="0" err="1"/>
              <a:t>trupit</a:t>
            </a:r>
            <a:r>
              <a:rPr lang="en-US" b="0" dirty="0"/>
              <a:t>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ritmi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frymëmarrjes</a:t>
            </a:r>
            <a:r>
              <a:rPr lang="sq-AL" b="0" dirty="0"/>
              <a:t>,</a:t>
            </a:r>
            <a:r>
              <a:rPr lang="en-US" b="0" dirty="0"/>
              <a:t>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presioni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gjakut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platformat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avancuara</a:t>
            </a:r>
            <a:r>
              <a:rPr lang="en-US" b="0" dirty="0"/>
              <a:t>, </a:t>
            </a:r>
            <a:r>
              <a:rPr lang="en-US" b="0" dirty="0" err="1"/>
              <a:t>këtyre</a:t>
            </a:r>
            <a:r>
              <a:rPr lang="en-US" b="0" dirty="0"/>
              <a:t> u </a:t>
            </a:r>
            <a:r>
              <a:rPr lang="en-US" b="0" dirty="0" err="1"/>
              <a:t>shtohen</a:t>
            </a:r>
            <a:r>
              <a:rPr lang="en-US" b="0" dirty="0"/>
              <a:t> </a:t>
            </a:r>
            <a:r>
              <a:rPr lang="en-US" b="0" dirty="0" err="1"/>
              <a:t>edhe</a:t>
            </a:r>
            <a:r>
              <a:rPr lang="en-US" b="0" dirty="0"/>
              <a:t> ECG waveform, </a:t>
            </a:r>
            <a:r>
              <a:rPr lang="en-US" b="0" dirty="0" err="1"/>
              <a:t>aktiviteti</a:t>
            </a:r>
            <a:r>
              <a:rPr lang="en-US" b="0" dirty="0"/>
              <a:t> </a:t>
            </a:r>
            <a:r>
              <a:rPr lang="en-US" b="0" dirty="0" err="1"/>
              <a:t>muskulor</a:t>
            </a:r>
            <a:r>
              <a:rPr lang="en-US" b="0" dirty="0"/>
              <a:t> </a:t>
            </a:r>
            <a:r>
              <a:rPr lang="en-US" b="0" dirty="0" err="1"/>
              <a:t>përmes</a:t>
            </a:r>
            <a:r>
              <a:rPr lang="en-US" b="0" dirty="0"/>
              <a:t> EMG, </a:t>
            </a:r>
            <a:r>
              <a:rPr lang="en-US" b="0" dirty="0" err="1"/>
              <a:t>fluksi</a:t>
            </a:r>
            <a:r>
              <a:rPr lang="en-US" b="0" dirty="0"/>
              <a:t> respirator, </a:t>
            </a:r>
            <a:r>
              <a:rPr lang="en-US" b="0" dirty="0" err="1"/>
              <a:t>volumet</a:t>
            </a:r>
            <a:r>
              <a:rPr lang="en-US" b="0" dirty="0"/>
              <a:t> </a:t>
            </a:r>
            <a:r>
              <a:rPr lang="en-US" b="0" dirty="0" err="1"/>
              <a:t>pulmonare</a:t>
            </a:r>
            <a:r>
              <a:rPr lang="en-US" b="0" dirty="0"/>
              <a:t>, </a:t>
            </a:r>
            <a:r>
              <a:rPr lang="en-US" b="0" dirty="0" err="1"/>
              <a:t>niveli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glukozës</a:t>
            </a:r>
            <a:r>
              <a:rPr lang="en-US" b="0" dirty="0"/>
              <a:t>, </a:t>
            </a:r>
            <a:r>
              <a:rPr lang="en-US" b="0" dirty="0" err="1"/>
              <a:t>gjendja</a:t>
            </a:r>
            <a:r>
              <a:rPr lang="en-US" b="0" dirty="0"/>
              <a:t> </a:t>
            </a:r>
            <a:r>
              <a:rPr lang="en-US" b="0" dirty="0" err="1"/>
              <a:t>elektrodermale</a:t>
            </a:r>
            <a:r>
              <a:rPr lang="en-US" b="0" dirty="0"/>
              <a:t>,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pozicioni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trupit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modelet</a:t>
            </a:r>
            <a:r>
              <a:rPr lang="en-US" b="0" dirty="0"/>
              <a:t> e </a:t>
            </a:r>
            <a:r>
              <a:rPr lang="en-US" b="0" dirty="0" err="1"/>
              <a:t>lëvizjes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Kjo</a:t>
            </a:r>
            <a:r>
              <a:rPr lang="en-US" b="0" dirty="0"/>
              <a:t> do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thotë</a:t>
            </a:r>
            <a:r>
              <a:rPr lang="en-US" b="0" dirty="0"/>
              <a:t> se </a:t>
            </a:r>
            <a:r>
              <a:rPr lang="en-US" b="0" dirty="0" err="1"/>
              <a:t>sistemi</a:t>
            </a:r>
            <a:r>
              <a:rPr lang="en-US" b="0" dirty="0"/>
              <a:t> modern IoMT </a:t>
            </a:r>
            <a:r>
              <a:rPr lang="en-US" b="0" dirty="0" err="1"/>
              <a:t>nuk</a:t>
            </a:r>
            <a:r>
              <a:rPr lang="en-US" b="0" dirty="0"/>
              <a:t> </a:t>
            </a:r>
            <a:r>
              <a:rPr lang="en-US" b="0" dirty="0" err="1"/>
              <a:t>kufizohet</a:t>
            </a:r>
            <a:r>
              <a:rPr lang="en-US" b="0" dirty="0"/>
              <a:t> </a:t>
            </a:r>
            <a:r>
              <a:rPr lang="en-US" b="0" dirty="0" err="1"/>
              <a:t>vetëm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shenjat</a:t>
            </a:r>
            <a:r>
              <a:rPr lang="en-US" b="0" dirty="0"/>
              <a:t> </a:t>
            </a:r>
            <a:r>
              <a:rPr lang="en-US" b="0" dirty="0" err="1"/>
              <a:t>vitale</a:t>
            </a:r>
            <a:r>
              <a:rPr lang="en-US" b="0" dirty="0"/>
              <a:t> </a:t>
            </a:r>
            <a:r>
              <a:rPr lang="en-US" b="0" dirty="0" err="1"/>
              <a:t>tradicionale</a:t>
            </a:r>
            <a:r>
              <a:rPr lang="en-US" b="0" dirty="0"/>
              <a:t>,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ndërton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përfaqësim</a:t>
            </a:r>
            <a:r>
              <a:rPr lang="en-US" b="0" dirty="0"/>
              <a:t> </a:t>
            </a:r>
            <a:r>
              <a:rPr lang="en-US" b="0" dirty="0" err="1"/>
              <a:t>shumë</a:t>
            </a:r>
            <a:r>
              <a:rPr lang="en-US" b="0" dirty="0"/>
              <a:t>-dimensional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gjendjes</a:t>
            </a:r>
            <a:r>
              <a:rPr lang="en-US" b="0" dirty="0"/>
              <a:t> </a:t>
            </a:r>
            <a:r>
              <a:rPr lang="en-US" b="0" dirty="0" err="1"/>
              <a:t>së</a:t>
            </a:r>
            <a:r>
              <a:rPr lang="en-US" b="0" dirty="0"/>
              <a:t> </a:t>
            </a:r>
            <a:r>
              <a:rPr lang="en-US" b="0" dirty="0" err="1"/>
              <a:t>pacientit</a:t>
            </a:r>
            <a:r>
              <a:rPr lang="en-US" b="0" dirty="0"/>
              <a:t>. </a:t>
            </a:r>
            <a:r>
              <a:rPr lang="en-US" b="0" dirty="0" err="1"/>
              <a:t>Interpretimi</a:t>
            </a:r>
            <a:r>
              <a:rPr lang="en-US" b="0" dirty="0"/>
              <a:t> </a:t>
            </a:r>
            <a:r>
              <a:rPr lang="en-US" b="0" dirty="0" err="1"/>
              <a:t>klinik</a:t>
            </a:r>
            <a:r>
              <a:rPr lang="en-US" b="0" dirty="0"/>
              <a:t> </a:t>
            </a:r>
            <a:r>
              <a:rPr lang="en-US" b="0" dirty="0" err="1"/>
              <a:t>bëhet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saktë</a:t>
            </a:r>
            <a:r>
              <a:rPr lang="en-US" b="0" dirty="0"/>
              <a:t> </a:t>
            </a:r>
            <a:r>
              <a:rPr lang="en-US" b="0" dirty="0" err="1"/>
              <a:t>kur</a:t>
            </a:r>
            <a:r>
              <a:rPr lang="en-US" b="0" dirty="0"/>
              <a:t> </a:t>
            </a:r>
            <a:r>
              <a:rPr lang="en-US" b="0" dirty="0" err="1"/>
              <a:t>parametrat</a:t>
            </a:r>
            <a:r>
              <a:rPr lang="en-US" b="0" dirty="0"/>
              <a:t> </a:t>
            </a:r>
            <a:r>
              <a:rPr lang="en-US" b="0" dirty="0" err="1"/>
              <a:t>vlerësohen</a:t>
            </a:r>
            <a:r>
              <a:rPr lang="en-US" b="0" dirty="0"/>
              <a:t> </a:t>
            </a:r>
            <a:r>
              <a:rPr lang="en-US" b="0" dirty="0" err="1"/>
              <a:t>së</a:t>
            </a:r>
            <a:r>
              <a:rPr lang="en-US" b="0" dirty="0"/>
              <a:t> </a:t>
            </a:r>
            <a:r>
              <a:rPr lang="en-US" b="0" dirty="0" err="1"/>
              <a:t>bashku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jo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mënyrë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izoluar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48CE8E-44D4-F762-CEA0-DE5C2B90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074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C5F9-43CF-911E-266A-6F589A3A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9EE3-70BD-34BC-FEE3-B296D407A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Rangjet</a:t>
            </a:r>
            <a:r>
              <a:rPr lang="en-US" dirty="0"/>
              <a:t> </a:t>
            </a:r>
            <a:r>
              <a:rPr lang="en-US" dirty="0" err="1"/>
              <a:t>normale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kritike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C1730-8437-F81E-64BF-EE770F90F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/>
          </a:bodyPr>
          <a:lstStyle/>
          <a:p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rriturit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pushim</a:t>
            </a:r>
            <a:r>
              <a:rPr lang="en-US" b="0" dirty="0"/>
              <a:t>, </a:t>
            </a:r>
            <a:r>
              <a:rPr lang="en-US" b="0" dirty="0" err="1"/>
              <a:t>ritmi</a:t>
            </a:r>
            <a:r>
              <a:rPr lang="en-US" b="0" dirty="0"/>
              <a:t> normal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zemrës</a:t>
            </a:r>
            <a:r>
              <a:rPr lang="en-US" b="0" dirty="0"/>
              <a:t> </a:t>
            </a:r>
            <a:r>
              <a:rPr lang="en-US" b="0" dirty="0" err="1"/>
              <a:t>konsiderohet</a:t>
            </a:r>
            <a:r>
              <a:rPr lang="en-US" b="0" dirty="0"/>
              <a:t> </a:t>
            </a:r>
            <a:r>
              <a:rPr lang="en-US" b="0" dirty="0" err="1"/>
              <a:t>zakonisht</a:t>
            </a:r>
            <a:r>
              <a:rPr lang="en-US" b="0" dirty="0"/>
              <a:t> 60 </a:t>
            </a:r>
            <a:r>
              <a:rPr lang="en-US" b="0" dirty="0" err="1"/>
              <a:t>deri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100 bpm, </a:t>
            </a:r>
            <a:r>
              <a:rPr lang="en-US" b="0" dirty="0" err="1"/>
              <a:t>ritmi</a:t>
            </a:r>
            <a:r>
              <a:rPr lang="en-US" b="0" dirty="0"/>
              <a:t> normal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frymëmarrjes</a:t>
            </a:r>
            <a:r>
              <a:rPr lang="en-US" b="0" dirty="0"/>
              <a:t> 12 </a:t>
            </a:r>
            <a:r>
              <a:rPr lang="en-US" b="0" dirty="0" err="1"/>
              <a:t>deri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20 </a:t>
            </a:r>
            <a:r>
              <a:rPr lang="en-US" b="0" dirty="0" err="1"/>
              <a:t>frymëmarrje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minutë</a:t>
            </a:r>
            <a:r>
              <a:rPr lang="en-US" b="0" dirty="0"/>
              <a:t>, </a:t>
            </a:r>
            <a:r>
              <a:rPr lang="en-US" b="0" dirty="0" err="1"/>
              <a:t>ndërsa</a:t>
            </a:r>
            <a:r>
              <a:rPr lang="en-US" b="0" dirty="0"/>
              <a:t> SpO2 </a:t>
            </a:r>
            <a:r>
              <a:rPr lang="en-US" b="0" dirty="0" err="1"/>
              <a:t>zakonisht</a:t>
            </a:r>
            <a:r>
              <a:rPr lang="en-US" b="0" dirty="0"/>
              <a:t> 95% </a:t>
            </a:r>
            <a:r>
              <a:rPr lang="en-US" b="0" dirty="0" err="1"/>
              <a:t>deri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100%. </a:t>
            </a:r>
            <a:endParaRPr lang="sq-AL" b="0" dirty="0"/>
          </a:p>
          <a:p>
            <a:r>
              <a:rPr lang="en-US" b="0" dirty="0" err="1"/>
              <a:t>Temperatura</a:t>
            </a:r>
            <a:r>
              <a:rPr lang="en-US" b="0" dirty="0"/>
              <a:t> </a:t>
            </a:r>
            <a:r>
              <a:rPr lang="en-US" b="0" dirty="0" err="1"/>
              <a:t>trupore</a:t>
            </a:r>
            <a:r>
              <a:rPr lang="en-US" b="0" dirty="0"/>
              <a:t> </a:t>
            </a:r>
            <a:r>
              <a:rPr lang="en-US" b="0" dirty="0" err="1"/>
              <a:t>normale</a:t>
            </a:r>
            <a:r>
              <a:rPr lang="en-US" b="0" dirty="0"/>
              <a:t> </a:t>
            </a:r>
            <a:r>
              <a:rPr lang="en-US" b="0" dirty="0" err="1"/>
              <a:t>trajtohet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interval </a:t>
            </a:r>
            <a:r>
              <a:rPr lang="en-US" b="0" dirty="0" err="1"/>
              <a:t>afërsisht</a:t>
            </a:r>
            <a:r>
              <a:rPr lang="en-US" b="0" dirty="0"/>
              <a:t> 35.7 </a:t>
            </a:r>
            <a:r>
              <a:rPr lang="en-US" b="0" dirty="0" err="1"/>
              <a:t>deri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37.4 </a:t>
            </a:r>
            <a:r>
              <a:rPr lang="en-US" b="0" dirty="0" err="1"/>
              <a:t>gradë</a:t>
            </a:r>
            <a:r>
              <a:rPr lang="en-US" b="0" dirty="0"/>
              <a:t> Celsius, </a:t>
            </a:r>
            <a:r>
              <a:rPr lang="en-US" b="0" dirty="0" err="1"/>
              <a:t>ndërsa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tensionin</a:t>
            </a:r>
            <a:r>
              <a:rPr lang="en-US" b="0" dirty="0"/>
              <a:t> arterial </a:t>
            </a:r>
            <a:r>
              <a:rPr lang="en-US" b="0" dirty="0" err="1"/>
              <a:t>presioni</a:t>
            </a:r>
            <a:r>
              <a:rPr lang="en-US" b="0" dirty="0"/>
              <a:t> </a:t>
            </a:r>
            <a:r>
              <a:rPr lang="en-US" b="0" dirty="0" err="1"/>
              <a:t>nën</a:t>
            </a:r>
            <a:r>
              <a:rPr lang="en-US" b="0" dirty="0"/>
              <a:t> 120/80 mmHg </a:t>
            </a:r>
            <a:r>
              <a:rPr lang="en-US" b="0" dirty="0" err="1"/>
              <a:t>konsiderohet</a:t>
            </a:r>
            <a:r>
              <a:rPr lang="en-US" b="0" dirty="0"/>
              <a:t> normal. </a:t>
            </a:r>
            <a:endParaRPr lang="sq-AL" b="0" dirty="0"/>
          </a:p>
          <a:p>
            <a:r>
              <a:rPr lang="en-US" b="0" dirty="0" err="1"/>
              <a:t>Megjithatë</a:t>
            </a:r>
            <a:r>
              <a:rPr lang="en-US" b="0" dirty="0"/>
              <a:t>,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sistemet</a:t>
            </a:r>
            <a:r>
              <a:rPr lang="en-US" b="0" dirty="0"/>
              <a:t> e </a:t>
            </a:r>
            <a:r>
              <a:rPr lang="en-US" b="0" dirty="0" err="1"/>
              <a:t>avancuara</a:t>
            </a:r>
            <a:r>
              <a:rPr lang="en-US" b="0" dirty="0"/>
              <a:t> IoMT </a:t>
            </a:r>
            <a:r>
              <a:rPr lang="en-US" b="0" dirty="0" err="1"/>
              <a:t>këto</a:t>
            </a:r>
            <a:r>
              <a:rPr lang="en-US" b="0" dirty="0"/>
              <a:t> </a:t>
            </a:r>
            <a:r>
              <a:rPr lang="en-US" b="0" dirty="0" err="1"/>
              <a:t>rangje</a:t>
            </a:r>
            <a:r>
              <a:rPr lang="en-US" b="0" dirty="0"/>
              <a:t> </a:t>
            </a:r>
            <a:r>
              <a:rPr lang="en-US" b="0" dirty="0" err="1"/>
              <a:t>nuk</a:t>
            </a:r>
            <a:r>
              <a:rPr lang="en-US" b="0" dirty="0"/>
              <a:t> </a:t>
            </a:r>
            <a:r>
              <a:rPr lang="en-US" b="0" dirty="0" err="1"/>
              <a:t>duhen</a:t>
            </a:r>
            <a:r>
              <a:rPr lang="en-US" b="0" dirty="0"/>
              <a:t> </a:t>
            </a:r>
            <a:r>
              <a:rPr lang="en-US" b="0" dirty="0" err="1"/>
              <a:t>parë</a:t>
            </a:r>
            <a:r>
              <a:rPr lang="en-US" b="0" dirty="0"/>
              <a:t> </a:t>
            </a:r>
            <a:r>
              <a:rPr lang="en-US" b="0" dirty="0" err="1"/>
              <a:t>vetëm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pragje</a:t>
            </a:r>
            <a:r>
              <a:rPr lang="en-US" b="0" dirty="0"/>
              <a:t> </a:t>
            </a:r>
            <a:r>
              <a:rPr lang="en-US" b="0" dirty="0" err="1"/>
              <a:t>statike</a:t>
            </a:r>
            <a:r>
              <a:rPr lang="en-US" b="0" dirty="0"/>
              <a:t> </a:t>
            </a:r>
            <a:r>
              <a:rPr lang="en-US" b="0" dirty="0" err="1"/>
              <a:t>universale</a:t>
            </a:r>
            <a:r>
              <a:rPr lang="en-US" b="0" dirty="0"/>
              <a:t>,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parametra</a:t>
            </a:r>
            <a:r>
              <a:rPr lang="en-US" b="0" dirty="0"/>
              <a:t> </a:t>
            </a:r>
            <a:r>
              <a:rPr lang="en-US" b="0" dirty="0" err="1"/>
              <a:t>orientues</a:t>
            </a:r>
            <a:r>
              <a:rPr lang="en-US" b="0" dirty="0"/>
              <a:t> </a:t>
            </a:r>
            <a:r>
              <a:rPr lang="en-US" b="0" dirty="0" err="1"/>
              <a:t>që</a:t>
            </a:r>
            <a:r>
              <a:rPr lang="en-US" b="0" dirty="0"/>
              <a:t> </a:t>
            </a:r>
            <a:r>
              <a:rPr lang="en-US" b="0" dirty="0" err="1"/>
              <a:t>duhen</a:t>
            </a:r>
            <a:r>
              <a:rPr lang="en-US" b="0" dirty="0"/>
              <a:t> </a:t>
            </a:r>
            <a:r>
              <a:rPr lang="en-US" b="0" dirty="0" err="1"/>
              <a:t>kombinuar</a:t>
            </a:r>
            <a:r>
              <a:rPr lang="en-US" b="0" dirty="0"/>
              <a:t> me </a:t>
            </a:r>
            <a:r>
              <a:rPr lang="en-US" b="0" dirty="0" err="1"/>
              <a:t>kontekstin</a:t>
            </a:r>
            <a:r>
              <a:rPr lang="en-US" b="0" dirty="0"/>
              <a:t> </a:t>
            </a:r>
            <a:r>
              <a:rPr lang="en-US" b="0" dirty="0" err="1"/>
              <a:t>klinik</a:t>
            </a:r>
            <a:r>
              <a:rPr lang="en-US" b="0" dirty="0"/>
              <a:t>, </a:t>
            </a:r>
            <a:r>
              <a:rPr lang="en-US" b="0" dirty="0" err="1"/>
              <a:t>moshën</a:t>
            </a:r>
            <a:r>
              <a:rPr lang="en-US" b="0" dirty="0"/>
              <a:t>, </a:t>
            </a:r>
            <a:r>
              <a:rPr lang="en-US" b="0" dirty="0" err="1"/>
              <a:t>aktivitetin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trendin</a:t>
            </a:r>
            <a:r>
              <a:rPr lang="en-US" b="0" dirty="0"/>
              <a:t> </a:t>
            </a:r>
            <a:r>
              <a:rPr lang="en-US" b="0" dirty="0" err="1"/>
              <a:t>kohor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pacientit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91A51E-B96C-1784-CC72-0B061326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7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84AB-6D65-0370-375B-6B24FB55A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1803-4E6D-AD54-25A9-0639EB3A3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>
            <a:normAutofit/>
          </a:bodyPr>
          <a:lstStyle/>
          <a:p>
            <a:r>
              <a:rPr lang="pt-BR" dirty="0"/>
              <a:t>4. Frekuenca e matjes dhe saktësia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C12C1-7274-DE9E-4BBD-3D6D94A30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lnSpcReduction="10000"/>
          </a:bodyPr>
          <a:lstStyle/>
          <a:p>
            <a:r>
              <a:rPr lang="en-US" b="0" dirty="0" err="1"/>
              <a:t>Frekuenca</a:t>
            </a:r>
            <a:r>
              <a:rPr lang="en-US" b="0" dirty="0"/>
              <a:t> e </a:t>
            </a:r>
            <a:r>
              <a:rPr lang="en-US" b="0" dirty="0" err="1"/>
              <a:t>matjes</a:t>
            </a:r>
            <a:r>
              <a:rPr lang="en-US" b="0" dirty="0"/>
              <a:t> </a:t>
            </a:r>
            <a:r>
              <a:rPr lang="en-US" b="0" dirty="0" err="1"/>
              <a:t>ndryshon</a:t>
            </a:r>
            <a:r>
              <a:rPr lang="en-US" b="0" dirty="0"/>
              <a:t> </a:t>
            </a:r>
            <a:r>
              <a:rPr lang="en-US" b="0" dirty="0" err="1"/>
              <a:t>sipas</a:t>
            </a:r>
            <a:r>
              <a:rPr lang="en-US" b="0" dirty="0"/>
              <a:t> </a:t>
            </a:r>
            <a:r>
              <a:rPr lang="en-US" b="0" dirty="0" err="1"/>
              <a:t>llojit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sinjalit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nevojës</a:t>
            </a:r>
            <a:r>
              <a:rPr lang="en-US" b="0" dirty="0"/>
              <a:t> </a:t>
            </a:r>
            <a:r>
              <a:rPr lang="en-US" b="0" dirty="0" err="1"/>
              <a:t>klinike</a:t>
            </a:r>
            <a:r>
              <a:rPr lang="en-US" b="0" dirty="0"/>
              <a:t>. </a:t>
            </a:r>
            <a:r>
              <a:rPr lang="en-US" b="0" dirty="0" err="1"/>
              <a:t>Sinjale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ECG, EMG </a:t>
            </a:r>
            <a:r>
              <a:rPr lang="en-US" b="0" dirty="0" err="1"/>
              <a:t>dhe</a:t>
            </a:r>
            <a:r>
              <a:rPr lang="en-US" b="0" dirty="0"/>
              <a:t> PPG </a:t>
            </a:r>
            <a:r>
              <a:rPr lang="en-US" b="0" dirty="0" err="1"/>
              <a:t>kërkojnë</a:t>
            </a:r>
            <a:r>
              <a:rPr lang="en-US" b="0" dirty="0"/>
              <a:t> </a:t>
            </a:r>
            <a:r>
              <a:rPr lang="en-US" b="0" dirty="0" err="1"/>
              <a:t>frekuencë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lartë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kapur</a:t>
            </a:r>
            <a:r>
              <a:rPr lang="en-US" b="0" dirty="0"/>
              <a:t> </a:t>
            </a:r>
            <a:r>
              <a:rPr lang="en-US" b="0" dirty="0" err="1"/>
              <a:t>ndryshimet</a:t>
            </a:r>
            <a:r>
              <a:rPr lang="en-US" b="0" dirty="0"/>
              <a:t> e </a:t>
            </a:r>
            <a:r>
              <a:rPr lang="en-US" b="0" dirty="0" err="1"/>
              <a:t>shpejta</a:t>
            </a:r>
            <a:r>
              <a:rPr lang="en-US" b="0" dirty="0"/>
              <a:t> </a:t>
            </a:r>
            <a:r>
              <a:rPr lang="en-US" b="0" dirty="0" err="1"/>
              <a:t>fiziologjike</a:t>
            </a:r>
            <a:r>
              <a:rPr lang="en-US" b="0" dirty="0"/>
              <a:t>, </a:t>
            </a:r>
            <a:r>
              <a:rPr lang="en-US" b="0" dirty="0" err="1"/>
              <a:t>ndërsa</a:t>
            </a:r>
            <a:r>
              <a:rPr lang="en-US" b="0" dirty="0"/>
              <a:t> </a:t>
            </a:r>
            <a:r>
              <a:rPr lang="en-US" b="0" dirty="0" err="1"/>
              <a:t>parametra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temperatura</a:t>
            </a:r>
            <a:r>
              <a:rPr lang="en-US" b="0" dirty="0"/>
              <a:t> </a:t>
            </a:r>
            <a:r>
              <a:rPr lang="en-US" b="0" dirty="0" err="1"/>
              <a:t>trupore</a:t>
            </a:r>
            <a:r>
              <a:rPr lang="en-US" b="0" dirty="0"/>
              <a:t> </a:t>
            </a:r>
            <a:r>
              <a:rPr lang="en-US" b="0" dirty="0" err="1"/>
              <a:t>ose</a:t>
            </a:r>
            <a:r>
              <a:rPr lang="en-US" b="0" dirty="0"/>
              <a:t> </a:t>
            </a:r>
            <a:r>
              <a:rPr lang="en-US" b="0" dirty="0" err="1"/>
              <a:t>glukoza</a:t>
            </a:r>
            <a:r>
              <a:rPr lang="en-US" b="0" dirty="0"/>
              <a:t> </a:t>
            </a:r>
            <a:r>
              <a:rPr lang="en-US" b="0" dirty="0" err="1"/>
              <a:t>mund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maten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rrallë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/>
              <a:t>Nga ana </a:t>
            </a:r>
            <a:r>
              <a:rPr lang="en-US" b="0" dirty="0" err="1"/>
              <a:t>inxhinierike</a:t>
            </a:r>
            <a:r>
              <a:rPr lang="en-US" b="0" dirty="0"/>
              <a:t>, </a:t>
            </a:r>
            <a:r>
              <a:rPr lang="en-US" b="0" dirty="0" err="1"/>
              <a:t>frekuenca</a:t>
            </a:r>
            <a:r>
              <a:rPr lang="en-US" b="0" dirty="0"/>
              <a:t> </a:t>
            </a:r>
            <a:r>
              <a:rPr lang="en-US" b="0" dirty="0" err="1"/>
              <a:t>duhet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balancohet</a:t>
            </a:r>
            <a:r>
              <a:rPr lang="en-US" b="0" dirty="0"/>
              <a:t> me </a:t>
            </a:r>
            <a:r>
              <a:rPr lang="en-US" b="0" dirty="0" err="1"/>
              <a:t>jetën</a:t>
            </a:r>
            <a:r>
              <a:rPr lang="en-US" b="0" dirty="0"/>
              <a:t> e </a:t>
            </a:r>
            <a:r>
              <a:rPr lang="en-US" b="0" dirty="0" err="1"/>
              <a:t>baterisë</a:t>
            </a:r>
            <a:r>
              <a:rPr lang="en-US" b="0" dirty="0"/>
              <a:t>, bandwidth-in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kapacitetin</a:t>
            </a:r>
            <a:r>
              <a:rPr lang="en-US" b="0" dirty="0"/>
              <a:t> e </a:t>
            </a:r>
            <a:r>
              <a:rPr lang="en-US" b="0" dirty="0" err="1"/>
              <a:t>përpunimit</a:t>
            </a:r>
            <a:r>
              <a:rPr lang="en-US" b="0" dirty="0"/>
              <a:t>.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qasje</a:t>
            </a:r>
            <a:r>
              <a:rPr lang="en-US" b="0" dirty="0"/>
              <a:t> adaptive e </a:t>
            </a:r>
            <a:r>
              <a:rPr lang="en-US" b="0" dirty="0" err="1"/>
              <a:t>matjes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e </a:t>
            </a:r>
            <a:r>
              <a:rPr lang="en-US" b="0" dirty="0" err="1"/>
              <a:t>përshtatshme</a:t>
            </a:r>
            <a:r>
              <a:rPr lang="en-US" b="0" dirty="0"/>
              <a:t>, </a:t>
            </a:r>
            <a:r>
              <a:rPr lang="en-US" b="0" dirty="0" err="1"/>
              <a:t>sepse</a:t>
            </a:r>
            <a:r>
              <a:rPr lang="en-US" b="0" dirty="0"/>
              <a:t> </a:t>
            </a:r>
            <a:r>
              <a:rPr lang="en-US" b="0" dirty="0" err="1"/>
              <a:t>rrit</a:t>
            </a:r>
            <a:r>
              <a:rPr lang="en-US" b="0" dirty="0"/>
              <a:t> </a:t>
            </a:r>
            <a:r>
              <a:rPr lang="en-US" b="0" dirty="0" err="1"/>
              <a:t>frekuencën</a:t>
            </a:r>
            <a:r>
              <a:rPr lang="en-US" b="0" dirty="0"/>
              <a:t> </a:t>
            </a:r>
            <a:r>
              <a:rPr lang="en-US" b="0" dirty="0" err="1"/>
              <a:t>kur</a:t>
            </a:r>
            <a:r>
              <a:rPr lang="en-US" b="0" dirty="0"/>
              <a:t> </a:t>
            </a:r>
            <a:r>
              <a:rPr lang="en-US" b="0" dirty="0" err="1"/>
              <a:t>zbulohen</a:t>
            </a:r>
            <a:r>
              <a:rPr lang="en-US" b="0" dirty="0"/>
              <a:t> </a:t>
            </a:r>
            <a:r>
              <a:rPr lang="en-US" b="0" dirty="0" err="1"/>
              <a:t>devijime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e ul </a:t>
            </a:r>
            <a:r>
              <a:rPr lang="en-US" b="0" dirty="0" err="1"/>
              <a:t>gjatë</a:t>
            </a:r>
            <a:r>
              <a:rPr lang="en-US" b="0" dirty="0"/>
              <a:t> </a:t>
            </a:r>
            <a:r>
              <a:rPr lang="en-US" b="0" dirty="0" err="1"/>
              <a:t>periudhave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qëndrueshme</a:t>
            </a:r>
            <a:r>
              <a:rPr lang="en-US" b="0" dirty="0"/>
              <a:t>. </a:t>
            </a:r>
            <a:r>
              <a:rPr lang="en-US" b="0" dirty="0" err="1"/>
              <a:t>Saktësia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po </a:t>
            </a:r>
            <a:r>
              <a:rPr lang="en-US" b="0" dirty="0" err="1"/>
              <a:t>aq</a:t>
            </a:r>
            <a:r>
              <a:rPr lang="en-US" b="0" dirty="0"/>
              <a:t> e </a:t>
            </a:r>
            <a:r>
              <a:rPr lang="en-US" b="0" dirty="0" err="1"/>
              <a:t>rëndësishme</a:t>
            </a:r>
            <a:r>
              <a:rPr lang="en-US" b="0" dirty="0"/>
              <a:t>, </a:t>
            </a:r>
            <a:r>
              <a:rPr lang="en-US" b="0" dirty="0" err="1"/>
              <a:t>sepse</a:t>
            </a:r>
            <a:r>
              <a:rPr lang="en-US" b="0" dirty="0"/>
              <a:t> </a:t>
            </a:r>
            <a:r>
              <a:rPr lang="en-US" b="0" dirty="0" err="1"/>
              <a:t>sensorët</a:t>
            </a:r>
            <a:r>
              <a:rPr lang="en-US" b="0" dirty="0"/>
              <a:t> </a:t>
            </a:r>
            <a:r>
              <a:rPr lang="en-US" b="0" dirty="0" err="1"/>
              <a:t>mund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ndikohen</a:t>
            </a:r>
            <a:r>
              <a:rPr lang="en-US" b="0" dirty="0"/>
              <a:t> </a:t>
            </a:r>
            <a:r>
              <a:rPr lang="en-US" b="0" dirty="0" err="1"/>
              <a:t>nga</a:t>
            </a:r>
            <a:r>
              <a:rPr lang="en-US" b="0" dirty="0"/>
              <a:t> </a:t>
            </a:r>
            <a:r>
              <a:rPr lang="en-US" b="0" dirty="0" err="1"/>
              <a:t>lëvizja</a:t>
            </a:r>
            <a:r>
              <a:rPr lang="en-US" b="0" dirty="0"/>
              <a:t>, </a:t>
            </a:r>
            <a:r>
              <a:rPr lang="en-US" b="0" dirty="0" err="1"/>
              <a:t>kontakti</a:t>
            </a:r>
            <a:r>
              <a:rPr lang="en-US" b="0" dirty="0"/>
              <a:t> jo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mirë</a:t>
            </a:r>
            <a:r>
              <a:rPr lang="en-US" b="0" dirty="0"/>
              <a:t>, </a:t>
            </a:r>
            <a:r>
              <a:rPr lang="en-US" b="0" dirty="0" err="1"/>
              <a:t>zhurma</a:t>
            </a:r>
            <a:r>
              <a:rPr lang="en-US" b="0" dirty="0"/>
              <a:t> </a:t>
            </a:r>
            <a:r>
              <a:rPr lang="en-US" b="0" dirty="0" err="1"/>
              <a:t>elektromagnetike</a:t>
            </a:r>
            <a:r>
              <a:rPr lang="en-US" b="0" dirty="0"/>
              <a:t> </a:t>
            </a:r>
            <a:r>
              <a:rPr lang="en-US" b="0" dirty="0" err="1"/>
              <a:t>ose</a:t>
            </a:r>
            <a:r>
              <a:rPr lang="en-US" b="0" dirty="0"/>
              <a:t> </a:t>
            </a:r>
            <a:r>
              <a:rPr lang="en-US" b="0" dirty="0" err="1"/>
              <a:t>kalibrimi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paplotë</a:t>
            </a:r>
            <a:r>
              <a:rPr lang="en-US" b="0" dirty="0"/>
              <a:t>, </a:t>
            </a:r>
            <a:r>
              <a:rPr lang="en-US" b="0" dirty="0" err="1"/>
              <a:t>prandaj</a:t>
            </a:r>
            <a:r>
              <a:rPr lang="en-US" b="0" dirty="0"/>
              <a:t> </a:t>
            </a:r>
            <a:r>
              <a:rPr lang="en-US" b="0" dirty="0" err="1"/>
              <a:t>sistemi</a:t>
            </a:r>
            <a:r>
              <a:rPr lang="en-US" b="0" dirty="0"/>
              <a:t> </a:t>
            </a:r>
            <a:r>
              <a:rPr lang="en-US" b="0" dirty="0" err="1"/>
              <a:t>duhet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ketë</a:t>
            </a:r>
            <a:r>
              <a:rPr lang="en-US" b="0" dirty="0"/>
              <a:t> </a:t>
            </a:r>
            <a:r>
              <a:rPr lang="en-US" b="0" dirty="0" err="1"/>
              <a:t>mekanizma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validimin</a:t>
            </a:r>
            <a:r>
              <a:rPr lang="en-US" b="0" dirty="0"/>
              <a:t> e </a:t>
            </a:r>
            <a:r>
              <a:rPr lang="en-US" b="0" dirty="0" err="1"/>
              <a:t>cilësisë</a:t>
            </a:r>
            <a:r>
              <a:rPr lang="en-US" b="0" dirty="0"/>
              <a:t> </a:t>
            </a:r>
            <a:r>
              <a:rPr lang="en-US" b="0" dirty="0" err="1"/>
              <a:t>së</a:t>
            </a:r>
            <a:r>
              <a:rPr lang="en-US" b="0" dirty="0"/>
              <a:t> </a:t>
            </a:r>
            <a:r>
              <a:rPr lang="en-US" b="0" dirty="0" err="1"/>
              <a:t>sinjalit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924A5D3-0B2B-0E5B-03D9-036BF179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593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2ABA-9664-DE85-2903-C8529976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619E-4576-3E5A-9A8E-A6E80264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7288282" cy="1017937"/>
          </a:xfrm>
        </p:spPr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Sfida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mbledhjen</a:t>
            </a:r>
            <a:r>
              <a:rPr lang="en-US" dirty="0"/>
              <a:t> 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A1743-2F5A-5E3D-0B97-8EA66FB91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lnSpcReduction="10000"/>
          </a:bodyPr>
          <a:lstStyle/>
          <a:p>
            <a:r>
              <a:rPr lang="en-US" b="0" dirty="0" err="1"/>
              <a:t>Sfida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mbledhjen</a:t>
            </a:r>
            <a:r>
              <a:rPr lang="en-US" b="0" dirty="0"/>
              <a:t> 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 </a:t>
            </a:r>
            <a:r>
              <a:rPr lang="en-US" b="0" dirty="0" err="1"/>
              <a:t>janë</a:t>
            </a:r>
            <a:r>
              <a:rPr lang="en-US" b="0" dirty="0"/>
              <a:t> </a:t>
            </a:r>
            <a:r>
              <a:rPr lang="en-US" b="0" dirty="0" err="1"/>
              <a:t>artefaktet</a:t>
            </a:r>
            <a:r>
              <a:rPr lang="en-US" b="0" dirty="0"/>
              <a:t> e </a:t>
            </a:r>
            <a:r>
              <a:rPr lang="en-US" b="0" dirty="0" err="1"/>
              <a:t>lëvizjes</a:t>
            </a:r>
            <a:r>
              <a:rPr lang="en-US" b="0" dirty="0"/>
              <a:t>, </a:t>
            </a:r>
            <a:r>
              <a:rPr lang="en-US" b="0" dirty="0" err="1"/>
              <a:t>zhurma</a:t>
            </a:r>
            <a:r>
              <a:rPr lang="en-US" b="0" dirty="0"/>
              <a:t>, </a:t>
            </a:r>
            <a:r>
              <a:rPr lang="en-US" b="0" dirty="0" err="1"/>
              <a:t>humbja</a:t>
            </a:r>
            <a:r>
              <a:rPr lang="en-US" b="0" dirty="0"/>
              <a:t> e </a:t>
            </a:r>
            <a:r>
              <a:rPr lang="en-US" b="0" dirty="0" err="1"/>
              <a:t>kontaktit</a:t>
            </a:r>
            <a:r>
              <a:rPr lang="en-US" b="0" dirty="0"/>
              <a:t> me </a:t>
            </a:r>
            <a:r>
              <a:rPr lang="en-US" b="0" dirty="0" err="1"/>
              <a:t>lëkurën</a:t>
            </a:r>
            <a:r>
              <a:rPr lang="en-US" b="0" dirty="0"/>
              <a:t>, </a:t>
            </a:r>
            <a:r>
              <a:rPr lang="en-US" b="0" dirty="0" err="1"/>
              <a:t>kufizimet</a:t>
            </a:r>
            <a:r>
              <a:rPr lang="en-US" b="0" dirty="0"/>
              <a:t> e </a:t>
            </a:r>
            <a:r>
              <a:rPr lang="en-US" b="0" dirty="0" err="1"/>
              <a:t>energjisë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heterogjeniteti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pajisjeve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sistemet</a:t>
            </a:r>
            <a:r>
              <a:rPr lang="en-US" b="0" dirty="0"/>
              <a:t> </a:t>
            </a:r>
            <a:r>
              <a:rPr lang="en-US" b="0" dirty="0" err="1"/>
              <a:t>multimodale</a:t>
            </a:r>
            <a:r>
              <a:rPr lang="en-US" b="0" dirty="0"/>
              <a:t> </a:t>
            </a:r>
            <a:r>
              <a:rPr lang="en-US" b="0" dirty="0" err="1"/>
              <a:t>shtohen</a:t>
            </a:r>
            <a:r>
              <a:rPr lang="en-US" b="0" dirty="0"/>
              <a:t> </a:t>
            </a:r>
            <a:r>
              <a:rPr lang="en-US" b="0" dirty="0" err="1"/>
              <a:t>edhe</a:t>
            </a:r>
            <a:r>
              <a:rPr lang="en-US" b="0" dirty="0"/>
              <a:t> </a:t>
            </a:r>
            <a:r>
              <a:rPr lang="en-US" b="0" dirty="0" err="1"/>
              <a:t>sfida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sinkronizimi</a:t>
            </a:r>
            <a:r>
              <a:rPr lang="en-US" b="0" dirty="0"/>
              <a:t> </a:t>
            </a:r>
            <a:r>
              <a:rPr lang="en-US" b="0" dirty="0" err="1"/>
              <a:t>ndërmjet</a:t>
            </a:r>
            <a:r>
              <a:rPr lang="en-US" b="0" dirty="0"/>
              <a:t> </a:t>
            </a:r>
            <a:r>
              <a:rPr lang="en-US" b="0" dirty="0" err="1"/>
              <a:t>sensorëve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ndryshëm</a:t>
            </a:r>
            <a:r>
              <a:rPr lang="en-US" b="0" dirty="0"/>
              <a:t>, </a:t>
            </a:r>
            <a:r>
              <a:rPr lang="en-US" b="0" dirty="0" err="1"/>
              <a:t>harmonizimi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frekuencave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matjes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integrimi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 me </a:t>
            </a:r>
            <a:r>
              <a:rPr lang="en-US" b="0" dirty="0" err="1"/>
              <a:t>nivele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ndryshme</a:t>
            </a:r>
            <a:r>
              <a:rPr lang="en-US" b="0" dirty="0"/>
              <a:t> </a:t>
            </a:r>
            <a:r>
              <a:rPr lang="en-US" b="0" dirty="0" err="1"/>
              <a:t>besueshmërie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sfidë</a:t>
            </a:r>
            <a:r>
              <a:rPr lang="en-US" b="0" dirty="0"/>
              <a:t> </a:t>
            </a:r>
            <a:r>
              <a:rPr lang="en-US" b="0" dirty="0" err="1"/>
              <a:t>tjetër</a:t>
            </a:r>
            <a:r>
              <a:rPr lang="en-US" b="0" dirty="0"/>
              <a:t> e </a:t>
            </a:r>
            <a:r>
              <a:rPr lang="en-US" b="0" dirty="0" err="1"/>
              <a:t>rëndësishme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dallimi</a:t>
            </a:r>
            <a:r>
              <a:rPr lang="en-US" b="0" dirty="0"/>
              <a:t> </a:t>
            </a:r>
            <a:r>
              <a:rPr lang="en-US" b="0" dirty="0" err="1"/>
              <a:t>ndërmjet</a:t>
            </a:r>
            <a:r>
              <a:rPr lang="en-US" b="0" dirty="0"/>
              <a:t> </a:t>
            </a:r>
            <a:r>
              <a:rPr lang="en-US" b="0" dirty="0" err="1"/>
              <a:t>alarmeve</a:t>
            </a:r>
            <a:r>
              <a:rPr lang="en-US" b="0" dirty="0"/>
              <a:t> </a:t>
            </a:r>
            <a:r>
              <a:rPr lang="en-US" b="0" dirty="0" err="1"/>
              <a:t>klinikisht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vlefshme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alarmeve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rreme</a:t>
            </a:r>
            <a:r>
              <a:rPr lang="en-US" b="0" dirty="0"/>
              <a:t>.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këtë</a:t>
            </a:r>
            <a:r>
              <a:rPr lang="en-US" b="0" dirty="0"/>
              <a:t> </a:t>
            </a:r>
            <a:r>
              <a:rPr lang="en-US" b="0" dirty="0" err="1"/>
              <a:t>arsye</a:t>
            </a:r>
            <a:r>
              <a:rPr lang="en-US" b="0" dirty="0"/>
              <a:t>, </a:t>
            </a:r>
            <a:r>
              <a:rPr lang="en-US" b="0" dirty="0" err="1"/>
              <a:t>rekomandohet</a:t>
            </a:r>
            <a:r>
              <a:rPr lang="en-US" b="0" dirty="0"/>
              <a:t> </a:t>
            </a:r>
            <a:r>
              <a:rPr lang="en-US" b="0" dirty="0" err="1"/>
              <a:t>kombinimi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pragjeve</a:t>
            </a:r>
            <a:r>
              <a:rPr lang="en-US" b="0" dirty="0"/>
              <a:t>, </a:t>
            </a:r>
            <a:r>
              <a:rPr lang="en-US" b="0" dirty="0" err="1"/>
              <a:t>filtrimit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edge, </a:t>
            </a:r>
            <a:r>
              <a:rPr lang="en-US" b="0" dirty="0" err="1"/>
              <a:t>kontrollit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cilësisë</a:t>
            </a:r>
            <a:r>
              <a:rPr lang="en-US" b="0" dirty="0"/>
              <a:t> </a:t>
            </a:r>
            <a:r>
              <a:rPr lang="en-US" b="0" dirty="0" err="1"/>
              <a:t>së</a:t>
            </a:r>
            <a:r>
              <a:rPr lang="en-US" b="0" dirty="0"/>
              <a:t> </a:t>
            </a:r>
            <a:r>
              <a:rPr lang="en-US" b="0" dirty="0" err="1"/>
              <a:t>sinjalit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analizës</a:t>
            </a:r>
            <a:r>
              <a:rPr lang="en-US" b="0" dirty="0"/>
              <a:t> </a:t>
            </a:r>
            <a:r>
              <a:rPr lang="en-US" b="0" dirty="0" err="1"/>
              <a:t>së</a:t>
            </a:r>
            <a:r>
              <a:rPr lang="en-US" b="0" dirty="0"/>
              <a:t> </a:t>
            </a:r>
            <a:r>
              <a:rPr lang="en-US" b="0" dirty="0" err="1"/>
              <a:t>avancuar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rritur</a:t>
            </a:r>
            <a:r>
              <a:rPr lang="en-US" b="0" dirty="0"/>
              <a:t> </a:t>
            </a:r>
            <a:r>
              <a:rPr lang="en-US" b="0" dirty="0" err="1"/>
              <a:t>relevancën</a:t>
            </a:r>
            <a:r>
              <a:rPr lang="en-US" b="0" dirty="0"/>
              <a:t> </a:t>
            </a:r>
            <a:r>
              <a:rPr lang="en-US" b="0" dirty="0" err="1"/>
              <a:t>klinike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njoftimeve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4C13EAF-B71A-8E35-EB89-352BAC2C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725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D8AC-2AF1-242D-352B-C35B7CD9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44459-22FF-DF33-4C82-481AE3242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B. </a:t>
            </a:r>
            <a:r>
              <a:rPr lang="en-US" b="1" dirty="0" err="1"/>
              <a:t>Transmetimi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dhënave</a:t>
            </a:r>
            <a:r>
              <a:rPr lang="en-US" b="1" dirty="0"/>
              <a:t> </a:t>
            </a:r>
            <a:r>
              <a:rPr lang="en-US" b="1" dirty="0" err="1"/>
              <a:t>dhe</a:t>
            </a:r>
            <a:r>
              <a:rPr lang="en-US" b="1" dirty="0"/>
              <a:t> IoT Gateway</a:t>
            </a:r>
            <a:br>
              <a:rPr lang="sq-AL" b="1" dirty="0"/>
            </a:br>
            <a:r>
              <a:rPr lang="en-US" dirty="0"/>
              <a:t>1. </a:t>
            </a:r>
            <a:r>
              <a:rPr lang="en-US" dirty="0" err="1"/>
              <a:t>Metodat</a:t>
            </a:r>
            <a:r>
              <a:rPr lang="en-US" dirty="0"/>
              <a:t> e </a:t>
            </a:r>
            <a:r>
              <a:rPr lang="en-US" dirty="0" err="1"/>
              <a:t>transmetimit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B1A14-0FC4-3A91-5FED-74F39B00B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fontScale="85000" lnSpcReduction="20000"/>
          </a:bodyPr>
          <a:lstStyle/>
          <a:p>
            <a:r>
              <a:rPr lang="en-US" b="0" dirty="0" err="1"/>
              <a:t>Transmetimi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 </a:t>
            </a:r>
            <a:r>
              <a:rPr lang="en-US" b="0" dirty="0" err="1"/>
              <a:t>realizohet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dy</a:t>
            </a:r>
            <a:r>
              <a:rPr lang="en-US" b="0" dirty="0"/>
              <a:t> </a:t>
            </a:r>
            <a:r>
              <a:rPr lang="en-US" b="0" dirty="0" err="1"/>
              <a:t>nivele</a:t>
            </a:r>
            <a:r>
              <a:rPr lang="en-US" b="0" dirty="0"/>
              <a:t>: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komunikimi</a:t>
            </a:r>
            <a:r>
              <a:rPr lang="en-US" b="0" dirty="0"/>
              <a:t> </a:t>
            </a:r>
            <a:r>
              <a:rPr lang="en-US" b="0" dirty="0" err="1"/>
              <a:t>lokal</a:t>
            </a:r>
            <a:r>
              <a:rPr lang="en-US" b="0" dirty="0"/>
              <a:t> </a:t>
            </a:r>
            <a:r>
              <a:rPr lang="en-US" b="0" dirty="0" err="1"/>
              <a:t>ndërmjet</a:t>
            </a:r>
            <a:r>
              <a:rPr lang="en-US" b="0" dirty="0"/>
              <a:t> </a:t>
            </a:r>
            <a:r>
              <a:rPr lang="en-US" b="0" dirty="0" err="1"/>
              <a:t>sensorëve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gateway-t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komunikimi</a:t>
            </a:r>
            <a:r>
              <a:rPr lang="en-US" b="0" dirty="0"/>
              <a:t> </a:t>
            </a:r>
            <a:r>
              <a:rPr lang="en-US" b="0" dirty="0" err="1"/>
              <a:t>nga</a:t>
            </a:r>
            <a:r>
              <a:rPr lang="en-US" b="0" dirty="0"/>
              <a:t> gateway </a:t>
            </a:r>
            <a:r>
              <a:rPr lang="en-US" b="0" dirty="0" err="1"/>
              <a:t>drejt</a:t>
            </a:r>
            <a:r>
              <a:rPr lang="en-US" b="0" dirty="0"/>
              <a:t> edge </a:t>
            </a:r>
            <a:r>
              <a:rPr lang="en-US" b="0" dirty="0" err="1"/>
              <a:t>ose</a:t>
            </a:r>
            <a:r>
              <a:rPr lang="en-US" b="0" dirty="0"/>
              <a:t> cloud. </a:t>
            </a:r>
            <a:endParaRPr lang="sq-AL" b="0" dirty="0"/>
          </a:p>
          <a:p>
            <a:r>
              <a:rPr lang="en-US" b="0" dirty="0" err="1"/>
              <a:t>Teknologjitë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lokale</a:t>
            </a:r>
            <a:r>
              <a:rPr lang="en-US" b="0" dirty="0"/>
              <a:t> </a:t>
            </a:r>
            <a:r>
              <a:rPr lang="en-US" b="0" dirty="0" err="1"/>
              <a:t>janë</a:t>
            </a:r>
            <a:r>
              <a:rPr lang="sq-AL" b="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BLE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shumë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përshtatshëm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wearables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shkak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konsumit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ulët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energjisë</a:t>
            </a:r>
            <a:r>
              <a:rPr lang="en-US" b="0" dirty="0"/>
              <a:t>.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Wi-Fi</a:t>
            </a:r>
            <a:r>
              <a:rPr lang="en-US" b="0" dirty="0"/>
              <a:t> </a:t>
            </a:r>
            <a:r>
              <a:rPr lang="en-US" b="0" dirty="0" err="1"/>
              <a:t>ofron</a:t>
            </a:r>
            <a:r>
              <a:rPr lang="en-US" b="0" dirty="0"/>
              <a:t> bandwidth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lartë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sq-AL" dirty="0"/>
              <a:t>R</a:t>
            </a:r>
            <a:r>
              <a:rPr lang="en-US" dirty="0" err="1"/>
              <a:t>rjetet</a:t>
            </a:r>
            <a:r>
              <a:rPr lang="en-US" dirty="0"/>
              <a:t> </a:t>
            </a:r>
            <a:r>
              <a:rPr lang="en-US" dirty="0" err="1"/>
              <a:t>celulare</a:t>
            </a:r>
            <a:r>
              <a:rPr lang="en-US" dirty="0"/>
              <a:t> </a:t>
            </a:r>
            <a:r>
              <a:rPr lang="en-US" b="0" dirty="0" err="1"/>
              <a:t>mundësojnë</a:t>
            </a:r>
            <a:r>
              <a:rPr lang="en-US" b="0" dirty="0"/>
              <a:t> </a:t>
            </a:r>
            <a:r>
              <a:rPr lang="en-US" b="0" dirty="0" err="1"/>
              <a:t>monitorim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distancë</a:t>
            </a:r>
            <a:r>
              <a:rPr lang="en-US" b="0" dirty="0"/>
              <a:t> </a:t>
            </a:r>
            <a:r>
              <a:rPr lang="en-US" b="0" dirty="0" err="1"/>
              <a:t>jashtë</a:t>
            </a:r>
            <a:r>
              <a:rPr lang="en-US" b="0" dirty="0"/>
              <a:t> </a:t>
            </a:r>
            <a:r>
              <a:rPr lang="en-US" b="0" dirty="0" err="1"/>
              <a:t>mjedisit</a:t>
            </a:r>
            <a:r>
              <a:rPr lang="en-US" b="0" dirty="0"/>
              <a:t> </a:t>
            </a:r>
            <a:r>
              <a:rPr lang="en-US" b="0" dirty="0" err="1"/>
              <a:t>lokal</a:t>
            </a:r>
            <a:r>
              <a:rPr lang="en-US" b="0" dirty="0"/>
              <a:t>.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 </a:t>
            </a:r>
            <a:r>
              <a:rPr lang="en-US" dirty="0"/>
              <a:t>LoRa/</a:t>
            </a:r>
            <a:r>
              <a:rPr lang="en-US" dirty="0" err="1"/>
              <a:t>LoRaWAN</a:t>
            </a:r>
            <a:r>
              <a:rPr lang="en-US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dobishëm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skenarë</a:t>
            </a:r>
            <a:r>
              <a:rPr lang="en-US" b="0" dirty="0"/>
              <a:t> me </a:t>
            </a:r>
            <a:r>
              <a:rPr lang="en-US" b="0" dirty="0" err="1"/>
              <a:t>konsum</a:t>
            </a:r>
            <a:r>
              <a:rPr lang="en-US" b="0" dirty="0"/>
              <a:t> minimal </a:t>
            </a:r>
            <a:r>
              <a:rPr lang="en-US" b="0" dirty="0" err="1"/>
              <a:t>energjie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rang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gjerë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Zgjedhja</a:t>
            </a:r>
            <a:r>
              <a:rPr lang="en-US" b="0" dirty="0"/>
              <a:t> e </a:t>
            </a:r>
            <a:r>
              <a:rPr lang="en-US" b="0" dirty="0" err="1"/>
              <a:t>teknologjisë</a:t>
            </a:r>
            <a:r>
              <a:rPr lang="en-US" b="0" dirty="0"/>
              <a:t> </a:t>
            </a:r>
            <a:r>
              <a:rPr lang="en-US" b="0" dirty="0" err="1"/>
              <a:t>varet</a:t>
            </a:r>
            <a:r>
              <a:rPr lang="en-US" b="0" dirty="0"/>
              <a:t> </a:t>
            </a:r>
            <a:r>
              <a:rPr lang="en-US" b="0" dirty="0" err="1"/>
              <a:t>nga</a:t>
            </a:r>
            <a:r>
              <a:rPr lang="en-US" b="0" dirty="0"/>
              <a:t> </a:t>
            </a:r>
            <a:r>
              <a:rPr lang="en-US" b="0" dirty="0" err="1"/>
              <a:t>distanca</a:t>
            </a:r>
            <a:r>
              <a:rPr lang="en-US" b="0" dirty="0"/>
              <a:t>, </a:t>
            </a:r>
            <a:r>
              <a:rPr lang="en-US" b="0" dirty="0" err="1"/>
              <a:t>shpejtësia</a:t>
            </a:r>
            <a:r>
              <a:rPr lang="en-US" b="0" dirty="0"/>
              <a:t> 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, </a:t>
            </a:r>
            <a:r>
              <a:rPr lang="en-US" b="0" dirty="0" err="1"/>
              <a:t>konsumi</a:t>
            </a:r>
            <a:r>
              <a:rPr lang="en-US" b="0" dirty="0"/>
              <a:t> </a:t>
            </a:r>
            <a:r>
              <a:rPr lang="en-US" b="0" dirty="0" err="1"/>
              <a:t>energjetik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infrastruktura</a:t>
            </a:r>
            <a:r>
              <a:rPr lang="en-US" b="0" dirty="0"/>
              <a:t> </a:t>
            </a:r>
            <a:r>
              <a:rPr lang="en-US" b="0" dirty="0" err="1"/>
              <a:t>ekzistuese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73D9989-693B-D0AA-1F43-8E1E4016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43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2F62F-262F-7E92-3A22-26608EDF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E1A1-FCB1-359F-112C-67D63BAC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pl-PL" b="1" dirty="0"/>
              <a:t>2. Roli i IoT Gateway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C5369-359A-8CBE-298C-5822A8C84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/>
          </a:bodyPr>
          <a:lstStyle/>
          <a:p>
            <a:r>
              <a:rPr lang="en-US" b="0" dirty="0"/>
              <a:t>IoT Gateway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komponenti</a:t>
            </a:r>
            <a:r>
              <a:rPr lang="en-US" b="0" dirty="0"/>
              <a:t> </a:t>
            </a:r>
            <a:r>
              <a:rPr lang="en-US" b="0" dirty="0" err="1"/>
              <a:t>ndërmjetësues</a:t>
            </a:r>
            <a:r>
              <a:rPr lang="en-US" b="0" dirty="0"/>
              <a:t> midis </a:t>
            </a:r>
            <a:r>
              <a:rPr lang="en-US" b="0" dirty="0" err="1"/>
              <a:t>sensorëve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infrastrukturës</a:t>
            </a:r>
            <a:r>
              <a:rPr lang="en-US" b="0" dirty="0"/>
              <a:t> </a:t>
            </a:r>
            <a:r>
              <a:rPr lang="en-US" b="0" dirty="0" err="1"/>
              <a:t>së</a:t>
            </a:r>
            <a:r>
              <a:rPr lang="en-US" b="0" dirty="0"/>
              <a:t> </a:t>
            </a:r>
            <a:r>
              <a:rPr lang="en-US" b="0" dirty="0" err="1"/>
              <a:t>sipërme</a:t>
            </a:r>
            <a:r>
              <a:rPr lang="en-US" b="0" dirty="0"/>
              <a:t>. Ai </a:t>
            </a:r>
            <a:r>
              <a:rPr lang="en-US" b="0" dirty="0" err="1"/>
              <a:t>kryen</a:t>
            </a:r>
            <a:r>
              <a:rPr lang="en-US" b="0" dirty="0"/>
              <a:t> </a:t>
            </a:r>
            <a:r>
              <a:rPr lang="en-US" b="0" dirty="0" err="1"/>
              <a:t>mbledhje</a:t>
            </a:r>
            <a:r>
              <a:rPr lang="en-US" b="0" dirty="0"/>
              <a:t>, </a:t>
            </a:r>
            <a:r>
              <a:rPr lang="en-US" b="0" dirty="0" err="1"/>
              <a:t>normalizim</a:t>
            </a:r>
            <a:r>
              <a:rPr lang="en-US" b="0" dirty="0"/>
              <a:t>, </a:t>
            </a:r>
            <a:r>
              <a:rPr lang="en-US" b="0" dirty="0" err="1"/>
              <a:t>filtrim</a:t>
            </a:r>
            <a:r>
              <a:rPr lang="en-US" b="0" dirty="0"/>
              <a:t> </a:t>
            </a:r>
            <a:r>
              <a:rPr lang="en-US" b="0" dirty="0" err="1"/>
              <a:t>bazë</a:t>
            </a:r>
            <a:r>
              <a:rPr lang="en-US" b="0" dirty="0"/>
              <a:t>, </a:t>
            </a:r>
            <a:r>
              <a:rPr lang="en-US" b="0" dirty="0" err="1"/>
              <a:t>bufferim</a:t>
            </a:r>
            <a:r>
              <a:rPr lang="en-US" b="0" dirty="0"/>
              <a:t>, </a:t>
            </a:r>
            <a:r>
              <a:rPr lang="en-US" b="0" dirty="0" err="1"/>
              <a:t>përkthim</a:t>
            </a:r>
            <a:r>
              <a:rPr lang="en-US" b="0" dirty="0"/>
              <a:t> </a:t>
            </a:r>
            <a:r>
              <a:rPr lang="en-US" b="0" dirty="0" err="1"/>
              <a:t>protokollesh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dërgim</a:t>
            </a:r>
            <a:r>
              <a:rPr lang="en-US" b="0" dirty="0"/>
              <a:t> </a:t>
            </a:r>
            <a:r>
              <a:rPr lang="en-US" b="0" dirty="0" err="1"/>
              <a:t>drejt</a:t>
            </a:r>
            <a:r>
              <a:rPr lang="en-US" b="0" dirty="0"/>
              <a:t> edge </a:t>
            </a:r>
            <a:r>
              <a:rPr lang="en-US" b="0" dirty="0" err="1"/>
              <a:t>ose</a:t>
            </a:r>
            <a:r>
              <a:rPr lang="en-US" b="0" dirty="0"/>
              <a:t> cloud. </a:t>
            </a:r>
            <a:endParaRPr lang="sq-AL" b="0" dirty="0"/>
          </a:p>
          <a:p>
            <a:r>
              <a:rPr lang="en-US" b="0" dirty="0"/>
              <a:t>Roli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tij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kritik</a:t>
            </a:r>
            <a:r>
              <a:rPr lang="en-US" b="0" dirty="0"/>
              <a:t> </a:t>
            </a:r>
            <a:r>
              <a:rPr lang="en-US" b="0" dirty="0" err="1"/>
              <a:t>sepse</a:t>
            </a:r>
            <a:r>
              <a:rPr lang="en-US" b="0" dirty="0"/>
              <a:t> </a:t>
            </a:r>
            <a:r>
              <a:rPr lang="en-US" b="0" dirty="0" err="1"/>
              <a:t>redukton</a:t>
            </a:r>
            <a:r>
              <a:rPr lang="en-US" b="0" dirty="0"/>
              <a:t> </a:t>
            </a:r>
            <a:r>
              <a:rPr lang="en-US" b="0" dirty="0" err="1"/>
              <a:t>ngarkesën</a:t>
            </a:r>
            <a:r>
              <a:rPr lang="en-US" b="0" dirty="0"/>
              <a:t> </a:t>
            </a:r>
            <a:r>
              <a:rPr lang="en-US" b="0" dirty="0" err="1"/>
              <a:t>mbi</a:t>
            </a:r>
            <a:r>
              <a:rPr lang="en-US" b="0" dirty="0"/>
              <a:t> </a:t>
            </a:r>
            <a:r>
              <a:rPr lang="en-US" b="0" dirty="0" err="1"/>
              <a:t>pajisjet</a:t>
            </a:r>
            <a:r>
              <a:rPr lang="en-US" b="0" dirty="0"/>
              <a:t> </a:t>
            </a:r>
            <a:r>
              <a:rPr lang="en-US" b="0" dirty="0" err="1"/>
              <a:t>fundore</a:t>
            </a:r>
            <a:r>
              <a:rPr lang="en-US" b="0" dirty="0"/>
              <a:t>, </a:t>
            </a:r>
            <a:r>
              <a:rPr lang="en-US" b="0" dirty="0" err="1"/>
              <a:t>mundëson</a:t>
            </a:r>
            <a:r>
              <a:rPr lang="en-US" b="0" dirty="0"/>
              <a:t> </a:t>
            </a:r>
            <a:r>
              <a:rPr lang="en-US" b="0" dirty="0" err="1"/>
              <a:t>vazhdimësi</a:t>
            </a:r>
            <a:r>
              <a:rPr lang="en-US" b="0" dirty="0"/>
              <a:t> </a:t>
            </a:r>
            <a:r>
              <a:rPr lang="en-US" b="0" dirty="0" err="1"/>
              <a:t>operacionale</a:t>
            </a:r>
            <a:r>
              <a:rPr lang="en-US" b="0" dirty="0"/>
              <a:t> </a:t>
            </a:r>
            <a:r>
              <a:rPr lang="en-US" b="0" dirty="0" err="1"/>
              <a:t>edhe</a:t>
            </a:r>
            <a:r>
              <a:rPr lang="en-US" b="0" dirty="0"/>
              <a:t> </a:t>
            </a:r>
            <a:r>
              <a:rPr lang="en-US" b="0" dirty="0" err="1"/>
              <a:t>kur</a:t>
            </a:r>
            <a:r>
              <a:rPr lang="en-US" b="0" dirty="0"/>
              <a:t> </a:t>
            </a:r>
            <a:r>
              <a:rPr lang="en-US" b="0" dirty="0" err="1"/>
              <a:t>rrjeti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paqëndrueshëm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lejon</a:t>
            </a:r>
            <a:r>
              <a:rPr lang="en-US" b="0" dirty="0"/>
              <a:t> </a:t>
            </a:r>
            <a:r>
              <a:rPr lang="en-US" b="0" dirty="0" err="1"/>
              <a:t>reagim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shpejtë</a:t>
            </a:r>
            <a:r>
              <a:rPr lang="en-US" b="0" dirty="0"/>
              <a:t> </a:t>
            </a:r>
            <a:r>
              <a:rPr lang="en-US" b="0" dirty="0" err="1"/>
              <a:t>lokal</a:t>
            </a:r>
            <a:r>
              <a:rPr lang="en-US" b="0" dirty="0"/>
              <a:t>. Gateway </a:t>
            </a:r>
            <a:r>
              <a:rPr lang="en-US" b="0" dirty="0" err="1"/>
              <a:t>shërben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pika </a:t>
            </a:r>
            <a:r>
              <a:rPr lang="en-US" b="0" dirty="0" err="1"/>
              <a:t>ku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dhënat</a:t>
            </a:r>
            <a:r>
              <a:rPr lang="en-US" b="0" dirty="0"/>
              <a:t> </a:t>
            </a:r>
            <a:r>
              <a:rPr lang="en-US" b="0" dirty="0" err="1"/>
              <a:t>organizohen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bëhen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përdorshme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shtresat</a:t>
            </a:r>
            <a:r>
              <a:rPr lang="en-US" b="0" dirty="0"/>
              <a:t> e </a:t>
            </a:r>
            <a:r>
              <a:rPr lang="en-US" b="0" dirty="0" err="1"/>
              <a:t>mëtejshme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sistemit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0ACB51-4416-7ED6-33D9-1BF49572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203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50D8-D5D3-23E9-FDE2-F58A6FFC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A998-7AD4-5727-92A5-E23E7C031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Modelet</a:t>
            </a:r>
            <a:r>
              <a:rPr lang="en-US" b="1" dirty="0"/>
              <a:t> e </a:t>
            </a:r>
            <a:r>
              <a:rPr lang="en-US" b="1" dirty="0" err="1"/>
              <a:t>komunikimit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105AC-B370-2302-945E-4243D978C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fontScale="92500"/>
          </a:bodyPr>
          <a:lstStyle/>
          <a:p>
            <a:r>
              <a:rPr lang="en-US" b="0" dirty="0" err="1"/>
              <a:t>Modelet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komunikimit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IoT </a:t>
            </a:r>
            <a:r>
              <a:rPr lang="en-US" b="0" dirty="0" err="1"/>
              <a:t>janë</a:t>
            </a:r>
            <a:r>
              <a:rPr lang="sq-AL" b="0" dirty="0"/>
              <a:t>:</a:t>
            </a:r>
            <a:r>
              <a:rPr lang="en-US" b="0" dirty="0"/>
              <a:t>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publish/subscribe,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request/response</a:t>
            </a:r>
            <a:r>
              <a:rPr lang="sq-AL" b="0" dirty="0"/>
              <a:t>,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/>
              <a:t>brokered messaging. </a:t>
            </a:r>
            <a:endParaRPr lang="sq-AL" b="0" dirty="0"/>
          </a:p>
          <a:p>
            <a:r>
              <a:rPr lang="en-US" b="0" dirty="0"/>
              <a:t>MQTT </a:t>
            </a:r>
            <a:r>
              <a:rPr lang="en-US" b="0" dirty="0" err="1"/>
              <a:t>bazohet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modelin</a:t>
            </a:r>
            <a:r>
              <a:rPr lang="en-US" b="0" dirty="0"/>
              <a:t> publish/subscribe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përdoret</a:t>
            </a:r>
            <a:r>
              <a:rPr lang="en-US" b="0" dirty="0"/>
              <a:t> </a:t>
            </a:r>
            <a:r>
              <a:rPr lang="en-US" b="0" dirty="0" err="1"/>
              <a:t>gjerësisht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telemetri</a:t>
            </a:r>
            <a:r>
              <a:rPr lang="en-US" b="0" dirty="0"/>
              <a:t>. HTTP </a:t>
            </a:r>
            <a:r>
              <a:rPr lang="en-US" b="0" dirty="0" err="1"/>
              <a:t>përdor</a:t>
            </a:r>
            <a:r>
              <a:rPr lang="en-US" b="0" dirty="0"/>
              <a:t> request/response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dobishëm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API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panele</a:t>
            </a:r>
            <a:r>
              <a:rPr lang="en-US" b="0" dirty="0"/>
              <a:t>. CoAP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optimizuar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nyje</a:t>
            </a:r>
            <a:r>
              <a:rPr lang="en-US" b="0" dirty="0"/>
              <a:t> constrained, </a:t>
            </a:r>
            <a:r>
              <a:rPr lang="en-US" b="0" dirty="0" err="1"/>
              <a:t>ndërsa</a:t>
            </a:r>
            <a:r>
              <a:rPr lang="en-US" b="0" dirty="0"/>
              <a:t> AMQP </a:t>
            </a:r>
            <a:r>
              <a:rPr lang="en-US" b="0" dirty="0" err="1"/>
              <a:t>përdoret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business messaging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procese</a:t>
            </a:r>
            <a:r>
              <a:rPr lang="en-US" b="0" dirty="0"/>
              <a:t> me queue. </a:t>
            </a:r>
            <a:endParaRPr lang="sq-AL" b="0" dirty="0"/>
          </a:p>
          <a:p>
            <a:r>
              <a:rPr lang="en-US" b="0" dirty="0" err="1"/>
              <a:t>Këto</a:t>
            </a:r>
            <a:r>
              <a:rPr lang="en-US" b="0" dirty="0"/>
              <a:t> </a:t>
            </a:r>
            <a:r>
              <a:rPr lang="en-US" b="0" dirty="0" err="1"/>
              <a:t>modele</a:t>
            </a:r>
            <a:r>
              <a:rPr lang="en-US" b="0" dirty="0"/>
              <a:t> </a:t>
            </a:r>
            <a:r>
              <a:rPr lang="en-US" b="0" dirty="0" err="1"/>
              <a:t>nuk</a:t>
            </a:r>
            <a:r>
              <a:rPr lang="en-US" b="0" dirty="0"/>
              <a:t> </a:t>
            </a:r>
            <a:r>
              <a:rPr lang="en-US" b="0" dirty="0" err="1"/>
              <a:t>duhen</a:t>
            </a:r>
            <a:r>
              <a:rPr lang="en-US" b="0" dirty="0"/>
              <a:t> </a:t>
            </a:r>
            <a:r>
              <a:rPr lang="en-US" b="0" dirty="0" err="1"/>
              <a:t>trajtuar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zëvendësime</a:t>
            </a:r>
            <a:r>
              <a:rPr lang="en-US" b="0" dirty="0"/>
              <a:t> absolute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njëri-tjetrit</a:t>
            </a:r>
            <a:r>
              <a:rPr lang="en-US" b="0" dirty="0"/>
              <a:t>,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si</a:t>
            </a:r>
            <a:r>
              <a:rPr lang="en-US" b="0" dirty="0"/>
              <a:t> </a:t>
            </a:r>
            <a:r>
              <a:rPr lang="en-US" b="0" dirty="0" err="1"/>
              <a:t>mekanizma</a:t>
            </a:r>
            <a:r>
              <a:rPr lang="en-US" b="0" dirty="0"/>
              <a:t> </a:t>
            </a:r>
            <a:r>
              <a:rPr lang="en-US" b="0" dirty="0" err="1"/>
              <a:t>që</a:t>
            </a:r>
            <a:r>
              <a:rPr lang="en-US" b="0" dirty="0"/>
              <a:t> </a:t>
            </a:r>
            <a:r>
              <a:rPr lang="en-US" b="0" dirty="0" err="1"/>
              <a:t>plotësojnë</a:t>
            </a:r>
            <a:r>
              <a:rPr lang="en-US" b="0" dirty="0"/>
              <a:t> </a:t>
            </a:r>
            <a:r>
              <a:rPr lang="en-US" b="0" dirty="0" err="1"/>
              <a:t>kërkesa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ndryshme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sistemit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24369B-03CB-FB53-5A94-5DB76D20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1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D9A8-B58E-A566-01FD-C03FCE13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0838-C4A4-E86C-C083-56616DA1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Problematikat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DA0B6-BA89-0714-2705-B1DE11EC5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8" y="1886778"/>
            <a:ext cx="7288212" cy="3407051"/>
          </a:xfrm>
        </p:spPr>
        <p:txBody>
          <a:bodyPr>
            <a:normAutofit lnSpcReduction="10000"/>
          </a:bodyPr>
          <a:lstStyle/>
          <a:p>
            <a:r>
              <a:rPr lang="en-US" b="0" dirty="0" err="1"/>
              <a:t>Problemet</a:t>
            </a:r>
            <a:r>
              <a:rPr lang="en-US" b="0" dirty="0"/>
              <a:t> </a:t>
            </a:r>
            <a:r>
              <a:rPr lang="en-US" b="0" dirty="0" err="1"/>
              <a:t>kryesore</a:t>
            </a:r>
            <a:r>
              <a:rPr lang="en-US" b="0" dirty="0"/>
              <a:t> </a:t>
            </a:r>
            <a:r>
              <a:rPr lang="en-US" b="0" dirty="0" err="1"/>
              <a:t>gjatë</a:t>
            </a:r>
            <a:r>
              <a:rPr lang="en-US" b="0" dirty="0"/>
              <a:t> </a:t>
            </a:r>
            <a:r>
              <a:rPr lang="en-US" b="0" dirty="0" err="1"/>
              <a:t>transmetimit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 </a:t>
            </a:r>
            <a:r>
              <a:rPr lang="en-US" b="0" dirty="0" err="1"/>
              <a:t>janë</a:t>
            </a:r>
            <a:r>
              <a:rPr lang="en-US" b="0" dirty="0"/>
              <a:t>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humbja</a:t>
            </a:r>
            <a:r>
              <a:rPr lang="en-US" b="0" dirty="0"/>
              <a:t> e </a:t>
            </a:r>
            <a:r>
              <a:rPr lang="en-US" b="0" dirty="0" err="1"/>
              <a:t>paketave</a:t>
            </a:r>
            <a:r>
              <a:rPr lang="en-US" b="0" dirty="0"/>
              <a:t>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vonesa</a:t>
            </a:r>
            <a:r>
              <a:rPr lang="en-US" b="0" dirty="0"/>
              <a:t>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kufizimet</a:t>
            </a:r>
            <a:r>
              <a:rPr lang="en-US" b="0" dirty="0"/>
              <a:t> e bandwidth-it,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ndërprerjet</a:t>
            </a:r>
            <a:r>
              <a:rPr lang="en-US" b="0" dirty="0"/>
              <a:t> e </a:t>
            </a:r>
            <a:r>
              <a:rPr lang="en-US" b="0" dirty="0" err="1"/>
              <a:t>lidhjes</a:t>
            </a:r>
            <a:r>
              <a:rPr lang="en-US" b="0" dirty="0"/>
              <a:t>, </a:t>
            </a:r>
            <a:endParaRPr lang="sq-AL" b="0" dirty="0"/>
          </a:p>
          <a:p>
            <a:pPr marL="342900" indent="-342900">
              <a:buFont typeface="+mj-lt"/>
              <a:buAutoNum type="arabicPeriod"/>
            </a:pPr>
            <a:r>
              <a:rPr lang="en-US" b="0" dirty="0" err="1"/>
              <a:t>privatësia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siguria</a:t>
            </a:r>
            <a:r>
              <a:rPr lang="en-US" b="0" dirty="0"/>
              <a:t>. </a:t>
            </a:r>
            <a:endParaRPr lang="sq-AL" b="0" dirty="0"/>
          </a:p>
          <a:p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këtë</a:t>
            </a:r>
            <a:r>
              <a:rPr lang="en-US" b="0" dirty="0"/>
              <a:t> </a:t>
            </a:r>
            <a:r>
              <a:rPr lang="en-US" b="0" dirty="0" err="1"/>
              <a:t>arsye</a:t>
            </a:r>
            <a:r>
              <a:rPr lang="en-US" b="0" dirty="0"/>
              <a:t>,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sistemet</a:t>
            </a:r>
            <a:r>
              <a:rPr lang="en-US" b="0" dirty="0"/>
              <a:t> healthcare </a:t>
            </a:r>
            <a:r>
              <a:rPr lang="en-US" b="0" dirty="0" err="1"/>
              <a:t>theksohet</a:t>
            </a:r>
            <a:r>
              <a:rPr lang="en-US" b="0" dirty="0"/>
              <a:t> </a:t>
            </a:r>
            <a:r>
              <a:rPr lang="en-US" b="0" dirty="0" err="1"/>
              <a:t>nevoja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buffering </a:t>
            </a:r>
            <a:r>
              <a:rPr lang="en-US" b="0" dirty="0" err="1"/>
              <a:t>lokal</a:t>
            </a:r>
            <a:r>
              <a:rPr lang="en-US" b="0" dirty="0"/>
              <a:t>, </a:t>
            </a:r>
            <a:r>
              <a:rPr lang="en-US" b="0" dirty="0" err="1"/>
              <a:t>mekanizma</a:t>
            </a:r>
            <a:r>
              <a:rPr lang="en-US" b="0" dirty="0"/>
              <a:t> retry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prioritizim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ngjarjeve</a:t>
            </a:r>
            <a:r>
              <a:rPr lang="en-US" b="0" dirty="0"/>
              <a:t> </a:t>
            </a:r>
            <a:r>
              <a:rPr lang="en-US" b="0" dirty="0" err="1"/>
              <a:t>sipas</a:t>
            </a:r>
            <a:r>
              <a:rPr lang="en-US" b="0" dirty="0"/>
              <a:t> </a:t>
            </a:r>
            <a:r>
              <a:rPr lang="en-US" b="0" dirty="0" err="1"/>
              <a:t>rëndësisë</a:t>
            </a:r>
            <a:r>
              <a:rPr lang="en-US" b="0" dirty="0"/>
              <a:t> </a:t>
            </a:r>
            <a:r>
              <a:rPr lang="en-US" b="0" dirty="0" err="1"/>
              <a:t>klinike</a:t>
            </a:r>
            <a:r>
              <a:rPr lang="en-US" b="0" dirty="0"/>
              <a:t>. </a:t>
            </a:r>
            <a:r>
              <a:rPr lang="en-US" b="0" dirty="0" err="1"/>
              <a:t>Kjo</a:t>
            </a:r>
            <a:r>
              <a:rPr lang="en-US" b="0" dirty="0"/>
              <a:t> e </a:t>
            </a:r>
            <a:r>
              <a:rPr lang="en-US" b="0" dirty="0" err="1"/>
              <a:t>bën</a:t>
            </a:r>
            <a:r>
              <a:rPr lang="en-US" b="0" dirty="0"/>
              <a:t> </a:t>
            </a:r>
            <a:r>
              <a:rPr lang="en-US" b="0" dirty="0" err="1"/>
              <a:t>transmetimin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qëndrueshëm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ul </a:t>
            </a:r>
            <a:r>
              <a:rPr lang="en-US" b="0" dirty="0" err="1"/>
              <a:t>rrezikun</a:t>
            </a:r>
            <a:r>
              <a:rPr lang="en-US" b="0" dirty="0"/>
              <a:t> </a:t>
            </a:r>
            <a:r>
              <a:rPr lang="en-US" b="0" dirty="0" err="1"/>
              <a:t>që</a:t>
            </a:r>
            <a:r>
              <a:rPr lang="en-US" b="0" dirty="0"/>
              <a:t> </a:t>
            </a:r>
            <a:r>
              <a:rPr lang="en-US" b="0" dirty="0" err="1"/>
              <a:t>informacioni</a:t>
            </a:r>
            <a:r>
              <a:rPr lang="en-US" b="0" dirty="0"/>
              <a:t> </a:t>
            </a:r>
            <a:r>
              <a:rPr lang="en-US" b="0" dirty="0" err="1"/>
              <a:t>kritik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humbet</a:t>
            </a:r>
            <a:r>
              <a:rPr lang="en-US" b="0" dirty="0"/>
              <a:t> </a:t>
            </a:r>
            <a:r>
              <a:rPr lang="en-US" b="0" dirty="0" err="1"/>
              <a:t>ose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arrijë</a:t>
            </a:r>
            <a:r>
              <a:rPr lang="en-US" b="0" dirty="0"/>
              <a:t> me </a:t>
            </a:r>
            <a:r>
              <a:rPr lang="en-US" b="0" dirty="0" err="1"/>
              <a:t>vonesë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76E0878-3D78-95FE-DA52-FC2DBD75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589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D931-2901-C403-924E-5B158588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AE893-22A3-AF68-8672-D9F3BAF9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C. </a:t>
            </a:r>
            <a:r>
              <a:rPr lang="en-US" b="1" dirty="0" err="1"/>
              <a:t>Protokollet</a:t>
            </a:r>
            <a:r>
              <a:rPr lang="en-US" b="1" dirty="0"/>
              <a:t> e </a:t>
            </a:r>
            <a:r>
              <a:rPr lang="en-US" b="1" dirty="0" err="1"/>
              <a:t>komunikimit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AFEA6-3DA2-672F-D269-BF0552D1E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9"/>
            <a:ext cx="8154917" cy="373297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AutoNum type="arabicPeriod"/>
            </a:pPr>
            <a:r>
              <a:rPr lang="en-US" dirty="0"/>
              <a:t>MQTT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protokoll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lehtë</a:t>
            </a:r>
            <a:r>
              <a:rPr lang="en-US" b="0" dirty="0"/>
              <a:t> publish/subscribe,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përshtatshëm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IoT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mjedise</a:t>
            </a:r>
            <a:r>
              <a:rPr lang="en-US" b="0" dirty="0"/>
              <a:t> me </a:t>
            </a:r>
            <a:r>
              <a:rPr lang="en-US" b="0" dirty="0" err="1"/>
              <a:t>burime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kufizuara</a:t>
            </a:r>
            <a:r>
              <a:rPr lang="en-US" b="0" dirty="0"/>
              <a:t>. </a:t>
            </a:r>
            <a:r>
              <a:rPr lang="en-US" b="0" dirty="0" err="1"/>
              <a:t>Në</a:t>
            </a:r>
            <a:r>
              <a:rPr lang="en-US" b="0" dirty="0"/>
              <a:t> healthcare </a:t>
            </a:r>
            <a:r>
              <a:rPr lang="en-US" b="0" dirty="0" err="1"/>
              <a:t>përdoret</a:t>
            </a:r>
            <a:r>
              <a:rPr lang="en-US" b="0" dirty="0"/>
              <a:t> </a:t>
            </a:r>
            <a:r>
              <a:rPr lang="en-US" b="0" dirty="0" err="1"/>
              <a:t>veçanërisht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telemetri</a:t>
            </a:r>
            <a:r>
              <a:rPr lang="en-US" b="0" dirty="0"/>
              <a:t>, </a:t>
            </a:r>
            <a:r>
              <a:rPr lang="en-US" b="0" dirty="0" err="1"/>
              <a:t>alarme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dërgim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vazhdueshëm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parametrave</a:t>
            </a:r>
            <a:r>
              <a:rPr lang="en-US" b="0" dirty="0"/>
              <a:t> </a:t>
            </a:r>
            <a:r>
              <a:rPr lang="en-US" b="0" dirty="0" err="1"/>
              <a:t>jetësorë</a:t>
            </a:r>
            <a:r>
              <a:rPr lang="en-US" b="0" dirty="0"/>
              <a:t>. </a:t>
            </a:r>
            <a:r>
              <a:rPr lang="en-US" b="0" dirty="0" err="1"/>
              <a:t>Avantazhi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tij</a:t>
            </a:r>
            <a:r>
              <a:rPr lang="en-US" b="0" dirty="0"/>
              <a:t> </a:t>
            </a:r>
            <a:r>
              <a:rPr lang="en-US" b="0" dirty="0" err="1"/>
              <a:t>kryesor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overhead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ulët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efikasiteti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komunikimin</a:t>
            </a:r>
            <a:r>
              <a:rPr lang="en-US" b="0" dirty="0"/>
              <a:t> e </a:t>
            </a:r>
            <a:r>
              <a:rPr lang="en-US" b="0" dirty="0" err="1"/>
              <a:t>vazhdueshëm</a:t>
            </a:r>
            <a:r>
              <a:rPr lang="en-US" b="0" dirty="0"/>
              <a:t>.</a:t>
            </a:r>
            <a:endParaRPr lang="sq-AL" b="0" dirty="0"/>
          </a:p>
          <a:p>
            <a:pPr marL="342900" indent="-342900">
              <a:buAutoNum type="arabicPeriod"/>
            </a:pPr>
            <a:r>
              <a:rPr lang="en-US" dirty="0"/>
              <a:t>HTTP/REST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protokoll</a:t>
            </a:r>
            <a:r>
              <a:rPr lang="en-US" b="0" dirty="0"/>
              <a:t> stateless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nivelit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aplikacionit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shumë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dobishëm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panele</a:t>
            </a:r>
            <a:r>
              <a:rPr lang="en-US" b="0" dirty="0"/>
              <a:t>, </a:t>
            </a:r>
            <a:r>
              <a:rPr lang="en-US" b="0" dirty="0" err="1"/>
              <a:t>aplikacione</a:t>
            </a:r>
            <a:r>
              <a:rPr lang="en-US" b="0" dirty="0"/>
              <a:t> mobile, </a:t>
            </a:r>
            <a:r>
              <a:rPr lang="en-US" b="0" dirty="0" err="1"/>
              <a:t>historik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integrim</a:t>
            </a:r>
            <a:r>
              <a:rPr lang="en-US" b="0" dirty="0"/>
              <a:t> me </a:t>
            </a:r>
            <a:r>
              <a:rPr lang="en-US" b="0" dirty="0" err="1"/>
              <a:t>sisteme</a:t>
            </a:r>
            <a:r>
              <a:rPr lang="en-US" b="0" dirty="0"/>
              <a:t> </a:t>
            </a:r>
            <a:r>
              <a:rPr lang="en-US" b="0" dirty="0" err="1"/>
              <a:t>klinike</a:t>
            </a:r>
            <a:r>
              <a:rPr lang="en-US" b="0" dirty="0"/>
              <a:t>. </a:t>
            </a:r>
            <a:r>
              <a:rPr lang="en-US" b="0" dirty="0" err="1"/>
              <a:t>Kufizimi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tij</a:t>
            </a:r>
            <a:r>
              <a:rPr lang="en-US" b="0" dirty="0"/>
              <a:t> </a:t>
            </a:r>
            <a:r>
              <a:rPr lang="en-US" b="0" dirty="0" err="1"/>
              <a:t>kryesor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overhead-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lartë</a:t>
            </a:r>
            <a:r>
              <a:rPr lang="en-US" b="0" dirty="0"/>
              <a:t> </a:t>
            </a:r>
            <a:r>
              <a:rPr lang="en-US" b="0" dirty="0" err="1"/>
              <a:t>krahasuar</a:t>
            </a:r>
            <a:r>
              <a:rPr lang="en-US" b="0" dirty="0"/>
              <a:t> me MQTT </a:t>
            </a:r>
            <a:r>
              <a:rPr lang="en-US" b="0" dirty="0" err="1"/>
              <a:t>ose</a:t>
            </a:r>
            <a:r>
              <a:rPr lang="en-US" b="0" dirty="0"/>
              <a:t> CoAP,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mbetet</a:t>
            </a:r>
            <a:r>
              <a:rPr lang="en-US" b="0" dirty="0"/>
              <a:t> </a:t>
            </a:r>
            <a:r>
              <a:rPr lang="en-US" b="0" dirty="0" err="1"/>
              <a:t>shumë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rëndësishëm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shtresën</a:t>
            </a:r>
            <a:r>
              <a:rPr lang="en-US" b="0" dirty="0"/>
              <a:t> e </a:t>
            </a:r>
            <a:r>
              <a:rPr lang="en-US" b="0" dirty="0" err="1"/>
              <a:t>aplikacionit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API-</a:t>
            </a:r>
            <a:r>
              <a:rPr lang="en-US" b="0" dirty="0" err="1"/>
              <a:t>të</a:t>
            </a:r>
            <a:r>
              <a:rPr lang="en-US" b="0" dirty="0"/>
              <a:t>.</a:t>
            </a:r>
            <a:endParaRPr lang="sq-AL" b="0" dirty="0"/>
          </a:p>
          <a:p>
            <a:pPr marL="342900" indent="-342900">
              <a:buAutoNum type="arabicPeriod"/>
            </a:pPr>
            <a:r>
              <a:rPr lang="en-US" dirty="0"/>
              <a:t>CoAP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protokoll</a:t>
            </a:r>
            <a:r>
              <a:rPr lang="en-US" b="0" dirty="0"/>
              <a:t> web-transfer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specializuar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nyje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rrjete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kufizuara</a:t>
            </a:r>
            <a:r>
              <a:rPr lang="en-US" b="0" dirty="0"/>
              <a:t>. Ai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përshtatshëm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pajisje</a:t>
            </a:r>
            <a:r>
              <a:rPr lang="en-US" b="0" dirty="0"/>
              <a:t> me </a:t>
            </a:r>
            <a:r>
              <a:rPr lang="en-US" b="0" dirty="0" err="1"/>
              <a:t>fuqi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ulët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skenarë</a:t>
            </a:r>
            <a:r>
              <a:rPr lang="en-US" b="0" dirty="0"/>
              <a:t> </a:t>
            </a:r>
            <a:r>
              <a:rPr lang="en-US" b="0" dirty="0" err="1"/>
              <a:t>ku</a:t>
            </a:r>
            <a:r>
              <a:rPr lang="en-US" b="0" dirty="0"/>
              <a:t> </a:t>
            </a:r>
            <a:r>
              <a:rPr lang="en-US" b="0" dirty="0" err="1"/>
              <a:t>kërkohet</a:t>
            </a:r>
            <a:r>
              <a:rPr lang="en-US" b="0" dirty="0"/>
              <a:t> overhead minimal. </a:t>
            </a:r>
            <a:r>
              <a:rPr lang="en-US" b="0" dirty="0" err="1"/>
              <a:t>Kjo</a:t>
            </a:r>
            <a:r>
              <a:rPr lang="en-US" b="0" dirty="0"/>
              <a:t> e </a:t>
            </a:r>
            <a:r>
              <a:rPr lang="en-US" b="0" dirty="0" err="1"/>
              <a:t>bën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dobishëm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mjedise</a:t>
            </a:r>
            <a:r>
              <a:rPr lang="en-US" b="0" dirty="0"/>
              <a:t> IoT </a:t>
            </a:r>
            <a:r>
              <a:rPr lang="en-US" b="0" dirty="0" err="1"/>
              <a:t>ku</a:t>
            </a:r>
            <a:r>
              <a:rPr lang="en-US" b="0" dirty="0"/>
              <a:t> </a:t>
            </a:r>
            <a:r>
              <a:rPr lang="en-US" b="0" dirty="0" err="1"/>
              <a:t>kufizimet</a:t>
            </a:r>
            <a:r>
              <a:rPr lang="en-US" b="0" dirty="0"/>
              <a:t> </a:t>
            </a:r>
            <a:r>
              <a:rPr lang="en-US" b="0" dirty="0" err="1"/>
              <a:t>energjetike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kapacitetit</a:t>
            </a:r>
            <a:r>
              <a:rPr lang="en-US" b="0" dirty="0"/>
              <a:t> </a:t>
            </a:r>
            <a:r>
              <a:rPr lang="en-US" b="0" dirty="0" err="1"/>
              <a:t>janë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rëndësishme</a:t>
            </a:r>
            <a:r>
              <a:rPr lang="en-US" b="0" dirty="0"/>
              <a:t>.</a:t>
            </a:r>
            <a:endParaRPr lang="sq-AL" b="0" dirty="0"/>
          </a:p>
          <a:p>
            <a:pPr marL="342900" indent="-342900">
              <a:buAutoNum type="arabicPeriod"/>
            </a:pPr>
            <a:r>
              <a:rPr lang="en-US" dirty="0"/>
              <a:t>AMQP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protokoll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mesazhe</a:t>
            </a:r>
            <a:r>
              <a:rPr lang="en-US" b="0" dirty="0"/>
              <a:t> </a:t>
            </a:r>
            <a:r>
              <a:rPr lang="en-US" b="0" dirty="0" err="1"/>
              <a:t>biznesi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middleware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orientuar</a:t>
            </a:r>
            <a:r>
              <a:rPr lang="en-US" b="0" dirty="0"/>
              <a:t> </a:t>
            </a:r>
            <a:r>
              <a:rPr lang="en-US" b="0" dirty="0" err="1"/>
              <a:t>drejt</a:t>
            </a:r>
            <a:r>
              <a:rPr lang="en-US" b="0" dirty="0"/>
              <a:t> </a:t>
            </a:r>
            <a:r>
              <a:rPr lang="en-US" b="0" dirty="0" err="1"/>
              <a:t>mesazheve</a:t>
            </a:r>
            <a:r>
              <a:rPr lang="en-US" b="0" dirty="0"/>
              <a:t>.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arkitekturat</a:t>
            </a:r>
            <a:r>
              <a:rPr lang="en-US" b="0" dirty="0"/>
              <a:t> healthcare IoT, ai </a:t>
            </a:r>
            <a:r>
              <a:rPr lang="en-US" b="0" dirty="0" err="1"/>
              <a:t>mund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përdoret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backend messaging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orkestrimin</a:t>
            </a:r>
            <a:r>
              <a:rPr lang="en-US" b="0" dirty="0"/>
              <a:t> e </a:t>
            </a:r>
            <a:r>
              <a:rPr lang="en-US" b="0" dirty="0" err="1"/>
              <a:t>proceseve</a:t>
            </a:r>
            <a:r>
              <a:rPr lang="en-US" b="0" dirty="0"/>
              <a:t>.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veçanërisht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dobishëm</a:t>
            </a:r>
            <a:r>
              <a:rPr lang="en-US" b="0" dirty="0"/>
              <a:t> </a:t>
            </a:r>
            <a:r>
              <a:rPr lang="en-US" b="0" dirty="0" err="1"/>
              <a:t>kur</a:t>
            </a:r>
            <a:r>
              <a:rPr lang="en-US" b="0" dirty="0"/>
              <a:t> </a:t>
            </a:r>
            <a:r>
              <a:rPr lang="en-US" b="0" dirty="0" err="1"/>
              <a:t>sistemi</a:t>
            </a:r>
            <a:r>
              <a:rPr lang="en-US" b="0" dirty="0"/>
              <a:t> </a:t>
            </a:r>
            <a:r>
              <a:rPr lang="en-US" b="0" dirty="0" err="1"/>
              <a:t>kërkon</a:t>
            </a:r>
            <a:r>
              <a:rPr lang="en-US" b="0" dirty="0"/>
              <a:t> workflows enterprise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menaxhim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strukturuar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rrjedhave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mesazheve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9C0B4DF-82CE-2EFF-8FC3-412BC7C8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68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19F66-8090-C31E-C71F-7456B65B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56E2-83AA-0E19-D53E-9B539674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41609"/>
            <a:ext cx="9050962" cy="1017937"/>
          </a:xfrm>
        </p:spPr>
        <p:txBody>
          <a:bodyPr>
            <a:normAutofit/>
          </a:bodyPr>
          <a:lstStyle/>
          <a:p>
            <a:r>
              <a:rPr lang="en-US" sz="1800" b="1" dirty="0"/>
              <a:t>PROTOKOLLET E RRJETIT/TRANSMETIMIT NË IoT HEALTHCARE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714F4B-A1CE-66E9-F6C7-A890E647D42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4297006"/>
              </p:ext>
            </p:extLst>
          </p:nvPr>
        </p:nvGraphicFramePr>
        <p:xfrm>
          <a:off x="1322388" y="1141762"/>
          <a:ext cx="8154987" cy="191899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718329">
                  <a:extLst>
                    <a:ext uri="{9D8B030D-6E8A-4147-A177-3AD203B41FA5}">
                      <a16:colId xmlns:a16="http://schemas.microsoft.com/office/drawing/2014/main" val="231176636"/>
                    </a:ext>
                  </a:extLst>
                </a:gridCol>
                <a:gridCol w="2718329">
                  <a:extLst>
                    <a:ext uri="{9D8B030D-6E8A-4147-A177-3AD203B41FA5}">
                      <a16:colId xmlns:a16="http://schemas.microsoft.com/office/drawing/2014/main" val="1702708159"/>
                    </a:ext>
                  </a:extLst>
                </a:gridCol>
                <a:gridCol w="2718329">
                  <a:extLst>
                    <a:ext uri="{9D8B030D-6E8A-4147-A177-3AD203B41FA5}">
                      <a16:colId xmlns:a16="http://schemas.microsoft.com/office/drawing/2014/main" val="879703262"/>
                    </a:ext>
                  </a:extLst>
                </a:gridCol>
              </a:tblGrid>
              <a:tr h="28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Protokolli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Kategoria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Modeli</a:t>
                      </a:r>
                      <a:endParaRPr lang="en-US" sz="1400" b="1" dirty="0"/>
                    </a:p>
                  </a:txBody>
                  <a:tcPr marL="70913" marR="70913" marT="35456" marB="35456" anchor="ctr"/>
                </a:tc>
                <a:extLst>
                  <a:ext uri="{0D108BD9-81ED-4DB2-BD59-A6C34878D82A}">
                    <a16:rowId xmlns:a16="http://schemas.microsoft.com/office/drawing/2014/main" val="1207809818"/>
                  </a:ext>
                </a:extLst>
              </a:tr>
              <a:tr h="28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BLE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Network/Access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Device-to-Gateway</a:t>
                      </a:r>
                    </a:p>
                  </a:txBody>
                  <a:tcPr marL="70913" marR="70913" marT="35456" marB="35456" anchor="ctr"/>
                </a:tc>
                <a:extLst>
                  <a:ext uri="{0D108BD9-81ED-4DB2-BD59-A6C34878D82A}">
                    <a16:rowId xmlns:a16="http://schemas.microsoft.com/office/drawing/2014/main" val="732856196"/>
                  </a:ext>
                </a:extLst>
              </a:tr>
              <a:tr h="28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Wi-Fi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Network/Access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Local IP Connectivity</a:t>
                      </a:r>
                    </a:p>
                  </a:txBody>
                  <a:tcPr marL="70913" marR="70913" marT="35456" marB="35456" anchor="ctr"/>
                </a:tc>
                <a:extLst>
                  <a:ext uri="{0D108BD9-81ED-4DB2-BD59-A6C34878D82A}">
                    <a16:rowId xmlns:a16="http://schemas.microsoft.com/office/drawing/2014/main" val="538160637"/>
                  </a:ext>
                </a:extLst>
              </a:tr>
              <a:tr h="496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4G/5G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Wide-Area Network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Direct-to-Cloud / Mobile Backhaul</a:t>
                      </a:r>
                    </a:p>
                  </a:txBody>
                  <a:tcPr marL="70913" marR="70913" marT="35456" marB="35456" anchor="ctr"/>
                </a:tc>
                <a:extLst>
                  <a:ext uri="{0D108BD9-81ED-4DB2-BD59-A6C34878D82A}">
                    <a16:rowId xmlns:a16="http://schemas.microsoft.com/office/drawing/2014/main" val="1588259626"/>
                  </a:ext>
                </a:extLst>
              </a:tr>
              <a:tr h="28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LoRa/LoRaWAN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LPWAN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Long-Range Low-Power</a:t>
                      </a:r>
                    </a:p>
                  </a:txBody>
                  <a:tcPr marL="70913" marR="70913" marT="35456" marB="35456" anchor="ctr"/>
                </a:tc>
                <a:extLst>
                  <a:ext uri="{0D108BD9-81ED-4DB2-BD59-A6C34878D82A}">
                    <a16:rowId xmlns:a16="http://schemas.microsoft.com/office/drawing/2014/main" val="1366644498"/>
                  </a:ext>
                </a:extLst>
              </a:tr>
              <a:tr h="283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Ethernet/LAN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Wired Network</a:t>
                      </a:r>
                    </a:p>
                  </a:txBody>
                  <a:tcPr marL="70913" marR="70913" marT="35456" marB="35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Fixed Infrastructure</a:t>
                      </a:r>
                    </a:p>
                  </a:txBody>
                  <a:tcPr marL="70913" marR="70913" marT="35456" marB="35456" anchor="ctr"/>
                </a:tc>
                <a:extLst>
                  <a:ext uri="{0D108BD9-81ED-4DB2-BD59-A6C34878D82A}">
                    <a16:rowId xmlns:a16="http://schemas.microsoft.com/office/drawing/2014/main" val="2385711073"/>
                  </a:ext>
                </a:extLst>
              </a:tr>
            </a:tbl>
          </a:graphicData>
        </a:graphic>
      </p:graphicFrame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2738196-9C69-DC15-A0BD-85D4C96C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BF45BB-4F58-7F70-D0AB-655C96A87DED}"/>
              </a:ext>
            </a:extLst>
          </p:cNvPr>
          <p:cNvSpPr txBox="1">
            <a:spLocks/>
          </p:cNvSpPr>
          <p:nvPr/>
        </p:nvSpPr>
        <p:spPr>
          <a:xfrm>
            <a:off x="1322388" y="2779310"/>
            <a:ext cx="9050962" cy="10179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PROTOKOLLET E TË DHËNAVE DHE MESAZHEVE NË IoT HEALTHCARE</a:t>
            </a:r>
            <a:endParaRPr lang="en-US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5E8F85-5DCA-E073-38C1-EAD333CE6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70407"/>
              </p:ext>
            </p:extLst>
          </p:nvPr>
        </p:nvGraphicFramePr>
        <p:xfrm>
          <a:off x="1322388" y="3978591"/>
          <a:ext cx="10515600" cy="21336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289982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367760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05330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Protokolli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Kategoria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Modeli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23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MQTT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Messaging /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Publish/Subscribe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70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HTTP/REST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Application /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Request/Response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14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Lightweight Request/Response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18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AMQP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Messaging Middleware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Queue / Brokered Messaging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10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WebSocket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Real-Time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Full-Duplex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517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HL7 FHIR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Clinical Data Exchange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Resource-Based Interoperability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665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381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4443B-C6B1-CDCE-54BE-36E44F462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096E-5DE9-C01C-2AD3-583F75CD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dirty="0"/>
              <a:t>5. </a:t>
            </a:r>
            <a:r>
              <a:rPr lang="en-US" dirty="0" err="1"/>
              <a:t>Krahasimi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protokolleve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82CC1-83F1-9B38-5130-B62BA66AD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9"/>
            <a:ext cx="8154917" cy="3732972"/>
          </a:xfrm>
        </p:spPr>
        <p:txBody>
          <a:bodyPr>
            <a:normAutofit/>
          </a:bodyPr>
          <a:lstStyle/>
          <a:p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një</a:t>
            </a:r>
            <a:r>
              <a:rPr lang="en-US" b="0" dirty="0"/>
              <a:t> </a:t>
            </a:r>
            <a:r>
              <a:rPr lang="en-US" b="0" dirty="0" err="1"/>
              <a:t>arkitekturë</a:t>
            </a:r>
            <a:r>
              <a:rPr lang="en-US" b="0" dirty="0"/>
              <a:t> IoT </a:t>
            </a:r>
            <a:r>
              <a:rPr lang="en-US" b="0" dirty="0" err="1"/>
              <a:t>për</a:t>
            </a:r>
            <a:r>
              <a:rPr lang="en-US" b="0" dirty="0"/>
              <a:t> healthcare, </a:t>
            </a:r>
            <a:r>
              <a:rPr lang="en-US" b="0" dirty="0" err="1"/>
              <a:t>protokollet</a:t>
            </a:r>
            <a:r>
              <a:rPr lang="en-US" b="0" dirty="0"/>
              <a:t> </a:t>
            </a:r>
            <a:r>
              <a:rPr lang="en-US" b="0" dirty="0" err="1"/>
              <a:t>nuk</a:t>
            </a:r>
            <a:r>
              <a:rPr lang="en-US" b="0" dirty="0"/>
              <a:t> </a:t>
            </a:r>
            <a:r>
              <a:rPr lang="en-US" b="0" dirty="0" err="1"/>
              <a:t>operojnë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njëjtin</a:t>
            </a:r>
            <a:r>
              <a:rPr lang="en-US" b="0" dirty="0"/>
              <a:t> </a:t>
            </a:r>
            <a:r>
              <a:rPr lang="en-US" b="0" dirty="0" err="1"/>
              <a:t>nivel</a:t>
            </a:r>
            <a:r>
              <a:rPr lang="en-US" b="0" dirty="0"/>
              <a:t>. Disa </a:t>
            </a:r>
            <a:r>
              <a:rPr lang="en-US" b="0" dirty="0" err="1"/>
              <a:t>përdoren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lidhje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transport </a:t>
            </a:r>
            <a:r>
              <a:rPr lang="en-US" b="0" dirty="0" err="1"/>
              <a:t>ndërmjet</a:t>
            </a:r>
            <a:r>
              <a:rPr lang="en-US" b="0" dirty="0"/>
              <a:t> </a:t>
            </a:r>
            <a:r>
              <a:rPr lang="en-US" b="0" dirty="0" err="1"/>
              <a:t>pajisjeve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gateway-t, </a:t>
            </a:r>
            <a:r>
              <a:rPr lang="en-US" b="0" dirty="0" err="1"/>
              <a:t>ndërsa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tjerat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shkëmbimin</a:t>
            </a:r>
            <a:r>
              <a:rPr lang="en-US" b="0" dirty="0"/>
              <a:t> </a:t>
            </a:r>
            <a:r>
              <a:rPr lang="en-US" b="0" dirty="0" err="1"/>
              <a:t>logjik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, </a:t>
            </a:r>
            <a:r>
              <a:rPr lang="en-US" b="0" dirty="0" err="1"/>
              <a:t>telemetrinë</a:t>
            </a:r>
            <a:r>
              <a:rPr lang="en-US" b="0" dirty="0"/>
              <a:t>, </a:t>
            </a:r>
            <a:r>
              <a:rPr lang="en-US" b="0" dirty="0" err="1"/>
              <a:t>mesazhet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integrimin</a:t>
            </a:r>
            <a:r>
              <a:rPr lang="en-US" b="0" dirty="0"/>
              <a:t> me backend-in. </a:t>
            </a:r>
            <a:endParaRPr lang="sq-AL" b="0" dirty="0"/>
          </a:p>
          <a:p>
            <a:r>
              <a:rPr lang="en-US" b="0" dirty="0" err="1"/>
              <a:t>Prandaj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e </a:t>
            </a:r>
            <a:r>
              <a:rPr lang="en-US" b="0" dirty="0" err="1"/>
              <a:t>arsyeshme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bëhet</a:t>
            </a:r>
            <a:r>
              <a:rPr lang="en-US" b="0" dirty="0"/>
              <a:t> </a:t>
            </a:r>
            <a:r>
              <a:rPr lang="en-US" b="0" dirty="0" err="1"/>
              <a:t>dallimi</a:t>
            </a:r>
            <a:r>
              <a:rPr lang="en-US" b="0" dirty="0"/>
              <a:t> </a:t>
            </a:r>
            <a:r>
              <a:rPr lang="en-US" b="0" dirty="0" err="1"/>
              <a:t>ndërmjet</a:t>
            </a:r>
            <a:r>
              <a:rPr lang="en-US" b="0" dirty="0"/>
              <a:t> </a:t>
            </a:r>
            <a:r>
              <a:rPr lang="en-US" b="0" dirty="0" err="1"/>
              <a:t>protokolleve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rrjetit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protokolleve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. </a:t>
            </a:r>
            <a:r>
              <a:rPr lang="en-US" b="0" dirty="0" err="1"/>
              <a:t>Kjo</a:t>
            </a:r>
            <a:r>
              <a:rPr lang="en-US" b="0" dirty="0"/>
              <a:t> </a:t>
            </a:r>
            <a:r>
              <a:rPr lang="en-US" b="0" dirty="0" err="1"/>
              <a:t>ndarje</a:t>
            </a:r>
            <a:r>
              <a:rPr lang="en-US" b="0" dirty="0"/>
              <a:t> </a:t>
            </a:r>
            <a:r>
              <a:rPr lang="en-US" b="0" dirty="0" err="1"/>
              <a:t>ndihmon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projektimin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saktë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sistemit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1DB776F-AA3B-FD28-5D0B-B474E4C0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774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E14AE-A74B-0F3E-6D72-C6C7F37D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00DB-7AF5-EE7F-1D6A-26FE445A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Përshtatshmëria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shëndetësi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B7343-3D5E-1DCF-B985-3D8B03BEC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9"/>
            <a:ext cx="8154917" cy="3732972"/>
          </a:xfrm>
        </p:spPr>
        <p:txBody>
          <a:bodyPr>
            <a:normAutofit/>
          </a:bodyPr>
          <a:lstStyle/>
          <a:p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mjediset</a:t>
            </a:r>
            <a:r>
              <a:rPr lang="en-US" b="0" dirty="0"/>
              <a:t> </a:t>
            </a:r>
            <a:r>
              <a:rPr lang="en-US" b="0" dirty="0" err="1"/>
              <a:t>shëndetësore</a:t>
            </a:r>
            <a:r>
              <a:rPr lang="en-US" b="0" dirty="0"/>
              <a:t>, </a:t>
            </a:r>
            <a:r>
              <a:rPr lang="en-US" b="0" dirty="0" err="1"/>
              <a:t>qasja</a:t>
            </a:r>
            <a:r>
              <a:rPr lang="en-US" b="0" dirty="0"/>
              <a:t> </a:t>
            </a:r>
            <a:r>
              <a:rPr lang="en-US" b="0" dirty="0" err="1"/>
              <a:t>hibride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e </a:t>
            </a:r>
            <a:r>
              <a:rPr lang="en-US" b="0" dirty="0" err="1"/>
              <a:t>përshtatshme</a:t>
            </a:r>
            <a:r>
              <a:rPr lang="en-US" b="0" dirty="0"/>
              <a:t>, </a:t>
            </a:r>
            <a:r>
              <a:rPr lang="en-US" b="0" dirty="0" err="1"/>
              <a:t>sepse</a:t>
            </a:r>
            <a:r>
              <a:rPr lang="en-US" b="0" dirty="0"/>
              <a:t> </a:t>
            </a:r>
            <a:r>
              <a:rPr lang="en-US" b="0" dirty="0" err="1"/>
              <a:t>asnjë</a:t>
            </a:r>
            <a:r>
              <a:rPr lang="en-US" b="0" dirty="0"/>
              <a:t> </a:t>
            </a:r>
            <a:r>
              <a:rPr lang="en-US" b="0" dirty="0" err="1"/>
              <a:t>protokoll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vetëm</a:t>
            </a:r>
            <a:r>
              <a:rPr lang="en-US" b="0" dirty="0"/>
              <a:t> </a:t>
            </a:r>
            <a:r>
              <a:rPr lang="en-US" b="0" dirty="0" err="1"/>
              <a:t>nuk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mbulon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gjitha</a:t>
            </a:r>
            <a:r>
              <a:rPr lang="en-US" b="0" dirty="0"/>
              <a:t> </a:t>
            </a:r>
            <a:r>
              <a:rPr lang="en-US" b="0" dirty="0" err="1"/>
              <a:t>kërkesat</a:t>
            </a:r>
            <a:r>
              <a:rPr lang="en-US" b="0" dirty="0"/>
              <a:t> e </a:t>
            </a:r>
            <a:r>
              <a:rPr lang="en-US" b="0" dirty="0" err="1"/>
              <a:t>sistemit</a:t>
            </a:r>
            <a:r>
              <a:rPr lang="en-US" b="0" dirty="0"/>
              <a:t>. BLE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fortë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wearables, Wi-Fi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rrjetet</a:t>
            </a:r>
            <a:r>
              <a:rPr lang="en-US" b="0" dirty="0"/>
              <a:t> </a:t>
            </a:r>
            <a:r>
              <a:rPr lang="en-US" b="0" dirty="0" err="1"/>
              <a:t>celulare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transportin</a:t>
            </a:r>
            <a:r>
              <a:rPr lang="en-US" b="0" dirty="0"/>
              <a:t> </a:t>
            </a:r>
            <a:r>
              <a:rPr lang="en-US" b="0" dirty="0" err="1"/>
              <a:t>drejt</a:t>
            </a:r>
            <a:r>
              <a:rPr lang="en-US" b="0" dirty="0"/>
              <a:t> gateway-</a:t>
            </a:r>
            <a:r>
              <a:rPr lang="en-US" b="0" dirty="0" err="1"/>
              <a:t>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cloud-it, MQTT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telemetri</a:t>
            </a:r>
            <a:r>
              <a:rPr lang="en-US" b="0" dirty="0"/>
              <a:t>, HTTP/REST </a:t>
            </a:r>
            <a:r>
              <a:rPr lang="en-US" b="0" dirty="0" err="1"/>
              <a:t>për</a:t>
            </a:r>
            <a:r>
              <a:rPr lang="en-US" b="0" dirty="0"/>
              <a:t> API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ndërfaqe</a:t>
            </a:r>
            <a:r>
              <a:rPr lang="en-US" b="0" dirty="0"/>
              <a:t>, CoAP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pajisje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kufizuara</a:t>
            </a:r>
            <a:r>
              <a:rPr lang="en-US" b="0" dirty="0"/>
              <a:t>, </a:t>
            </a:r>
            <a:r>
              <a:rPr lang="en-US" b="0" dirty="0" err="1"/>
              <a:t>ndërsa</a:t>
            </a:r>
            <a:r>
              <a:rPr lang="en-US" b="0" dirty="0"/>
              <a:t> AMQP </a:t>
            </a:r>
            <a:r>
              <a:rPr lang="en-US" b="0" dirty="0" err="1"/>
              <a:t>për</a:t>
            </a:r>
            <a:r>
              <a:rPr lang="en-US" b="0" dirty="0"/>
              <a:t> </a:t>
            </a:r>
            <a:r>
              <a:rPr lang="en-US" b="0" dirty="0" err="1"/>
              <a:t>orkestrimin</a:t>
            </a:r>
            <a:r>
              <a:rPr lang="en-US" b="0" dirty="0"/>
              <a:t> e </a:t>
            </a:r>
            <a:r>
              <a:rPr lang="en-US" b="0" dirty="0" err="1"/>
              <a:t>proceseve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backend. </a:t>
            </a:r>
            <a:r>
              <a:rPr lang="en-US" b="0" dirty="0" err="1"/>
              <a:t>Zgjedhja</a:t>
            </a:r>
            <a:r>
              <a:rPr lang="en-US" b="0" dirty="0"/>
              <a:t> </a:t>
            </a:r>
            <a:r>
              <a:rPr lang="en-US" b="0" dirty="0" err="1"/>
              <a:t>optimale</a:t>
            </a:r>
            <a:r>
              <a:rPr lang="en-US" b="0" dirty="0"/>
              <a:t> </a:t>
            </a:r>
            <a:r>
              <a:rPr lang="en-US" b="0" dirty="0" err="1"/>
              <a:t>varet</a:t>
            </a:r>
            <a:r>
              <a:rPr lang="en-US" b="0" dirty="0"/>
              <a:t> </a:t>
            </a:r>
            <a:r>
              <a:rPr lang="en-US" b="0" dirty="0" err="1"/>
              <a:t>nga</a:t>
            </a:r>
            <a:r>
              <a:rPr lang="en-US" b="0" dirty="0"/>
              <a:t> </a:t>
            </a:r>
            <a:r>
              <a:rPr lang="en-US" b="0" dirty="0" err="1"/>
              <a:t>balanca</a:t>
            </a:r>
            <a:r>
              <a:rPr lang="en-US" b="0" dirty="0"/>
              <a:t> </a:t>
            </a:r>
            <a:r>
              <a:rPr lang="en-US" b="0" dirty="0" err="1"/>
              <a:t>ndërmjet</a:t>
            </a:r>
            <a:r>
              <a:rPr lang="en-US" b="0" dirty="0"/>
              <a:t> </a:t>
            </a:r>
            <a:r>
              <a:rPr lang="en-US" b="0" dirty="0" err="1"/>
              <a:t>vonesës</a:t>
            </a:r>
            <a:r>
              <a:rPr lang="en-US" b="0" dirty="0"/>
              <a:t>, </a:t>
            </a:r>
            <a:r>
              <a:rPr lang="en-US" b="0" dirty="0" err="1"/>
              <a:t>konsumit</a:t>
            </a:r>
            <a:r>
              <a:rPr lang="en-US" b="0" dirty="0"/>
              <a:t> </a:t>
            </a:r>
            <a:r>
              <a:rPr lang="en-US" b="0" dirty="0" err="1"/>
              <a:t>energjetik</a:t>
            </a:r>
            <a:r>
              <a:rPr lang="en-US" b="0" dirty="0"/>
              <a:t>, </a:t>
            </a:r>
            <a:r>
              <a:rPr lang="en-US" b="0" dirty="0" err="1"/>
              <a:t>besueshmërisë</a:t>
            </a:r>
            <a:r>
              <a:rPr lang="en-US" b="0" dirty="0"/>
              <a:t>, </a:t>
            </a:r>
            <a:r>
              <a:rPr lang="en-US" b="0" dirty="0" err="1"/>
              <a:t>sigurisë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interoperabilitetit</a:t>
            </a:r>
            <a:r>
              <a:rPr lang="en-US" b="0" dirty="0"/>
              <a:t> me </a:t>
            </a:r>
            <a:r>
              <a:rPr lang="en-US" b="0" dirty="0" err="1"/>
              <a:t>sistemet</a:t>
            </a:r>
            <a:r>
              <a:rPr lang="en-US" b="0" dirty="0"/>
              <a:t> </a:t>
            </a:r>
            <a:r>
              <a:rPr lang="en-US" b="0" dirty="0" err="1"/>
              <a:t>ekzistuese</a:t>
            </a:r>
            <a:r>
              <a:rPr lang="en-US" b="0" dirty="0"/>
              <a:t> </a:t>
            </a:r>
            <a:r>
              <a:rPr lang="en-US" b="0" dirty="0" err="1"/>
              <a:t>klinike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E396B36-ABCA-3032-B34F-C614134B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650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78A0-67DF-3AC4-5F32-55715F982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CFFF-6B83-E4F4-2FEC-AB742648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D. </a:t>
            </a:r>
            <a:r>
              <a:rPr lang="en-US" b="1" dirty="0" err="1"/>
              <a:t>Arkitekturat</a:t>
            </a:r>
            <a:r>
              <a:rPr lang="en-US" b="1" dirty="0"/>
              <a:t> IoT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FB867-3F0F-49CC-FEA7-DBB64C7CB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9"/>
            <a:ext cx="8154917" cy="3732972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dirty="0" err="1"/>
              <a:t>Arkitektura</a:t>
            </a:r>
            <a:r>
              <a:rPr lang="en-US" dirty="0"/>
              <a:t> </a:t>
            </a:r>
            <a:r>
              <a:rPr lang="en-US" dirty="0" err="1"/>
              <a:t>klasike</a:t>
            </a:r>
            <a:endParaRPr lang="sq-AL" dirty="0"/>
          </a:p>
          <a:p>
            <a:r>
              <a:rPr lang="en-US" b="0" dirty="0" err="1"/>
              <a:t>Arkitektura</a:t>
            </a:r>
            <a:r>
              <a:rPr lang="en-US" b="0" dirty="0"/>
              <a:t> 3-layer </a:t>
            </a:r>
            <a:r>
              <a:rPr lang="en-US" b="0" dirty="0" err="1"/>
              <a:t>përfshin</a:t>
            </a:r>
            <a:r>
              <a:rPr lang="en-US" b="0" dirty="0"/>
              <a:t> perception layer, network layer </a:t>
            </a:r>
            <a:r>
              <a:rPr lang="en-US" b="0" dirty="0" err="1"/>
              <a:t>dhe</a:t>
            </a:r>
            <a:r>
              <a:rPr lang="en-US" b="0" dirty="0"/>
              <a:t> application layer. </a:t>
            </a:r>
            <a:r>
              <a:rPr lang="en-US" b="0" dirty="0" err="1"/>
              <a:t>Arkitektura</a:t>
            </a:r>
            <a:r>
              <a:rPr lang="en-US" b="0" dirty="0"/>
              <a:t> 5-layer e </a:t>
            </a:r>
            <a:r>
              <a:rPr lang="en-US" b="0" dirty="0" err="1"/>
              <a:t>zgjeron</a:t>
            </a:r>
            <a:r>
              <a:rPr lang="en-US" b="0" dirty="0"/>
              <a:t> </a:t>
            </a:r>
            <a:r>
              <a:rPr lang="en-US" b="0" dirty="0" err="1"/>
              <a:t>këtë</a:t>
            </a:r>
            <a:r>
              <a:rPr lang="en-US" b="0" dirty="0"/>
              <a:t> model duke </a:t>
            </a:r>
            <a:r>
              <a:rPr lang="en-US" b="0" dirty="0" err="1"/>
              <a:t>shtuar</a:t>
            </a:r>
            <a:r>
              <a:rPr lang="en-US" b="0" dirty="0"/>
              <a:t> processing layer </a:t>
            </a:r>
            <a:r>
              <a:rPr lang="en-US" b="0" dirty="0" err="1"/>
              <a:t>dhe</a:t>
            </a:r>
            <a:r>
              <a:rPr lang="en-US" b="0" dirty="0"/>
              <a:t> business layer. Ky </a:t>
            </a:r>
            <a:r>
              <a:rPr lang="en-US" b="0" dirty="0" err="1"/>
              <a:t>zgjerim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rëndësishëm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healthcare, </a:t>
            </a:r>
            <a:r>
              <a:rPr lang="en-US" b="0" dirty="0" err="1"/>
              <a:t>sepse</a:t>
            </a:r>
            <a:r>
              <a:rPr lang="en-US" b="0" dirty="0"/>
              <a:t> </a:t>
            </a:r>
            <a:r>
              <a:rPr lang="en-US" b="0" dirty="0" err="1"/>
              <a:t>sistemet</a:t>
            </a:r>
            <a:r>
              <a:rPr lang="en-US" b="0" dirty="0"/>
              <a:t> </a:t>
            </a:r>
            <a:r>
              <a:rPr lang="en-US" b="0" dirty="0" err="1"/>
              <a:t>nuk</a:t>
            </a:r>
            <a:r>
              <a:rPr lang="en-US" b="0" dirty="0"/>
              <a:t> </a:t>
            </a:r>
            <a:r>
              <a:rPr lang="en-US" b="0" dirty="0" err="1"/>
              <a:t>merren</a:t>
            </a:r>
            <a:r>
              <a:rPr lang="en-US" b="0" dirty="0"/>
              <a:t> </a:t>
            </a:r>
            <a:r>
              <a:rPr lang="en-US" b="0" dirty="0" err="1"/>
              <a:t>vetëm</a:t>
            </a:r>
            <a:r>
              <a:rPr lang="en-US" b="0" dirty="0"/>
              <a:t> me </a:t>
            </a:r>
            <a:r>
              <a:rPr lang="en-US" b="0" dirty="0" err="1"/>
              <a:t>lexim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transmetim</a:t>
            </a:r>
            <a:r>
              <a:rPr lang="en-US" b="0" dirty="0"/>
              <a:t>, </a:t>
            </a:r>
            <a:r>
              <a:rPr lang="en-US" b="0" dirty="0" err="1"/>
              <a:t>por</a:t>
            </a:r>
            <a:r>
              <a:rPr lang="en-US" b="0" dirty="0"/>
              <a:t> </a:t>
            </a:r>
            <a:r>
              <a:rPr lang="en-US" b="0" dirty="0" err="1"/>
              <a:t>edhe</a:t>
            </a:r>
            <a:r>
              <a:rPr lang="en-US" b="0" dirty="0"/>
              <a:t> me </a:t>
            </a:r>
            <a:r>
              <a:rPr lang="en-US" b="0" dirty="0" err="1"/>
              <a:t>ruajtje</a:t>
            </a:r>
            <a:r>
              <a:rPr lang="en-US" b="0" dirty="0"/>
              <a:t>, </a:t>
            </a:r>
            <a:r>
              <a:rPr lang="en-US" b="0" dirty="0" err="1"/>
              <a:t>analitikë</a:t>
            </a:r>
            <a:r>
              <a:rPr lang="en-US" b="0" dirty="0"/>
              <a:t>, </a:t>
            </a:r>
            <a:r>
              <a:rPr lang="en-US" b="0" dirty="0" err="1"/>
              <a:t>menaxhim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vendimmarrje</a:t>
            </a:r>
            <a:r>
              <a:rPr lang="en-US" b="0" dirty="0"/>
              <a:t>.</a:t>
            </a:r>
            <a:endParaRPr lang="sq-AL" b="0" dirty="0"/>
          </a:p>
          <a:p>
            <a:r>
              <a:rPr lang="en-US" dirty="0"/>
              <a:t>2. Edge-Cloud Architecture</a:t>
            </a:r>
            <a:endParaRPr lang="sq-AL" dirty="0"/>
          </a:p>
          <a:p>
            <a:r>
              <a:rPr lang="en-US" b="0" dirty="0" err="1"/>
              <a:t>Arkitektura</a:t>
            </a:r>
            <a:r>
              <a:rPr lang="en-US" b="0" dirty="0"/>
              <a:t> edge-cloud </a:t>
            </a:r>
            <a:r>
              <a:rPr lang="en-US" b="0" dirty="0" err="1"/>
              <a:t>ndan</a:t>
            </a:r>
            <a:r>
              <a:rPr lang="en-US" b="0" dirty="0"/>
              <a:t> </a:t>
            </a:r>
            <a:r>
              <a:rPr lang="en-US" b="0" dirty="0" err="1"/>
              <a:t>përpunimin</a:t>
            </a:r>
            <a:r>
              <a:rPr lang="en-US" b="0" dirty="0"/>
              <a:t> midis </a:t>
            </a:r>
            <a:r>
              <a:rPr lang="en-US" b="0" dirty="0" err="1"/>
              <a:t>nyjeve</a:t>
            </a:r>
            <a:r>
              <a:rPr lang="en-US" b="0" dirty="0"/>
              <a:t> </a:t>
            </a:r>
            <a:r>
              <a:rPr lang="en-US" b="0" dirty="0" err="1"/>
              <a:t>afër</a:t>
            </a:r>
            <a:r>
              <a:rPr lang="en-US" b="0" dirty="0"/>
              <a:t> </a:t>
            </a:r>
            <a:r>
              <a:rPr lang="en-US" b="0" dirty="0" err="1"/>
              <a:t>burimit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dhënave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infrastrukturës</a:t>
            </a:r>
            <a:r>
              <a:rPr lang="en-US" b="0" dirty="0"/>
              <a:t> cloud. Edge computing </a:t>
            </a:r>
            <a:r>
              <a:rPr lang="en-US" b="0" dirty="0" err="1"/>
              <a:t>përmirëson</a:t>
            </a:r>
            <a:r>
              <a:rPr lang="en-US" b="0" dirty="0"/>
              <a:t> </a:t>
            </a:r>
            <a:r>
              <a:rPr lang="en-US" b="0" dirty="0" err="1"/>
              <a:t>vonesën</a:t>
            </a:r>
            <a:r>
              <a:rPr lang="en-US" b="0" dirty="0"/>
              <a:t>, </a:t>
            </a:r>
            <a:r>
              <a:rPr lang="en-US" b="0" dirty="0" err="1"/>
              <a:t>redukton</a:t>
            </a:r>
            <a:r>
              <a:rPr lang="en-US" b="0" dirty="0"/>
              <a:t> </a:t>
            </a:r>
            <a:r>
              <a:rPr lang="en-US" b="0" dirty="0" err="1"/>
              <a:t>trafikun</a:t>
            </a:r>
            <a:r>
              <a:rPr lang="en-US" b="0" dirty="0"/>
              <a:t> </a:t>
            </a:r>
            <a:r>
              <a:rPr lang="en-US" b="0" dirty="0" err="1"/>
              <a:t>drejt</a:t>
            </a:r>
            <a:r>
              <a:rPr lang="en-US" b="0" dirty="0"/>
              <a:t> cloud-it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rrit</a:t>
            </a:r>
            <a:r>
              <a:rPr lang="en-US" b="0" dirty="0"/>
              <a:t> </a:t>
            </a:r>
            <a:r>
              <a:rPr lang="en-US" b="0" dirty="0" err="1"/>
              <a:t>qëndrueshmërinë</a:t>
            </a:r>
            <a:r>
              <a:rPr lang="en-US" b="0" dirty="0"/>
              <a:t> e </a:t>
            </a:r>
            <a:r>
              <a:rPr lang="en-US" b="0" dirty="0" err="1"/>
              <a:t>sistemit</a:t>
            </a:r>
            <a:r>
              <a:rPr lang="en-US" b="0" dirty="0"/>
              <a:t>, </a:t>
            </a:r>
            <a:r>
              <a:rPr lang="en-US" b="0" dirty="0" err="1"/>
              <a:t>ndërsa</a:t>
            </a:r>
            <a:r>
              <a:rPr lang="en-US" b="0" dirty="0"/>
              <a:t> cloud </a:t>
            </a:r>
            <a:r>
              <a:rPr lang="en-US" b="0" dirty="0" err="1"/>
              <a:t>ofron</a:t>
            </a:r>
            <a:r>
              <a:rPr lang="en-US" b="0" dirty="0"/>
              <a:t> </a:t>
            </a:r>
            <a:r>
              <a:rPr lang="en-US" b="0" dirty="0" err="1"/>
              <a:t>ruajtje</a:t>
            </a:r>
            <a:r>
              <a:rPr lang="en-US" b="0" dirty="0"/>
              <a:t> </a:t>
            </a:r>
            <a:r>
              <a:rPr lang="en-US" b="0" dirty="0" err="1"/>
              <a:t>afatgjatë</a:t>
            </a:r>
            <a:r>
              <a:rPr lang="en-US" b="0" dirty="0"/>
              <a:t>, </a:t>
            </a:r>
            <a:r>
              <a:rPr lang="en-US" b="0" dirty="0" err="1"/>
              <a:t>analitikë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thellë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shkallëzueshmëri</a:t>
            </a:r>
            <a:r>
              <a:rPr lang="en-US" b="0" dirty="0"/>
              <a:t>. </a:t>
            </a:r>
            <a:r>
              <a:rPr lang="en-US" b="0" dirty="0" err="1"/>
              <a:t>Kjo</a:t>
            </a:r>
            <a:r>
              <a:rPr lang="en-US" b="0" dirty="0"/>
              <a:t> e </a:t>
            </a:r>
            <a:r>
              <a:rPr lang="en-US" b="0" dirty="0" err="1"/>
              <a:t>bën</a:t>
            </a:r>
            <a:r>
              <a:rPr lang="en-US" b="0" dirty="0"/>
              <a:t> </a:t>
            </a:r>
            <a:r>
              <a:rPr lang="en-US" b="0" dirty="0" err="1"/>
              <a:t>modelin</a:t>
            </a:r>
            <a:r>
              <a:rPr lang="en-US" b="0" dirty="0"/>
              <a:t> edge-cloud </a:t>
            </a:r>
            <a:r>
              <a:rPr lang="en-US" b="0" dirty="0" err="1"/>
              <a:t>shumë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përshtatshëm</a:t>
            </a:r>
            <a:r>
              <a:rPr lang="en-US" b="0" dirty="0"/>
              <a:t> </a:t>
            </a:r>
            <a:r>
              <a:rPr lang="en-US" b="0" dirty="0" err="1"/>
              <a:t>për</a:t>
            </a:r>
            <a:r>
              <a:rPr lang="en-US" b="0" dirty="0"/>
              <a:t> smart healthcare.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967F5BC-FA03-BD31-D294-F3B59918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866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9F369-7425-8766-E5EB-E9C2B23A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87E6-D982-CF93-BE25-B9B3A414B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Arkitektura</a:t>
            </a:r>
            <a:r>
              <a:rPr lang="en-US" dirty="0"/>
              <a:t> e </a:t>
            </a:r>
            <a:r>
              <a:rPr lang="en-US" dirty="0" err="1"/>
              <a:t>propozuar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2F3C0-C2E9-DA6B-BD5B-1C4B2BCCA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9"/>
            <a:ext cx="8154917" cy="3732972"/>
          </a:xfrm>
        </p:spPr>
        <p:txBody>
          <a:bodyPr>
            <a:normAutofit/>
          </a:bodyPr>
          <a:lstStyle/>
          <a:p>
            <a:r>
              <a:rPr lang="en-US" b="0" dirty="0" err="1"/>
              <a:t>Arkitektura</a:t>
            </a:r>
            <a:r>
              <a:rPr lang="en-US" b="0" dirty="0"/>
              <a:t> e </a:t>
            </a:r>
            <a:r>
              <a:rPr lang="en-US" b="0" dirty="0" err="1"/>
              <a:t>propozuar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punim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hibride</a:t>
            </a:r>
            <a:r>
              <a:rPr lang="en-US" b="0" dirty="0"/>
              <a:t> edge-cloud me </a:t>
            </a:r>
            <a:r>
              <a:rPr lang="en-US" b="0" dirty="0" err="1"/>
              <a:t>pesë</a:t>
            </a:r>
            <a:r>
              <a:rPr lang="en-US" b="0" dirty="0"/>
              <a:t> </a:t>
            </a:r>
            <a:r>
              <a:rPr lang="en-US" b="0" dirty="0" err="1"/>
              <a:t>shtresa</a:t>
            </a:r>
            <a:r>
              <a:rPr lang="en-US" b="0" dirty="0"/>
              <a:t> </a:t>
            </a:r>
            <a:r>
              <a:rPr lang="en-US" b="0" dirty="0" err="1"/>
              <a:t>funksionale</a:t>
            </a:r>
            <a:r>
              <a:rPr lang="en-US" b="0" dirty="0"/>
              <a:t>.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parë</a:t>
            </a:r>
            <a:r>
              <a:rPr lang="en-US" b="0" dirty="0"/>
              <a:t> </a:t>
            </a:r>
            <a:r>
              <a:rPr lang="en-US" b="0" dirty="0" err="1"/>
              <a:t>përfshin</a:t>
            </a:r>
            <a:r>
              <a:rPr lang="en-US" b="0" dirty="0"/>
              <a:t> </a:t>
            </a:r>
            <a:r>
              <a:rPr lang="en-US" b="0" dirty="0" err="1"/>
              <a:t>sensorët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wearables </a:t>
            </a:r>
            <a:r>
              <a:rPr lang="en-US" b="0" dirty="0" err="1"/>
              <a:t>që</a:t>
            </a:r>
            <a:r>
              <a:rPr lang="en-US" b="0" dirty="0"/>
              <a:t> </a:t>
            </a:r>
            <a:r>
              <a:rPr lang="en-US" b="0" dirty="0" err="1"/>
              <a:t>mbledhin</a:t>
            </a:r>
            <a:r>
              <a:rPr lang="en-US" b="0" dirty="0"/>
              <a:t> </a:t>
            </a:r>
            <a:r>
              <a:rPr lang="en-US" b="0" dirty="0" err="1"/>
              <a:t>parametrat</a:t>
            </a:r>
            <a:r>
              <a:rPr lang="en-US" b="0" dirty="0"/>
              <a:t> </a:t>
            </a:r>
            <a:r>
              <a:rPr lang="en-US" b="0" dirty="0" err="1"/>
              <a:t>fiziologjikë</a:t>
            </a:r>
            <a:r>
              <a:rPr lang="en-US" b="0" dirty="0"/>
              <a:t>.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dytë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</a:t>
            </a:r>
            <a:r>
              <a:rPr lang="en-US" b="0" dirty="0" err="1"/>
              <a:t>komunikimi</a:t>
            </a:r>
            <a:r>
              <a:rPr lang="en-US" b="0" dirty="0"/>
              <a:t> </a:t>
            </a:r>
            <a:r>
              <a:rPr lang="en-US" b="0" dirty="0" err="1"/>
              <a:t>lokal</a:t>
            </a:r>
            <a:r>
              <a:rPr lang="en-US" b="0" dirty="0"/>
              <a:t> </a:t>
            </a:r>
            <a:r>
              <a:rPr lang="en-US" b="0" dirty="0" err="1"/>
              <a:t>përmes</a:t>
            </a:r>
            <a:r>
              <a:rPr lang="en-US" b="0" dirty="0"/>
              <a:t> BLE </a:t>
            </a:r>
            <a:r>
              <a:rPr lang="en-US" b="0" dirty="0" err="1"/>
              <a:t>ose</a:t>
            </a:r>
            <a:r>
              <a:rPr lang="en-US" b="0" dirty="0"/>
              <a:t> Wi-Fi.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tretë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gateway/edge, </a:t>
            </a:r>
            <a:r>
              <a:rPr lang="en-US" b="0" dirty="0" err="1"/>
              <a:t>ku</a:t>
            </a:r>
            <a:r>
              <a:rPr lang="en-US" b="0" dirty="0"/>
              <a:t> </a:t>
            </a:r>
            <a:r>
              <a:rPr lang="en-US" b="0" dirty="0" err="1"/>
              <a:t>kryhet</a:t>
            </a:r>
            <a:r>
              <a:rPr lang="en-US" b="0" dirty="0"/>
              <a:t> </a:t>
            </a:r>
            <a:r>
              <a:rPr lang="en-US" b="0" dirty="0" err="1"/>
              <a:t>agregimi</a:t>
            </a:r>
            <a:r>
              <a:rPr lang="en-US" b="0" dirty="0"/>
              <a:t>, </a:t>
            </a:r>
            <a:r>
              <a:rPr lang="en-US" b="0" dirty="0" err="1"/>
              <a:t>validimi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cilësisë</a:t>
            </a:r>
            <a:r>
              <a:rPr lang="en-US" b="0" dirty="0"/>
              <a:t>, </a:t>
            </a:r>
            <a:r>
              <a:rPr lang="en-US" b="0" dirty="0" err="1"/>
              <a:t>filtrimi</a:t>
            </a:r>
            <a:r>
              <a:rPr lang="en-US" b="0" dirty="0"/>
              <a:t> </a:t>
            </a:r>
            <a:r>
              <a:rPr lang="en-US" b="0" dirty="0" err="1"/>
              <a:t>bazë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alarmimi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shpejtë</a:t>
            </a:r>
            <a:r>
              <a:rPr lang="en-US" b="0" dirty="0"/>
              <a:t>.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katërt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cloud, e </a:t>
            </a:r>
            <a:r>
              <a:rPr lang="en-US" b="0" dirty="0" err="1"/>
              <a:t>cila</a:t>
            </a:r>
            <a:r>
              <a:rPr lang="en-US" b="0" dirty="0"/>
              <a:t> </a:t>
            </a:r>
            <a:r>
              <a:rPr lang="en-US" b="0" dirty="0" err="1"/>
              <a:t>merret</a:t>
            </a:r>
            <a:r>
              <a:rPr lang="en-US" b="0" dirty="0"/>
              <a:t> me </a:t>
            </a:r>
            <a:r>
              <a:rPr lang="en-US" b="0" dirty="0" err="1"/>
              <a:t>ruajtjen</a:t>
            </a:r>
            <a:r>
              <a:rPr lang="en-US" b="0" dirty="0"/>
              <a:t> </a:t>
            </a:r>
            <a:r>
              <a:rPr lang="en-US" b="0" dirty="0" err="1"/>
              <a:t>afatgjatë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analizën</a:t>
            </a:r>
            <a:r>
              <a:rPr lang="en-US" b="0" dirty="0"/>
              <a:t> </a:t>
            </a:r>
            <a:r>
              <a:rPr lang="en-US" b="0" dirty="0" err="1"/>
              <a:t>historike</a:t>
            </a:r>
            <a:r>
              <a:rPr lang="en-US" b="0" dirty="0"/>
              <a:t>. </a:t>
            </a:r>
            <a:r>
              <a:rPr lang="en-US" b="0" dirty="0" err="1"/>
              <a:t>Shtresa</a:t>
            </a:r>
            <a:r>
              <a:rPr lang="en-US" b="0" dirty="0"/>
              <a:t> e </a:t>
            </a:r>
            <a:r>
              <a:rPr lang="en-US" b="0" dirty="0" err="1"/>
              <a:t>pestë</a:t>
            </a:r>
            <a:r>
              <a:rPr lang="en-US" b="0" dirty="0"/>
              <a:t> </a:t>
            </a:r>
            <a:r>
              <a:rPr lang="en-US" b="0" dirty="0" err="1"/>
              <a:t>është</a:t>
            </a:r>
            <a:r>
              <a:rPr lang="en-US" b="0" dirty="0"/>
              <a:t> moduli </a:t>
            </a:r>
            <a:r>
              <a:rPr lang="en-US" b="0" dirty="0" err="1"/>
              <a:t>analitik</a:t>
            </a:r>
            <a:r>
              <a:rPr lang="en-US" b="0" dirty="0"/>
              <a:t>/CDSS,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cili</a:t>
            </a:r>
            <a:r>
              <a:rPr lang="en-US" b="0" dirty="0"/>
              <a:t> </a:t>
            </a:r>
            <a:r>
              <a:rPr lang="en-US" b="0" dirty="0" err="1"/>
              <a:t>ekzekuton</a:t>
            </a:r>
            <a:r>
              <a:rPr lang="en-US" b="0" dirty="0"/>
              <a:t> anomaly detection, risk scoring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prioritizim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pacientëve</a:t>
            </a:r>
            <a:r>
              <a:rPr lang="en-US" b="0" dirty="0"/>
              <a:t>. </a:t>
            </a:r>
            <a:r>
              <a:rPr lang="en-US" b="0" dirty="0" err="1"/>
              <a:t>Kjo</a:t>
            </a:r>
            <a:r>
              <a:rPr lang="en-US" b="0" dirty="0"/>
              <a:t> </a:t>
            </a:r>
            <a:r>
              <a:rPr lang="en-US" b="0" dirty="0" err="1"/>
              <a:t>ndarje</a:t>
            </a:r>
            <a:r>
              <a:rPr lang="en-US" b="0" dirty="0"/>
              <a:t> e </a:t>
            </a:r>
            <a:r>
              <a:rPr lang="en-US" b="0" dirty="0" err="1"/>
              <a:t>roleve</a:t>
            </a:r>
            <a:r>
              <a:rPr lang="en-US" b="0" dirty="0"/>
              <a:t> </a:t>
            </a:r>
            <a:r>
              <a:rPr lang="en-US" b="0" dirty="0" err="1"/>
              <a:t>siguron</a:t>
            </a:r>
            <a:r>
              <a:rPr lang="en-US" b="0" dirty="0"/>
              <a:t> </a:t>
            </a:r>
            <a:r>
              <a:rPr lang="en-US" b="0" dirty="0" err="1"/>
              <a:t>reagim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shpejtë</a:t>
            </a:r>
            <a:r>
              <a:rPr lang="en-US" b="0" dirty="0"/>
              <a:t> </a:t>
            </a:r>
            <a:r>
              <a:rPr lang="en-US" b="0" dirty="0" err="1"/>
              <a:t>lokal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shkallëzueshmëri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nivel</a:t>
            </a:r>
            <a:r>
              <a:rPr lang="en-US" b="0" dirty="0"/>
              <a:t> </a:t>
            </a:r>
            <a:r>
              <a:rPr lang="en-US" b="0" dirty="0" err="1"/>
              <a:t>sistemi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D2D3578-8B3E-C816-57C6-58F5B192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01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BEF52-09F8-62A6-14EE-A531820D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85AA-BECD-EDBF-53EB-E0763F83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Komponentët</a:t>
            </a:r>
            <a:r>
              <a:rPr lang="en-US" b="1" dirty="0"/>
              <a:t> </a:t>
            </a:r>
            <a:r>
              <a:rPr lang="en-US" b="1" dirty="0" err="1"/>
              <a:t>dhe</a:t>
            </a:r>
            <a:r>
              <a:rPr lang="en-US" b="1" dirty="0"/>
              <a:t> </a:t>
            </a:r>
            <a:r>
              <a:rPr lang="en-US" b="1" dirty="0" err="1"/>
              <a:t>rolet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5608B-69F0-1C89-179D-A46C2C1F0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9"/>
            <a:ext cx="8154917" cy="3732972"/>
          </a:xfrm>
        </p:spPr>
        <p:txBody>
          <a:bodyPr>
            <a:normAutofit/>
          </a:bodyPr>
          <a:lstStyle/>
          <a:p>
            <a:r>
              <a:rPr lang="en-US" b="0" dirty="0" err="1"/>
              <a:t>Secili</a:t>
            </a:r>
            <a:r>
              <a:rPr lang="en-US" b="0" dirty="0"/>
              <a:t> </a:t>
            </a:r>
            <a:r>
              <a:rPr lang="en-US" b="0" dirty="0" err="1"/>
              <a:t>komponent</a:t>
            </a:r>
            <a:r>
              <a:rPr lang="en-US" b="0" dirty="0"/>
              <a:t> ka </a:t>
            </a:r>
            <a:r>
              <a:rPr lang="en-US" b="0" dirty="0" err="1"/>
              <a:t>rol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qartë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funksionimin</a:t>
            </a:r>
            <a:r>
              <a:rPr lang="en-US" b="0" dirty="0"/>
              <a:t> e </a:t>
            </a:r>
            <a:r>
              <a:rPr lang="en-US" b="0" dirty="0" err="1"/>
              <a:t>sistemit</a:t>
            </a:r>
            <a:r>
              <a:rPr lang="en-US" b="0" dirty="0"/>
              <a:t>. </a:t>
            </a:r>
            <a:r>
              <a:rPr lang="en-US" b="0" dirty="0" err="1"/>
              <a:t>Sensorët</a:t>
            </a:r>
            <a:r>
              <a:rPr lang="en-US" b="0" dirty="0"/>
              <a:t> </a:t>
            </a:r>
            <a:r>
              <a:rPr lang="en-US" b="0" dirty="0" err="1"/>
              <a:t>mbledhin</a:t>
            </a:r>
            <a:r>
              <a:rPr lang="en-US" b="0" dirty="0"/>
              <a:t> </a:t>
            </a:r>
            <a:r>
              <a:rPr lang="en-US" b="0" dirty="0" err="1"/>
              <a:t>sinjalet</a:t>
            </a:r>
            <a:r>
              <a:rPr lang="en-US" b="0" dirty="0"/>
              <a:t> </a:t>
            </a:r>
            <a:r>
              <a:rPr lang="en-US" b="0" dirty="0" err="1"/>
              <a:t>fiziologjike</a:t>
            </a:r>
            <a:r>
              <a:rPr lang="en-US" b="0" dirty="0"/>
              <a:t>, gateway </a:t>
            </a:r>
            <a:r>
              <a:rPr lang="en-US" b="0" dirty="0" err="1"/>
              <a:t>koordinon</a:t>
            </a:r>
            <a:r>
              <a:rPr lang="en-US" b="0" dirty="0"/>
              <a:t> </a:t>
            </a:r>
            <a:r>
              <a:rPr lang="en-US" b="0" dirty="0" err="1"/>
              <a:t>komunikimin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normalizimin</a:t>
            </a:r>
            <a:r>
              <a:rPr lang="en-US" b="0" dirty="0"/>
              <a:t>, edge </a:t>
            </a:r>
            <a:r>
              <a:rPr lang="en-US" b="0" dirty="0" err="1"/>
              <a:t>ekzekuton</a:t>
            </a:r>
            <a:r>
              <a:rPr lang="en-US" b="0" dirty="0"/>
              <a:t> </a:t>
            </a:r>
            <a:r>
              <a:rPr lang="en-US" b="0" dirty="0" err="1"/>
              <a:t>filtrim</a:t>
            </a:r>
            <a:r>
              <a:rPr lang="en-US" b="0" dirty="0"/>
              <a:t> </a:t>
            </a:r>
            <a:r>
              <a:rPr lang="en-US" b="0" dirty="0" err="1"/>
              <a:t>lokal</a:t>
            </a:r>
            <a:r>
              <a:rPr lang="en-US" b="0" dirty="0"/>
              <a:t>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reagim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menjëhershëm</a:t>
            </a:r>
            <a:r>
              <a:rPr lang="en-US" b="0" dirty="0"/>
              <a:t>, cloud ruan </a:t>
            </a:r>
            <a:r>
              <a:rPr lang="en-US" b="0" dirty="0" err="1"/>
              <a:t>dhe</a:t>
            </a:r>
            <a:r>
              <a:rPr lang="en-US" b="0" dirty="0"/>
              <a:t> </a:t>
            </a:r>
            <a:r>
              <a:rPr lang="en-US" b="0" dirty="0" err="1"/>
              <a:t>integron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dhënat</a:t>
            </a:r>
            <a:r>
              <a:rPr lang="en-US" b="0" dirty="0"/>
              <a:t>, </a:t>
            </a:r>
            <a:r>
              <a:rPr lang="en-US" b="0" dirty="0" err="1"/>
              <a:t>ndërsa</a:t>
            </a:r>
            <a:r>
              <a:rPr lang="en-US" b="0" dirty="0"/>
              <a:t> moduli </a:t>
            </a:r>
            <a:r>
              <a:rPr lang="en-US" b="0" dirty="0" err="1"/>
              <a:t>analitik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</a:t>
            </a:r>
            <a:r>
              <a:rPr lang="en-US" b="0" dirty="0" err="1"/>
              <a:t>shndërron</a:t>
            </a:r>
            <a:r>
              <a:rPr lang="en-US" b="0" dirty="0"/>
              <a:t> </a:t>
            </a:r>
            <a:r>
              <a:rPr lang="en-US" b="0" dirty="0" err="1"/>
              <a:t>këto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dhëna</a:t>
            </a:r>
            <a:r>
              <a:rPr lang="en-US" b="0" dirty="0"/>
              <a:t> </a:t>
            </a:r>
            <a:r>
              <a:rPr lang="en-US" b="0" dirty="0" err="1"/>
              <a:t>në</a:t>
            </a:r>
            <a:r>
              <a:rPr lang="en-US" b="0" dirty="0"/>
              <a:t> </a:t>
            </a:r>
            <a:r>
              <a:rPr lang="en-US" b="0" dirty="0" err="1"/>
              <a:t>njohuri</a:t>
            </a:r>
            <a:r>
              <a:rPr lang="en-US" b="0" dirty="0"/>
              <a:t> </a:t>
            </a:r>
            <a:r>
              <a:rPr lang="en-US" b="0" dirty="0" err="1"/>
              <a:t>klinikisht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dobishme</a:t>
            </a:r>
            <a:r>
              <a:rPr lang="en-US" b="0" dirty="0"/>
              <a:t>. HL7 FHIR </a:t>
            </a:r>
            <a:r>
              <a:rPr lang="en-US" b="0" dirty="0" err="1"/>
              <a:t>siguron</a:t>
            </a:r>
            <a:r>
              <a:rPr lang="en-US" b="0" dirty="0"/>
              <a:t> </a:t>
            </a:r>
            <a:r>
              <a:rPr lang="en-US" b="0" dirty="0" err="1"/>
              <a:t>interoperabilitetin</a:t>
            </a:r>
            <a:r>
              <a:rPr lang="en-US" b="0" dirty="0"/>
              <a:t> me </a:t>
            </a:r>
            <a:r>
              <a:rPr lang="en-US" b="0" dirty="0" err="1"/>
              <a:t>ekosistemin</a:t>
            </a:r>
            <a:r>
              <a:rPr lang="en-US" b="0" dirty="0"/>
              <a:t> </a:t>
            </a:r>
            <a:r>
              <a:rPr lang="en-US" b="0" dirty="0" err="1"/>
              <a:t>më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</a:t>
            </a:r>
            <a:r>
              <a:rPr lang="en-US" b="0" dirty="0" err="1"/>
              <a:t>gjerë</a:t>
            </a:r>
            <a:r>
              <a:rPr lang="en-US" b="0" dirty="0"/>
              <a:t> </a:t>
            </a:r>
            <a:r>
              <a:rPr lang="en-US" b="0" dirty="0" err="1"/>
              <a:t>të</a:t>
            </a:r>
            <a:r>
              <a:rPr lang="en-US" b="0" dirty="0"/>
              <a:t> IT-</a:t>
            </a:r>
            <a:r>
              <a:rPr lang="en-US" b="0" dirty="0" err="1"/>
              <a:t>së</a:t>
            </a:r>
            <a:r>
              <a:rPr lang="en-US" b="0" dirty="0"/>
              <a:t> </a:t>
            </a:r>
            <a:r>
              <a:rPr lang="en-US" b="0" dirty="0" err="1"/>
              <a:t>shëndetësore</a:t>
            </a:r>
            <a:r>
              <a:rPr lang="en-US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8E9CD79-D381-30C0-5EC2-D2784666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967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2373-1438-5F1F-F8E9-467E5843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F36B-78A4-802A-AA50-2469A140E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5. </a:t>
            </a:r>
            <a:r>
              <a:rPr lang="en-US" b="1" dirty="0" err="1"/>
              <a:t>Avantazhet</a:t>
            </a:r>
            <a:r>
              <a:rPr lang="en-US" b="1" dirty="0"/>
              <a:t> </a:t>
            </a:r>
            <a:r>
              <a:rPr lang="en-US" b="1" dirty="0" err="1"/>
              <a:t>dhe</a:t>
            </a:r>
            <a:r>
              <a:rPr lang="en-US" b="1" dirty="0"/>
              <a:t> </a:t>
            </a:r>
            <a:r>
              <a:rPr lang="en-US" b="1" dirty="0" err="1"/>
              <a:t>kufizimet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04928-FFBF-ED9D-B42C-04AE65E05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8"/>
            <a:ext cx="8154917" cy="4304471"/>
          </a:xfrm>
        </p:spPr>
        <p:txBody>
          <a:bodyPr>
            <a:normAutofit/>
          </a:bodyPr>
          <a:lstStyle/>
          <a:p>
            <a:r>
              <a:rPr lang="en-US" sz="1600" dirty="0" err="1"/>
              <a:t>Avantazhet</a:t>
            </a:r>
            <a:r>
              <a:rPr lang="en-US" sz="1600" dirty="0"/>
              <a:t> </a:t>
            </a:r>
            <a:r>
              <a:rPr lang="en-US" sz="1600" dirty="0" err="1"/>
              <a:t>kryesore</a:t>
            </a:r>
            <a:r>
              <a:rPr lang="en-US" sz="1600" dirty="0"/>
              <a:t> </a:t>
            </a:r>
            <a:r>
              <a:rPr lang="en-US" sz="1600" dirty="0" err="1"/>
              <a:t>të</a:t>
            </a:r>
            <a:r>
              <a:rPr lang="en-US" sz="1600" dirty="0"/>
              <a:t> </a:t>
            </a:r>
            <a:r>
              <a:rPr lang="en-US" sz="1600" dirty="0" err="1"/>
              <a:t>arkitekturës</a:t>
            </a:r>
            <a:r>
              <a:rPr lang="en-US" sz="1600" dirty="0"/>
              <a:t> </a:t>
            </a:r>
            <a:r>
              <a:rPr lang="en-US" sz="1600" dirty="0" err="1"/>
              <a:t>së</a:t>
            </a:r>
            <a:r>
              <a:rPr lang="en-US" sz="1600" dirty="0"/>
              <a:t> </a:t>
            </a:r>
            <a:r>
              <a:rPr lang="en-US" sz="1600" dirty="0" err="1"/>
              <a:t>propozuar</a:t>
            </a:r>
            <a:r>
              <a:rPr lang="en-US" sz="1600" dirty="0"/>
              <a:t> </a:t>
            </a:r>
            <a:r>
              <a:rPr lang="en-US" sz="1600" dirty="0" err="1"/>
              <a:t>janë</a:t>
            </a:r>
            <a:r>
              <a:rPr lang="sq-AL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dirty="0" err="1"/>
              <a:t>vonesa</a:t>
            </a:r>
            <a:r>
              <a:rPr lang="en-US" sz="1600" b="0" dirty="0"/>
              <a:t> e </a:t>
            </a:r>
            <a:r>
              <a:rPr lang="en-US" sz="1600" b="0" dirty="0" err="1"/>
              <a:t>ulët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vendimmarrje</a:t>
            </a:r>
            <a:r>
              <a:rPr lang="en-US" sz="1600" b="0" dirty="0"/>
              <a:t> </a:t>
            </a:r>
            <a:r>
              <a:rPr lang="en-US" sz="1600" b="0" dirty="0" err="1"/>
              <a:t>emergjente</a:t>
            </a:r>
            <a:r>
              <a:rPr lang="en-US" sz="1600" b="0" dirty="0"/>
              <a:t> </a:t>
            </a:r>
            <a:r>
              <a:rPr lang="en-US" sz="1600" b="0" dirty="0" err="1"/>
              <a:t>lokale</a:t>
            </a:r>
            <a:r>
              <a:rPr lang="en-US" sz="1600" b="0" dirty="0"/>
              <a:t>, </a:t>
            </a:r>
            <a:endParaRPr lang="sq-AL" sz="1600" b="0" dirty="0"/>
          </a:p>
          <a:p>
            <a:pPr marL="342900" indent="-342900">
              <a:buFont typeface="+mj-lt"/>
              <a:buAutoNum type="arabicPeriod"/>
            </a:pPr>
            <a:r>
              <a:rPr lang="en-US" sz="1600" b="0" dirty="0" err="1"/>
              <a:t>qëndrueshmëria</a:t>
            </a:r>
            <a:r>
              <a:rPr lang="en-US" sz="1600" b="0" dirty="0"/>
              <a:t> </a:t>
            </a:r>
            <a:r>
              <a:rPr lang="en-US" sz="1600" b="0" dirty="0" err="1"/>
              <a:t>gjatë</a:t>
            </a:r>
            <a:r>
              <a:rPr lang="en-US" sz="1600" b="0" dirty="0"/>
              <a:t> </a:t>
            </a:r>
            <a:r>
              <a:rPr lang="en-US" sz="1600" b="0" dirty="0" err="1"/>
              <a:t>ndërprerjeve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rrjetit</a:t>
            </a:r>
            <a:r>
              <a:rPr lang="en-US" sz="1600" b="0" dirty="0"/>
              <a:t>, </a:t>
            </a:r>
            <a:endParaRPr lang="sq-AL" sz="1600" b="0" dirty="0"/>
          </a:p>
          <a:p>
            <a:pPr marL="342900" indent="-342900">
              <a:buFont typeface="+mj-lt"/>
              <a:buAutoNum type="arabicPeriod"/>
            </a:pPr>
            <a:r>
              <a:rPr lang="en-US" sz="1600" b="0" dirty="0" err="1"/>
              <a:t>reduktimi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trafikut</a:t>
            </a:r>
            <a:r>
              <a:rPr lang="en-US" sz="1600" b="0" dirty="0"/>
              <a:t> </a:t>
            </a:r>
            <a:r>
              <a:rPr lang="en-US" sz="1600" b="0" dirty="0" err="1"/>
              <a:t>drejt</a:t>
            </a:r>
            <a:r>
              <a:rPr lang="en-US" sz="1600" b="0" dirty="0"/>
              <a:t> cloud-it</a:t>
            </a:r>
            <a:r>
              <a:rPr lang="sq-AL" sz="1600" b="0" dirty="0"/>
              <a:t>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dirty="0" err="1"/>
              <a:t>reagimi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shpejtë</a:t>
            </a:r>
            <a:r>
              <a:rPr lang="en-US" sz="1600" b="0" dirty="0"/>
              <a:t> </a:t>
            </a:r>
            <a:r>
              <a:rPr lang="en-US" sz="1600" b="0" dirty="0" err="1"/>
              <a:t>klinik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dirty="0" err="1"/>
              <a:t>Kufizimet</a:t>
            </a:r>
            <a:r>
              <a:rPr lang="en-US" sz="1600" dirty="0"/>
              <a:t> </a:t>
            </a:r>
            <a:r>
              <a:rPr lang="en-US" sz="1600" dirty="0" err="1"/>
              <a:t>kryesore</a:t>
            </a:r>
            <a:r>
              <a:rPr lang="en-US" sz="1600" dirty="0"/>
              <a:t> </a:t>
            </a:r>
            <a:r>
              <a:rPr lang="en-US" sz="1600" dirty="0" err="1"/>
              <a:t>janë</a:t>
            </a:r>
            <a:r>
              <a:rPr lang="sq-AL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dirty="0" err="1"/>
              <a:t>kompleksiteti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lartë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implementimit</a:t>
            </a:r>
            <a:r>
              <a:rPr lang="en-US" sz="1600" b="0" dirty="0"/>
              <a:t>, </a:t>
            </a:r>
            <a:endParaRPr lang="sq-AL" sz="1600" b="0" dirty="0"/>
          </a:p>
          <a:p>
            <a:pPr marL="342900" indent="-342900">
              <a:buFont typeface="+mj-lt"/>
              <a:buAutoNum type="arabicPeriod"/>
            </a:pPr>
            <a:r>
              <a:rPr lang="en-US" sz="1600" b="0" dirty="0" err="1"/>
              <a:t>kërkesat</a:t>
            </a:r>
            <a:r>
              <a:rPr lang="en-US" sz="1600" b="0" dirty="0"/>
              <a:t> e </a:t>
            </a:r>
            <a:r>
              <a:rPr lang="en-US" sz="1600" b="0" dirty="0" err="1"/>
              <a:t>forta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sigurisë</a:t>
            </a:r>
            <a:r>
              <a:rPr lang="en-US" sz="1600" b="0" dirty="0"/>
              <a:t> end-to-end</a:t>
            </a:r>
            <a:r>
              <a:rPr lang="sq-AL" sz="1600" b="0" dirty="0"/>
              <a:t>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dirty="0" err="1"/>
              <a:t>nevoja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transparencë</a:t>
            </a:r>
            <a:r>
              <a:rPr lang="en-US" sz="1600" b="0" dirty="0"/>
              <a:t> </a:t>
            </a:r>
            <a:r>
              <a:rPr lang="en-US" sz="1600" b="0" dirty="0" err="1"/>
              <a:t>kur</a:t>
            </a:r>
            <a:r>
              <a:rPr lang="en-US" sz="1600" b="0" dirty="0"/>
              <a:t> </a:t>
            </a:r>
            <a:r>
              <a:rPr lang="en-US" sz="1600" b="0" dirty="0" err="1"/>
              <a:t>modelet</a:t>
            </a:r>
            <a:r>
              <a:rPr lang="en-US" sz="1600" b="0" dirty="0"/>
              <a:t> </a:t>
            </a:r>
            <a:r>
              <a:rPr lang="en-US" sz="1600" b="0" dirty="0" err="1"/>
              <a:t>analitike</a:t>
            </a:r>
            <a:r>
              <a:rPr lang="en-US" sz="1600" b="0" dirty="0"/>
              <a:t> </a:t>
            </a:r>
            <a:r>
              <a:rPr lang="en-US" sz="1600" b="0" dirty="0" err="1"/>
              <a:t>përdoren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vendimmarrje</a:t>
            </a:r>
            <a:r>
              <a:rPr lang="en-US" sz="1600" b="0" dirty="0"/>
              <a:t> </a:t>
            </a:r>
            <a:r>
              <a:rPr lang="en-US" sz="1600" b="0" dirty="0" err="1"/>
              <a:t>klinike</a:t>
            </a:r>
            <a:r>
              <a:rPr lang="en-US" sz="1600" b="0" dirty="0"/>
              <a:t>.</a:t>
            </a:r>
            <a:endParaRPr lang="sq-AL" sz="1600" b="0" dirty="0"/>
          </a:p>
          <a:p>
            <a:r>
              <a:rPr lang="en-US" sz="1600" b="0" dirty="0" err="1"/>
              <a:t>Menaxhimi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pajisjeve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shpërndara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koordinimi</a:t>
            </a:r>
            <a:r>
              <a:rPr lang="en-US" sz="1600" b="0" dirty="0"/>
              <a:t> </a:t>
            </a:r>
            <a:r>
              <a:rPr lang="en-US" sz="1600" b="0" dirty="0" err="1"/>
              <a:t>ndërmjet</a:t>
            </a:r>
            <a:r>
              <a:rPr lang="en-US" sz="1600" b="0" dirty="0"/>
              <a:t> </a:t>
            </a:r>
            <a:r>
              <a:rPr lang="en-US" sz="1600" b="0" dirty="0" err="1"/>
              <a:t>shtresave</a:t>
            </a:r>
            <a:r>
              <a:rPr lang="en-US" sz="1600" b="0" dirty="0"/>
              <a:t> </a:t>
            </a:r>
            <a:r>
              <a:rPr lang="en-US" sz="1600" b="0" dirty="0" err="1"/>
              <a:t>kërkon</a:t>
            </a:r>
            <a:r>
              <a:rPr lang="en-US" sz="1600" b="0" dirty="0"/>
              <a:t> </a:t>
            </a:r>
            <a:r>
              <a:rPr lang="en-US" sz="1600" b="0" dirty="0" err="1"/>
              <a:t>gjithashtu</a:t>
            </a:r>
            <a:r>
              <a:rPr lang="en-US" sz="1600" b="0" dirty="0"/>
              <a:t> </a:t>
            </a:r>
            <a:r>
              <a:rPr lang="en-US" sz="1600" b="0" dirty="0" err="1"/>
              <a:t>ekspertizë</a:t>
            </a:r>
            <a:r>
              <a:rPr lang="en-US" sz="1600" b="0" dirty="0"/>
              <a:t> </a:t>
            </a:r>
            <a:r>
              <a:rPr lang="en-US" sz="1600" b="0" dirty="0" err="1"/>
              <a:t>teknike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qeverisje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qartë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dhënave</a:t>
            </a:r>
            <a:r>
              <a:rPr lang="en-US" sz="16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7B6253B-5FC3-9BE5-5C9C-C79280CE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90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06109-8E0D-91AA-6686-355843EB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C672-5D72-1D26-E1A2-BED63AFC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anchor="b">
            <a:normAutofit/>
          </a:bodyPr>
          <a:lstStyle/>
          <a:p>
            <a:r>
              <a:rPr lang="en-US" b="1" dirty="0"/>
              <a:t>III. PËRDORIMI REAL I IOT NË HEALTHCARE DHE ANALIZIMI I ZGJIDHJEVE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4D5F820-B0A5-4C49-D6B7-4F3813A79D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20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6B8C6-2A89-F4E8-839C-9F85467A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B6ED-786E-B21D-E5BC-E8B4F0A8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A. Analiza e </a:t>
            </a:r>
            <a:r>
              <a:rPr lang="en-US" b="1" dirty="0" err="1"/>
              <a:t>një</a:t>
            </a:r>
            <a:r>
              <a:rPr lang="en-US" b="1" dirty="0"/>
              <a:t> </a:t>
            </a:r>
            <a:r>
              <a:rPr lang="en-US" b="1" dirty="0" err="1"/>
              <a:t>zgjidhjeje</a:t>
            </a:r>
            <a:r>
              <a:rPr lang="en-US" b="1" dirty="0"/>
              <a:t> </a:t>
            </a:r>
            <a:r>
              <a:rPr lang="en-US" b="1" dirty="0" err="1"/>
              <a:t>reale</a:t>
            </a:r>
            <a:r>
              <a:rPr lang="en-US" b="1" dirty="0"/>
              <a:t> IoT </a:t>
            </a:r>
            <a:r>
              <a:rPr lang="en-US" b="1" dirty="0" err="1"/>
              <a:t>për</a:t>
            </a:r>
            <a:r>
              <a:rPr lang="en-US" b="1" dirty="0"/>
              <a:t> </a:t>
            </a:r>
            <a:r>
              <a:rPr lang="en-US" b="1" dirty="0" err="1"/>
              <a:t>monitorim</a:t>
            </a:r>
            <a:r>
              <a:rPr lang="en-US" b="1" dirty="0"/>
              <a:t> </a:t>
            </a:r>
            <a:r>
              <a:rPr lang="en-US" b="1" dirty="0" err="1"/>
              <a:t>shëndetësor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C7355-395F-FC87-33AC-880D623EA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8"/>
            <a:ext cx="8154917" cy="4304471"/>
          </a:xfrm>
        </p:spPr>
        <p:txBody>
          <a:bodyPr>
            <a:normAutofit/>
          </a:bodyPr>
          <a:lstStyle/>
          <a:p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analizën</a:t>
            </a:r>
            <a:r>
              <a:rPr lang="en-US" sz="1600" b="0" dirty="0"/>
              <a:t> e </a:t>
            </a:r>
            <a:r>
              <a:rPr lang="en-US" sz="1600" b="0" dirty="0" err="1"/>
              <a:t>përdorimit</a:t>
            </a:r>
            <a:r>
              <a:rPr lang="en-US" sz="1600" b="0" dirty="0"/>
              <a:t> real </a:t>
            </a:r>
            <a:r>
              <a:rPr lang="en-US" sz="1600" b="0" dirty="0" err="1"/>
              <a:t>të</a:t>
            </a:r>
            <a:r>
              <a:rPr lang="en-US" sz="1600" b="0" dirty="0"/>
              <a:t> IoT </a:t>
            </a:r>
            <a:r>
              <a:rPr lang="en-US" sz="1600" b="0" dirty="0" err="1"/>
              <a:t>në</a:t>
            </a:r>
            <a:r>
              <a:rPr lang="en-US" sz="1600" b="0" dirty="0"/>
              <a:t> healthcare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përzgjedhur</a:t>
            </a:r>
            <a:r>
              <a:rPr lang="en-US" sz="1600" b="0" dirty="0"/>
              <a:t> </a:t>
            </a:r>
            <a:r>
              <a:rPr lang="en-US" sz="1600" b="0" dirty="0" err="1"/>
              <a:t>zgjidhja</a:t>
            </a:r>
            <a:r>
              <a:rPr lang="en-US" sz="1600" b="0" dirty="0"/>
              <a:t> e </a:t>
            </a:r>
            <a:r>
              <a:rPr lang="en-US" sz="1600" b="0" dirty="0" err="1"/>
              <a:t>raportuar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Wu et al., </a:t>
            </a:r>
            <a:r>
              <a:rPr lang="en-US" sz="1600" b="0" dirty="0" err="1"/>
              <a:t>sepse</a:t>
            </a:r>
            <a:r>
              <a:rPr lang="en-US" sz="1600" b="0" dirty="0"/>
              <a:t> </a:t>
            </a:r>
            <a:r>
              <a:rPr lang="en-US" sz="1600" b="0" dirty="0" err="1"/>
              <a:t>paraqet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implementim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plotë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qartë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sistemi</a:t>
            </a:r>
            <a:r>
              <a:rPr lang="en-US" sz="1600" b="0" dirty="0"/>
              <a:t> wearable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monitorim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distancë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b="0" dirty="0" err="1"/>
              <a:t>Sistemi</a:t>
            </a:r>
            <a:r>
              <a:rPr lang="en-US" sz="1600" b="0" dirty="0"/>
              <a:t>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ndërtuar</a:t>
            </a:r>
            <a:r>
              <a:rPr lang="en-US" sz="1600" b="0" dirty="0"/>
              <a:t> </a:t>
            </a:r>
            <a:r>
              <a:rPr lang="en-US" sz="1600" b="0" dirty="0" err="1"/>
              <a:t>sipas</a:t>
            </a:r>
            <a:r>
              <a:rPr lang="en-US" sz="1600" b="0" dirty="0"/>
              <a:t> </a:t>
            </a:r>
            <a:r>
              <a:rPr lang="en-US" sz="1600" b="0" dirty="0" err="1"/>
              <a:t>modelit</a:t>
            </a:r>
            <a:r>
              <a:rPr lang="en-US" sz="1600" b="0" dirty="0"/>
              <a:t> one-to-many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përbëhet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</a:t>
            </a:r>
            <a:r>
              <a:rPr lang="en-US" sz="1600" b="0" dirty="0" err="1"/>
              <a:t>katër</a:t>
            </a:r>
            <a:r>
              <a:rPr lang="en-US" sz="1600" b="0" dirty="0"/>
              <a:t> </a:t>
            </a:r>
            <a:r>
              <a:rPr lang="en-US" sz="1600" b="0" dirty="0" err="1"/>
              <a:t>blloqe</a:t>
            </a:r>
            <a:r>
              <a:rPr lang="en-US" sz="1600" b="0" dirty="0"/>
              <a:t> </a:t>
            </a:r>
            <a:r>
              <a:rPr lang="en-US" sz="1600" b="0" dirty="0" err="1"/>
              <a:t>kryesore</a:t>
            </a:r>
            <a:r>
              <a:rPr lang="en-US" sz="1600" b="0" dirty="0"/>
              <a:t>: ora wearable </a:t>
            </a:r>
            <a:r>
              <a:rPr lang="en-US" sz="1600" b="0" dirty="0" err="1"/>
              <a:t>te</a:t>
            </a:r>
            <a:r>
              <a:rPr lang="en-US" sz="1600" b="0" dirty="0"/>
              <a:t> </a:t>
            </a:r>
            <a:r>
              <a:rPr lang="en-US" sz="1600" b="0" dirty="0" err="1"/>
              <a:t>përdoruesi</a:t>
            </a:r>
            <a:r>
              <a:rPr lang="en-US" sz="1600" b="0" dirty="0"/>
              <a:t>, mini-</a:t>
            </a:r>
            <a:r>
              <a:rPr lang="en-US" sz="1600" b="0" dirty="0" err="1"/>
              <a:t>kompjuteri</a:t>
            </a:r>
            <a:r>
              <a:rPr lang="en-US" sz="1600" b="0" dirty="0"/>
              <a:t> </a:t>
            </a:r>
            <a:r>
              <a:rPr lang="en-US" sz="1600" b="0" dirty="0" err="1"/>
              <a:t>lokal</a:t>
            </a:r>
            <a:r>
              <a:rPr lang="en-US" sz="1600" b="0" dirty="0"/>
              <a:t>, </a:t>
            </a:r>
            <a:r>
              <a:rPr lang="en-US" sz="1600" b="0" dirty="0" err="1"/>
              <a:t>serveri</a:t>
            </a:r>
            <a:r>
              <a:rPr lang="en-US" sz="1600" b="0" dirty="0"/>
              <a:t> cloud me </a:t>
            </a:r>
            <a:r>
              <a:rPr lang="en-US" sz="1600" b="0" dirty="0" err="1"/>
              <a:t>databazë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terminali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monitorimit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stafin</a:t>
            </a:r>
            <a:r>
              <a:rPr lang="en-US" sz="1600" b="0" dirty="0"/>
              <a:t> </a:t>
            </a:r>
            <a:r>
              <a:rPr lang="en-US" sz="1600" b="0" dirty="0" err="1"/>
              <a:t>shëndetësor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nivelin</a:t>
            </a:r>
            <a:r>
              <a:rPr lang="en-US" sz="1600" b="0" dirty="0"/>
              <a:t> e </a:t>
            </a:r>
            <a:r>
              <a:rPr lang="en-US" sz="1600" b="0" dirty="0" err="1"/>
              <a:t>sensorikës</a:t>
            </a:r>
            <a:r>
              <a:rPr lang="en-US" sz="1600" b="0" dirty="0"/>
              <a:t>, </a:t>
            </a:r>
            <a:r>
              <a:rPr lang="en-US" sz="1600" b="0" dirty="0" err="1"/>
              <a:t>sistemi</a:t>
            </a:r>
            <a:r>
              <a:rPr lang="en-US" sz="1600" b="0" dirty="0"/>
              <a:t> </a:t>
            </a:r>
            <a:r>
              <a:rPr lang="en-US" sz="1600" b="0" dirty="0" err="1"/>
              <a:t>fokusohet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tre</a:t>
            </a:r>
            <a:r>
              <a:rPr lang="en-US" sz="1600" b="0" dirty="0"/>
              <a:t> </a:t>
            </a:r>
            <a:r>
              <a:rPr lang="en-US" sz="1600" b="0" dirty="0" err="1"/>
              <a:t>parametra</a:t>
            </a:r>
            <a:r>
              <a:rPr lang="en-US" sz="1600" b="0" dirty="0"/>
              <a:t> </a:t>
            </a:r>
            <a:r>
              <a:rPr lang="en-US" sz="1600" b="0" dirty="0" err="1"/>
              <a:t>vitalë</a:t>
            </a:r>
            <a:r>
              <a:rPr lang="en-US" sz="1600" b="0" dirty="0"/>
              <a:t>: </a:t>
            </a:r>
            <a:r>
              <a:rPr lang="en-US" sz="1600" b="0" dirty="0" err="1"/>
              <a:t>temperaturën</a:t>
            </a:r>
            <a:r>
              <a:rPr lang="en-US" sz="1600" b="0" dirty="0"/>
              <a:t> e </a:t>
            </a:r>
            <a:r>
              <a:rPr lang="en-US" sz="1600" b="0" dirty="0" err="1"/>
              <a:t>trupit</a:t>
            </a:r>
            <a:r>
              <a:rPr lang="en-US" sz="1600" b="0" dirty="0"/>
              <a:t>, SpO2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rrahjet</a:t>
            </a:r>
            <a:r>
              <a:rPr lang="en-US" sz="1600" b="0" dirty="0"/>
              <a:t> e </a:t>
            </a:r>
            <a:r>
              <a:rPr lang="en-US" sz="1600" b="0" dirty="0" err="1"/>
              <a:t>zemrës</a:t>
            </a:r>
            <a:r>
              <a:rPr lang="en-US" sz="1600" b="0" dirty="0"/>
              <a:t>. Ora </a:t>
            </a:r>
            <a:r>
              <a:rPr lang="en-US" sz="1600" b="0" dirty="0" err="1"/>
              <a:t>transmeton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dhënat</a:t>
            </a:r>
            <a:r>
              <a:rPr lang="en-US" sz="1600" b="0" dirty="0"/>
              <a:t> me BLE </a:t>
            </a:r>
            <a:r>
              <a:rPr lang="en-US" sz="1600" b="0" dirty="0" err="1"/>
              <a:t>drejt</a:t>
            </a:r>
            <a:r>
              <a:rPr lang="en-US" sz="1600" b="0" dirty="0"/>
              <a:t> mini-</a:t>
            </a:r>
            <a:r>
              <a:rPr lang="en-US" sz="1600" b="0" dirty="0" err="1"/>
              <a:t>kompjuterit</a:t>
            </a:r>
            <a:r>
              <a:rPr lang="en-US" sz="1600" b="0" dirty="0"/>
              <a:t>, </a:t>
            </a:r>
            <a:r>
              <a:rPr lang="en-US" sz="1600" b="0" dirty="0" err="1"/>
              <a:t>ndërsa</a:t>
            </a:r>
            <a:r>
              <a:rPr lang="en-US" sz="1600" b="0" dirty="0"/>
              <a:t> mini-</a:t>
            </a:r>
            <a:r>
              <a:rPr lang="en-US" sz="1600" b="0" dirty="0" err="1"/>
              <a:t>kompjuteri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dërgon</a:t>
            </a:r>
            <a:r>
              <a:rPr lang="en-US" sz="1600" b="0" dirty="0"/>
              <a:t> </a:t>
            </a:r>
            <a:r>
              <a:rPr lang="en-US" sz="1600" b="0" dirty="0" err="1"/>
              <a:t>ato</a:t>
            </a:r>
            <a:r>
              <a:rPr lang="en-US" sz="1600" b="0" dirty="0"/>
              <a:t> </a:t>
            </a:r>
            <a:r>
              <a:rPr lang="en-US" sz="1600" b="0" dirty="0" err="1"/>
              <a:t>drejt</a:t>
            </a:r>
            <a:r>
              <a:rPr lang="en-US" sz="1600" b="0" dirty="0"/>
              <a:t> cloud-it </a:t>
            </a:r>
            <a:r>
              <a:rPr lang="en-US" sz="1600" b="0" dirty="0" err="1"/>
              <a:t>përmes</a:t>
            </a:r>
            <a:r>
              <a:rPr lang="en-US" sz="1600" b="0" dirty="0"/>
              <a:t> Wi-Fi </a:t>
            </a:r>
            <a:r>
              <a:rPr lang="en-US" sz="1600" b="0" dirty="0" err="1"/>
              <a:t>ose</a:t>
            </a:r>
            <a:r>
              <a:rPr lang="en-US" sz="1600" b="0" dirty="0"/>
              <a:t> LAN. </a:t>
            </a:r>
            <a:endParaRPr lang="sq-AL" sz="1600" b="0" dirty="0"/>
          </a:p>
          <a:p>
            <a:r>
              <a:rPr lang="en-US" sz="1600" b="0" dirty="0" err="1"/>
              <a:t>Kjo</a:t>
            </a:r>
            <a:r>
              <a:rPr lang="en-US" sz="1600" b="0" dirty="0"/>
              <a:t> </a:t>
            </a:r>
            <a:r>
              <a:rPr lang="en-US" sz="1600" b="0" dirty="0" err="1"/>
              <a:t>arkitekturë</a:t>
            </a:r>
            <a:r>
              <a:rPr lang="en-US" sz="1600" b="0" dirty="0"/>
              <a:t>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teknikisht</a:t>
            </a:r>
            <a:r>
              <a:rPr lang="en-US" sz="1600" b="0" dirty="0"/>
              <a:t> e </a:t>
            </a:r>
            <a:r>
              <a:rPr lang="en-US" sz="1600" b="0" dirty="0" err="1"/>
              <a:t>arsyeshme</a:t>
            </a:r>
            <a:r>
              <a:rPr lang="en-US" sz="1600" b="0" dirty="0"/>
              <a:t>, </a:t>
            </a:r>
            <a:r>
              <a:rPr lang="en-US" sz="1600" b="0" dirty="0" err="1"/>
              <a:t>sepse</a:t>
            </a:r>
            <a:r>
              <a:rPr lang="en-US" sz="1600" b="0" dirty="0"/>
              <a:t> BLE </a:t>
            </a:r>
            <a:r>
              <a:rPr lang="en-US" sz="1600" b="0" dirty="0" err="1"/>
              <a:t>mbulon</a:t>
            </a:r>
            <a:r>
              <a:rPr lang="en-US" sz="1600" b="0" dirty="0"/>
              <a:t> </a:t>
            </a:r>
            <a:r>
              <a:rPr lang="en-US" sz="1600" b="0" dirty="0" err="1"/>
              <a:t>komunikimin</a:t>
            </a:r>
            <a:r>
              <a:rPr lang="en-US" sz="1600" b="0" dirty="0"/>
              <a:t> me </a:t>
            </a:r>
            <a:r>
              <a:rPr lang="en-US" sz="1600" b="0" dirty="0" err="1"/>
              <a:t>konsum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ulët</a:t>
            </a:r>
            <a:r>
              <a:rPr lang="en-US" sz="1600" b="0" dirty="0"/>
              <a:t> </a:t>
            </a:r>
            <a:r>
              <a:rPr lang="en-US" sz="1600" b="0" dirty="0" err="1"/>
              <a:t>energjie</a:t>
            </a:r>
            <a:r>
              <a:rPr lang="en-US" sz="1600" b="0" dirty="0"/>
              <a:t>, </a:t>
            </a:r>
            <a:r>
              <a:rPr lang="en-US" sz="1600" b="0" dirty="0" err="1"/>
              <a:t>ndërsa</a:t>
            </a:r>
            <a:r>
              <a:rPr lang="en-US" sz="1600" b="0" dirty="0"/>
              <a:t> Wi-Fi/LAN </a:t>
            </a:r>
            <a:r>
              <a:rPr lang="en-US" sz="1600" b="0" dirty="0" err="1"/>
              <a:t>ofron</a:t>
            </a:r>
            <a:r>
              <a:rPr lang="en-US" sz="1600" b="0" dirty="0"/>
              <a:t> transport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fuqishëm</a:t>
            </a:r>
            <a:r>
              <a:rPr lang="en-US" sz="1600" b="0" dirty="0"/>
              <a:t> </a:t>
            </a:r>
            <a:r>
              <a:rPr lang="en-US" sz="1600" b="0" dirty="0" err="1"/>
              <a:t>drejt</a:t>
            </a:r>
            <a:r>
              <a:rPr lang="en-US" sz="1600" b="0" dirty="0"/>
              <a:t> backend-it. </a:t>
            </a:r>
            <a:r>
              <a:rPr lang="en-US" sz="1600" b="0" dirty="0" err="1"/>
              <a:t>Ndërfaqja</a:t>
            </a:r>
            <a:r>
              <a:rPr lang="en-US" sz="1600" b="0" dirty="0"/>
              <a:t> web </a:t>
            </a:r>
            <a:r>
              <a:rPr lang="en-US" sz="1600" b="0" dirty="0" err="1"/>
              <a:t>mundëson</a:t>
            </a:r>
            <a:r>
              <a:rPr lang="en-US" sz="1600" b="0" dirty="0"/>
              <a:t> </a:t>
            </a:r>
            <a:r>
              <a:rPr lang="en-US" sz="1600" b="0" dirty="0" err="1"/>
              <a:t>monitorim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shumë</a:t>
            </a:r>
            <a:r>
              <a:rPr lang="en-US" sz="1600" b="0" dirty="0"/>
              <a:t> </a:t>
            </a:r>
            <a:r>
              <a:rPr lang="en-US" sz="1600" b="0" dirty="0" err="1"/>
              <a:t>përdoruesve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vizualizim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kohë</a:t>
            </a:r>
            <a:r>
              <a:rPr lang="en-US" sz="1600" b="0" dirty="0"/>
              <a:t> </a:t>
            </a:r>
            <a:r>
              <a:rPr lang="en-US" sz="1600" b="0" dirty="0" err="1"/>
              <a:t>reale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parametrave</a:t>
            </a:r>
            <a:r>
              <a:rPr lang="en-US" sz="16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1221D82-775B-54CF-8341-6EBB6FC6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65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4DB0-3BA0-29B2-F1AF-C0FD4CBB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445CC9-A1F8-F8FC-BBB1-779006020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D474C8-3683-8CFC-45FD-84F09F57F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587" y="228153"/>
            <a:ext cx="8697539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21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BD34-5B88-59BD-72C0-D95C13C0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316F-726B-AD0E-C9B6-F688C51B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b="1" dirty="0"/>
              <a:t>KOMPONENTËT KRYESORË TË ZGJIDHJES TË ANALIZUAR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700C96-AF74-94B5-BDC7-DAB11704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A66F226-0429-2698-AED9-208E7FAE4C1E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664485357"/>
              </p:ext>
            </p:extLst>
          </p:nvPr>
        </p:nvGraphicFramePr>
        <p:xfrm>
          <a:off x="838200" y="2401594"/>
          <a:ext cx="10515601" cy="299054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319429">
                  <a:extLst>
                    <a:ext uri="{9D8B030D-6E8A-4147-A177-3AD203B41FA5}">
                      <a16:colId xmlns:a16="http://schemas.microsoft.com/office/drawing/2014/main" val="2601910714"/>
                    </a:ext>
                  </a:extLst>
                </a:gridCol>
                <a:gridCol w="6196172">
                  <a:extLst>
                    <a:ext uri="{9D8B030D-6E8A-4147-A177-3AD203B41FA5}">
                      <a16:colId xmlns:a16="http://schemas.microsoft.com/office/drawing/2014/main" val="2317752731"/>
                    </a:ext>
                  </a:extLst>
                </a:gridCol>
              </a:tblGrid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Komponenti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Roli në sistem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2738043839"/>
                  </a:ext>
                </a:extLst>
              </a:tr>
              <a:tr h="51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Ora anti-epidemike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Mbledh temperaturën, HR dhe SpO2; transmeton sinjalin BLE; shërben si pajisje wearable kryesore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695185570"/>
                  </a:ext>
                </a:extLst>
              </a:tr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Arduino Nano 33 BLE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Vepron si MCU kryesor i orës, menaxhon sensorët dhe transmetimin BLE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3719233322"/>
                  </a:ext>
                </a:extLst>
              </a:tr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MAX30102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Mat rrahjet e zemrës dhe SpO2 përmes PPG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2951081634"/>
                  </a:ext>
                </a:extLst>
              </a:tr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MF5B thermistor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Mat temperaturën në kyçin e dorës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3730839390"/>
                  </a:ext>
                </a:extLst>
              </a:tr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Mini-kompjuteri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Pranon sinjalin nga ora, e përpunon, e shfaq lokalisht dhe e ngarkon në cloud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2904913426"/>
                  </a:ext>
                </a:extLst>
              </a:tr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Raspberry Pi 3B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Platforma qendrore e mini-kompjuterit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3433837543"/>
                  </a:ext>
                </a:extLst>
              </a:tr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Cloud server + database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Ruajnë dhe ofrojnë të dhënat për monitorim të mëvonshëm dhe në kohë reale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2790299627"/>
                  </a:ext>
                </a:extLst>
              </a:tr>
              <a:tr h="3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Web terminal</a:t>
                      </a:r>
                    </a:p>
                  </a:txBody>
                  <a:tcPr marL="69466" marR="69466" marT="34733" marB="347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Lejon monitorimin e shumë përdoruesve nga stafi shëndetësor</a:t>
                      </a:r>
                    </a:p>
                  </a:txBody>
                  <a:tcPr marL="69466" marR="69466" marT="34733" marB="34733" anchor="ctr"/>
                </a:tc>
                <a:extLst>
                  <a:ext uri="{0D108BD9-81ED-4DB2-BD59-A6C34878D82A}">
                    <a16:rowId xmlns:a16="http://schemas.microsoft.com/office/drawing/2014/main" val="1453178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33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9A6A-EEA2-87B6-2396-F1D1B5D6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18BA-5316-D16E-BCF3-65E6A9E9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b="1" dirty="0"/>
              <a:t>PARAMETRAT KRYESORË TË MONITORUAR NË ZGJIDHJEN E ANALIZUAR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4CC9F1-5746-3783-BDC9-26678D99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4D6C65-C115-B599-2A69-0009695F78FD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8547832"/>
              </p:ext>
            </p:extLst>
          </p:nvPr>
        </p:nvGraphicFramePr>
        <p:xfrm>
          <a:off x="1197013" y="2111381"/>
          <a:ext cx="9797974" cy="357096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203632">
                  <a:extLst>
                    <a:ext uri="{9D8B030D-6E8A-4147-A177-3AD203B41FA5}">
                      <a16:colId xmlns:a16="http://schemas.microsoft.com/office/drawing/2014/main" val="205815931"/>
                    </a:ext>
                  </a:extLst>
                </a:gridCol>
                <a:gridCol w="2462364">
                  <a:extLst>
                    <a:ext uri="{9D8B030D-6E8A-4147-A177-3AD203B41FA5}">
                      <a16:colId xmlns:a16="http://schemas.microsoft.com/office/drawing/2014/main" val="998979109"/>
                    </a:ext>
                  </a:extLst>
                </a:gridCol>
                <a:gridCol w="2573042">
                  <a:extLst>
                    <a:ext uri="{9D8B030D-6E8A-4147-A177-3AD203B41FA5}">
                      <a16:colId xmlns:a16="http://schemas.microsoft.com/office/drawing/2014/main" val="601943534"/>
                    </a:ext>
                  </a:extLst>
                </a:gridCol>
                <a:gridCol w="2558936">
                  <a:extLst>
                    <a:ext uri="{9D8B030D-6E8A-4147-A177-3AD203B41FA5}">
                      <a16:colId xmlns:a16="http://schemas.microsoft.com/office/drawing/2014/main" val="3548935180"/>
                    </a:ext>
                  </a:extLst>
                </a:gridCol>
              </a:tblGrid>
              <a:tr h="351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Parametri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Sensori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Qëllimi klinik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Vërejtje teknike</a:t>
                      </a:r>
                    </a:p>
                  </a:txBody>
                  <a:tcPr marL="78657" marR="78657" marT="39329" marB="39329" anchor="ctr"/>
                </a:tc>
                <a:extLst>
                  <a:ext uri="{0D108BD9-81ED-4DB2-BD59-A6C34878D82A}">
                    <a16:rowId xmlns:a16="http://schemas.microsoft.com/office/drawing/2014/main" val="16148033"/>
                  </a:ext>
                </a:extLst>
              </a:tr>
              <a:tr h="80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Temperatura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MF5B thermistor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500"/>
                        <a:t>Zbulim i gjendjes febrile dhe konfirmim i mbajtjes së pajisjes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Mat temperaturën në kyçin e dorës, theksi te trendi, jo te vlera absolute</a:t>
                      </a:r>
                    </a:p>
                  </a:txBody>
                  <a:tcPr marL="78657" marR="78657" marT="39329" marB="39329" anchor="ctr"/>
                </a:tc>
                <a:extLst>
                  <a:ext uri="{0D108BD9-81ED-4DB2-BD59-A6C34878D82A}">
                    <a16:rowId xmlns:a16="http://schemas.microsoft.com/office/drawing/2014/main" val="1526413524"/>
                  </a:ext>
                </a:extLst>
              </a:tr>
              <a:tr h="80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Heart Rate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MAX30102 (PPG)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Vlerësim i statusit kardiak dhe ndryshimeve akute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Llogaritet nga sinjali optik me valë të kuqe dhe infra të kuqe</a:t>
                      </a:r>
                    </a:p>
                  </a:txBody>
                  <a:tcPr marL="78657" marR="78657" marT="39329" marB="39329" anchor="ctr"/>
                </a:tc>
                <a:extLst>
                  <a:ext uri="{0D108BD9-81ED-4DB2-BD59-A6C34878D82A}">
                    <a16:rowId xmlns:a16="http://schemas.microsoft.com/office/drawing/2014/main" val="1305621936"/>
                  </a:ext>
                </a:extLst>
              </a:tr>
              <a:tr h="80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SpO2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MAX30102 (PPG)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500"/>
                        <a:t>Monitorim i oksigjenimit periferik dhe statusit respirator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Autorët theksojnë se kalibrimi i plotë kërkon punë shtesë</a:t>
                      </a:r>
                    </a:p>
                  </a:txBody>
                  <a:tcPr marL="78657" marR="78657" marT="39329" marB="39329" anchor="ctr"/>
                </a:tc>
                <a:extLst>
                  <a:ext uri="{0D108BD9-81ED-4DB2-BD59-A6C34878D82A}">
                    <a16:rowId xmlns:a16="http://schemas.microsoft.com/office/drawing/2014/main" val="193209584"/>
                  </a:ext>
                </a:extLst>
              </a:tr>
              <a:tr h="80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Vendndodhja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BLE RSSI + MAC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Vërtetim nëse përdoruesi është brenda apo jashtë zonës së lejuar</a:t>
                      </a:r>
                    </a:p>
                  </a:txBody>
                  <a:tcPr marL="78657" marR="78657" marT="39329" marB="3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Vlerësim relativ indoor/outdoor, jo lokalizim absolut</a:t>
                      </a:r>
                    </a:p>
                  </a:txBody>
                  <a:tcPr marL="78657" marR="78657" marT="39329" marB="39329" anchor="ctr"/>
                </a:tc>
                <a:extLst>
                  <a:ext uri="{0D108BD9-81ED-4DB2-BD59-A6C34878D82A}">
                    <a16:rowId xmlns:a16="http://schemas.microsoft.com/office/drawing/2014/main" val="3628059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775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9A23D-1FCB-BBE1-938C-CBF6A70F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5F0B-1012-C087-65E7-8857BFF1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B. </a:t>
            </a:r>
            <a:r>
              <a:rPr lang="en-US" b="1" dirty="0" err="1"/>
              <a:t>Kufizimet</a:t>
            </a:r>
            <a:r>
              <a:rPr lang="en-US" b="1" dirty="0"/>
              <a:t> e </a:t>
            </a:r>
            <a:r>
              <a:rPr lang="en-US" b="1" dirty="0" err="1"/>
              <a:t>zgjidhjes</a:t>
            </a:r>
            <a:r>
              <a:rPr lang="en-US" b="1" dirty="0"/>
              <a:t> </a:t>
            </a:r>
            <a:r>
              <a:rPr lang="en-US" b="1" dirty="0" err="1"/>
              <a:t>së</a:t>
            </a:r>
            <a:r>
              <a:rPr lang="en-US" b="1" dirty="0"/>
              <a:t> </a:t>
            </a:r>
            <a:r>
              <a:rPr lang="en-US" b="1" dirty="0" err="1"/>
              <a:t>analizuar</a:t>
            </a:r>
            <a:r>
              <a:rPr lang="en-US" b="1" dirty="0"/>
              <a:t> </a:t>
            </a:r>
            <a:r>
              <a:rPr lang="en-US" b="1" dirty="0" err="1"/>
              <a:t>dhe</a:t>
            </a:r>
            <a:r>
              <a:rPr lang="en-US" b="1" dirty="0"/>
              <a:t> </a:t>
            </a:r>
            <a:r>
              <a:rPr lang="en-US" b="1" dirty="0" err="1"/>
              <a:t>nevoja</a:t>
            </a:r>
            <a:r>
              <a:rPr lang="en-US" b="1" dirty="0"/>
              <a:t> </a:t>
            </a:r>
            <a:r>
              <a:rPr lang="en-US" b="1" dirty="0" err="1"/>
              <a:t>për</a:t>
            </a:r>
            <a:r>
              <a:rPr lang="en-US" b="1" dirty="0"/>
              <a:t> </a:t>
            </a:r>
            <a:r>
              <a:rPr lang="en-US" b="1" dirty="0" err="1"/>
              <a:t>përmirësim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23BB2-E3D5-3C4D-5673-C73294F0C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8"/>
            <a:ext cx="8154917" cy="4304471"/>
          </a:xfrm>
        </p:spPr>
        <p:txBody>
          <a:bodyPr>
            <a:normAutofit/>
          </a:bodyPr>
          <a:lstStyle/>
          <a:p>
            <a:r>
              <a:rPr lang="en-US" sz="1600" b="0" dirty="0" err="1"/>
              <a:t>Edhe</a:t>
            </a:r>
            <a:r>
              <a:rPr lang="en-US" sz="1600" b="0" dirty="0"/>
              <a:t> </a:t>
            </a:r>
            <a:r>
              <a:rPr lang="en-US" sz="1600" b="0" dirty="0" err="1"/>
              <a:t>pse</a:t>
            </a:r>
            <a:r>
              <a:rPr lang="en-US" sz="1600" b="0" dirty="0"/>
              <a:t> </a:t>
            </a:r>
            <a:r>
              <a:rPr lang="en-US" sz="1600" b="0" dirty="0" err="1"/>
              <a:t>zgjidhja</a:t>
            </a:r>
            <a:r>
              <a:rPr lang="en-US" sz="1600" b="0" dirty="0"/>
              <a:t> e </a:t>
            </a:r>
            <a:r>
              <a:rPr lang="en-US" sz="1600" b="0" dirty="0" err="1"/>
              <a:t>analizuar</a:t>
            </a:r>
            <a:r>
              <a:rPr lang="en-US" sz="1600" b="0" dirty="0"/>
              <a:t>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funksionale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e </a:t>
            </a:r>
            <a:r>
              <a:rPr lang="en-US" sz="1600" b="0" dirty="0" err="1"/>
              <a:t>përdorshme</a:t>
            </a:r>
            <a:r>
              <a:rPr lang="en-US" sz="1600" b="0" dirty="0"/>
              <a:t>, ajo ka </a:t>
            </a:r>
            <a:r>
              <a:rPr lang="en-US" sz="1600" b="0" dirty="0" err="1"/>
              <a:t>kufizime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qarta</a:t>
            </a:r>
            <a:r>
              <a:rPr lang="en-US" sz="1600" b="0" dirty="0"/>
              <a:t> </a:t>
            </a:r>
            <a:r>
              <a:rPr lang="en-US" sz="1600" b="0" dirty="0" err="1"/>
              <a:t>inxhinierike</a:t>
            </a:r>
            <a:r>
              <a:rPr lang="en-US" sz="1600" b="0" dirty="0"/>
              <a:t>. </a:t>
            </a:r>
            <a:r>
              <a:rPr lang="en-US" sz="1600" b="0" dirty="0" err="1"/>
              <a:t>Vendimmarrja</a:t>
            </a:r>
            <a:r>
              <a:rPr lang="en-US" sz="1600" b="0" dirty="0"/>
              <a:t> </a:t>
            </a:r>
            <a:r>
              <a:rPr lang="en-US" sz="1600" b="0" dirty="0" err="1"/>
              <a:t>klinike</a:t>
            </a:r>
            <a:r>
              <a:rPr lang="en-US" sz="1600" b="0" dirty="0"/>
              <a:t> </a:t>
            </a:r>
            <a:r>
              <a:rPr lang="en-US" sz="1600" b="0" dirty="0" err="1"/>
              <a:t>mbështetet</a:t>
            </a:r>
            <a:r>
              <a:rPr lang="en-US" sz="1600" b="0" dirty="0"/>
              <a:t> </a:t>
            </a:r>
            <a:r>
              <a:rPr lang="en-US" sz="1600" b="0" dirty="0" err="1"/>
              <a:t>ende</a:t>
            </a:r>
            <a:r>
              <a:rPr lang="en-US" sz="1600" b="0" dirty="0"/>
              <a:t> </a:t>
            </a:r>
            <a:r>
              <a:rPr lang="en-US" sz="1600" b="0" dirty="0" err="1"/>
              <a:t>kryesisht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logjikën</a:t>
            </a:r>
            <a:r>
              <a:rPr lang="en-US" sz="1600" b="0" dirty="0"/>
              <a:t> e </a:t>
            </a:r>
            <a:r>
              <a:rPr lang="en-US" sz="1600" b="0" dirty="0" err="1"/>
              <a:t>pragjeve</a:t>
            </a:r>
            <a:r>
              <a:rPr lang="en-US" sz="1600" b="0" dirty="0"/>
              <a:t> </a:t>
            </a:r>
            <a:r>
              <a:rPr lang="en-US" sz="1600" b="0" dirty="0" err="1"/>
              <a:t>statike</a:t>
            </a:r>
            <a:r>
              <a:rPr lang="en-US" sz="1600" b="0" dirty="0"/>
              <a:t>, </a:t>
            </a:r>
            <a:r>
              <a:rPr lang="en-US" sz="1600" b="0" dirty="0" err="1"/>
              <a:t>çka</a:t>
            </a:r>
            <a:r>
              <a:rPr lang="en-US" sz="1600" b="0" dirty="0"/>
              <a:t> do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thotë</a:t>
            </a:r>
            <a:r>
              <a:rPr lang="en-US" sz="1600" b="0" dirty="0"/>
              <a:t> se </a:t>
            </a:r>
            <a:r>
              <a:rPr lang="en-US" sz="1600" b="0" dirty="0" err="1"/>
              <a:t>sistemi</a:t>
            </a:r>
            <a:r>
              <a:rPr lang="en-US" sz="1600" b="0" dirty="0"/>
              <a:t> </a:t>
            </a:r>
            <a:r>
              <a:rPr lang="en-US" sz="1600" b="0" dirty="0" err="1"/>
              <a:t>alarmon</a:t>
            </a:r>
            <a:r>
              <a:rPr lang="en-US" sz="1600" b="0" dirty="0"/>
              <a:t> </a:t>
            </a:r>
            <a:r>
              <a:rPr lang="en-US" sz="1600" b="0" dirty="0" err="1"/>
              <a:t>pasi</a:t>
            </a:r>
            <a:r>
              <a:rPr lang="en-US" sz="1600" b="0" dirty="0"/>
              <a:t> </a:t>
            </a:r>
            <a:r>
              <a:rPr lang="en-US" sz="1600" b="0" dirty="0" err="1"/>
              <a:t>parametri</a:t>
            </a:r>
            <a:r>
              <a:rPr lang="en-US" sz="1600" b="0" dirty="0"/>
              <a:t> e ka </a:t>
            </a:r>
            <a:r>
              <a:rPr lang="en-US" sz="1600" b="0" dirty="0" err="1"/>
              <a:t>kaluar</a:t>
            </a:r>
            <a:r>
              <a:rPr lang="en-US" sz="1600" b="0" dirty="0"/>
              <a:t> </a:t>
            </a:r>
            <a:r>
              <a:rPr lang="en-US" sz="1600" b="0" dirty="0" err="1"/>
              <a:t>kufirin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jo </a:t>
            </a:r>
            <a:r>
              <a:rPr lang="en-US" sz="1600" b="0" dirty="0" err="1"/>
              <a:t>kur</a:t>
            </a:r>
            <a:r>
              <a:rPr lang="en-US" sz="1600" b="0" dirty="0"/>
              <a:t> </a:t>
            </a:r>
            <a:r>
              <a:rPr lang="en-US" sz="1600" b="0" dirty="0" err="1"/>
              <a:t>profili</a:t>
            </a:r>
            <a:r>
              <a:rPr lang="en-US" sz="1600" b="0" dirty="0"/>
              <a:t> po </a:t>
            </a:r>
            <a:r>
              <a:rPr lang="en-US" sz="1600" b="0" dirty="0" err="1"/>
              <a:t>lëviz</a:t>
            </a:r>
            <a:r>
              <a:rPr lang="en-US" sz="1600" b="0" dirty="0"/>
              <a:t> </a:t>
            </a:r>
            <a:r>
              <a:rPr lang="en-US" sz="1600" b="0" dirty="0" err="1"/>
              <a:t>gradualisht</a:t>
            </a:r>
            <a:r>
              <a:rPr lang="en-US" sz="1600" b="0" dirty="0"/>
              <a:t> </a:t>
            </a:r>
            <a:r>
              <a:rPr lang="en-US" sz="1600" b="0" dirty="0" err="1"/>
              <a:t>drejt</a:t>
            </a:r>
            <a:r>
              <a:rPr lang="en-US" sz="1600" b="0" dirty="0"/>
              <a:t> </a:t>
            </a:r>
            <a:r>
              <a:rPr lang="en-US" sz="1600" b="0" dirty="0" err="1"/>
              <a:t>riskut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kufizim</a:t>
            </a:r>
            <a:r>
              <a:rPr lang="en-US" sz="1600" b="0" dirty="0"/>
              <a:t> </a:t>
            </a:r>
            <a:r>
              <a:rPr lang="en-US" sz="1600" b="0" dirty="0" err="1"/>
              <a:t>tjetër</a:t>
            </a:r>
            <a:r>
              <a:rPr lang="en-US" sz="1600" b="0" dirty="0"/>
              <a:t>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varësia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</a:t>
            </a:r>
            <a:r>
              <a:rPr lang="en-US" sz="1600" b="0" dirty="0" err="1"/>
              <a:t>rrjedha</a:t>
            </a:r>
            <a:r>
              <a:rPr lang="en-US" sz="1600" b="0" dirty="0"/>
              <a:t> </a:t>
            </a:r>
            <a:r>
              <a:rPr lang="en-US" sz="1600" b="0" dirty="0" err="1"/>
              <a:t>korrekte</a:t>
            </a:r>
            <a:r>
              <a:rPr lang="en-US" sz="1600" b="0" dirty="0"/>
              <a:t> e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dhënave</a:t>
            </a:r>
            <a:r>
              <a:rPr lang="en-US" sz="1600" b="0" dirty="0"/>
              <a:t> </a:t>
            </a:r>
            <a:r>
              <a:rPr lang="en-US" sz="1600" b="0" dirty="0" err="1"/>
              <a:t>nëpër</a:t>
            </a:r>
            <a:r>
              <a:rPr lang="en-US" sz="1600" b="0" dirty="0"/>
              <a:t> module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ndryshme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rrjetit</a:t>
            </a:r>
            <a:r>
              <a:rPr lang="en-US" sz="1600" b="0" dirty="0"/>
              <a:t>, </a:t>
            </a:r>
            <a:r>
              <a:rPr lang="en-US" sz="1600" b="0" dirty="0" err="1"/>
              <a:t>ku</a:t>
            </a:r>
            <a:r>
              <a:rPr lang="en-US" sz="1600" b="0" dirty="0"/>
              <a:t> </a:t>
            </a:r>
            <a:r>
              <a:rPr lang="en-US" sz="1600" b="0" dirty="0" err="1"/>
              <a:t>humbja</a:t>
            </a:r>
            <a:r>
              <a:rPr lang="en-US" sz="1600" b="0" dirty="0"/>
              <a:t> e </a:t>
            </a:r>
            <a:r>
              <a:rPr lang="en-US" sz="1600" b="0" dirty="0" err="1"/>
              <a:t>paketave</a:t>
            </a:r>
            <a:r>
              <a:rPr lang="en-US" sz="1600" b="0" dirty="0"/>
              <a:t> </a:t>
            </a:r>
            <a:r>
              <a:rPr lang="en-US" sz="1600" b="0" dirty="0" err="1"/>
              <a:t>ose</a:t>
            </a:r>
            <a:r>
              <a:rPr lang="en-US" sz="1600" b="0" dirty="0"/>
              <a:t> </a:t>
            </a:r>
            <a:r>
              <a:rPr lang="en-US" sz="1600" b="0" dirty="0" err="1"/>
              <a:t>vonesat</a:t>
            </a:r>
            <a:r>
              <a:rPr lang="en-US" sz="1600" b="0" dirty="0"/>
              <a:t> </a:t>
            </a:r>
            <a:r>
              <a:rPr lang="en-US" sz="1600" b="0" dirty="0" err="1"/>
              <a:t>mund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ulin</a:t>
            </a:r>
            <a:r>
              <a:rPr lang="en-US" sz="1600" b="0" dirty="0"/>
              <a:t> </a:t>
            </a:r>
            <a:r>
              <a:rPr lang="en-US" sz="1600" b="0" dirty="0" err="1"/>
              <a:t>cilësinë</a:t>
            </a:r>
            <a:r>
              <a:rPr lang="en-US" sz="1600" b="0" dirty="0"/>
              <a:t> e </a:t>
            </a:r>
            <a:r>
              <a:rPr lang="en-US" sz="1600" b="0" dirty="0" err="1"/>
              <a:t>interpretimit</a:t>
            </a:r>
            <a:r>
              <a:rPr lang="en-US" sz="1600" b="0" dirty="0"/>
              <a:t> </a:t>
            </a:r>
            <a:r>
              <a:rPr lang="en-US" sz="1600" b="0" dirty="0" err="1"/>
              <a:t>klinik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tepër</a:t>
            </a:r>
            <a:r>
              <a:rPr lang="en-US" sz="1600" b="0" dirty="0"/>
              <a:t>, </a:t>
            </a:r>
            <a:r>
              <a:rPr lang="en-US" sz="1600" b="0" dirty="0" err="1"/>
              <a:t>arkitektura</a:t>
            </a:r>
            <a:r>
              <a:rPr lang="en-US" sz="1600" b="0" dirty="0"/>
              <a:t>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e </a:t>
            </a:r>
            <a:r>
              <a:rPr lang="en-US" sz="1600" b="0" dirty="0" err="1"/>
              <a:t>fortë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mbledhje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shpërndarje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dhënave</a:t>
            </a:r>
            <a:r>
              <a:rPr lang="en-US" sz="1600" b="0" dirty="0"/>
              <a:t> </a:t>
            </a:r>
            <a:r>
              <a:rPr lang="en-US" sz="1600" b="0" dirty="0" err="1"/>
              <a:t>sesa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interpretim</a:t>
            </a:r>
            <a:r>
              <a:rPr lang="en-US" sz="1600" b="0" dirty="0"/>
              <a:t> </a:t>
            </a:r>
            <a:r>
              <a:rPr lang="en-US" sz="1600" b="0" dirty="0" err="1"/>
              <a:t>shumë-parametrik</a:t>
            </a:r>
            <a:r>
              <a:rPr lang="en-US" sz="1600" b="0" dirty="0"/>
              <a:t>. </a:t>
            </a:r>
            <a:r>
              <a:rPr lang="en-US" sz="1600" b="0" dirty="0" err="1"/>
              <a:t>Kjo</a:t>
            </a:r>
            <a:r>
              <a:rPr lang="en-US" sz="1600" b="0" dirty="0"/>
              <a:t> </a:t>
            </a:r>
            <a:r>
              <a:rPr lang="en-US" sz="1600" b="0" dirty="0" err="1"/>
              <a:t>tregon</a:t>
            </a:r>
            <a:r>
              <a:rPr lang="en-US" sz="1600" b="0" dirty="0"/>
              <a:t> se </a:t>
            </a:r>
            <a:r>
              <a:rPr lang="en-US" sz="1600" b="0" dirty="0" err="1"/>
              <a:t>sistemi</a:t>
            </a:r>
            <a:r>
              <a:rPr lang="en-US" sz="1600" b="0" dirty="0"/>
              <a:t>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mirë</a:t>
            </a:r>
            <a:r>
              <a:rPr lang="en-US" sz="1600" b="0" dirty="0"/>
              <a:t> </a:t>
            </a:r>
            <a:r>
              <a:rPr lang="en-US" sz="1600" b="0" dirty="0" err="1"/>
              <a:t>si</a:t>
            </a:r>
            <a:r>
              <a:rPr lang="en-US" sz="1600" b="0" dirty="0"/>
              <a:t> </a:t>
            </a:r>
            <a:r>
              <a:rPr lang="en-US" sz="1600" b="0" dirty="0" err="1"/>
              <a:t>telemetri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monitorim</a:t>
            </a:r>
            <a:r>
              <a:rPr lang="en-US" sz="1600" b="0" dirty="0"/>
              <a:t>, </a:t>
            </a:r>
            <a:r>
              <a:rPr lang="en-US" sz="1600" b="0" dirty="0" err="1"/>
              <a:t>por</a:t>
            </a:r>
            <a:r>
              <a:rPr lang="en-US" sz="1600" b="0" dirty="0"/>
              <a:t> jo </a:t>
            </a:r>
            <a:r>
              <a:rPr lang="en-US" sz="1600" b="0" dirty="0" err="1"/>
              <a:t>ende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sistem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plotë</a:t>
            </a:r>
            <a:r>
              <a:rPr lang="en-US" sz="1600" b="0" dirty="0"/>
              <a:t> </a:t>
            </a:r>
            <a:r>
              <a:rPr lang="en-US" sz="1600" b="0" dirty="0" err="1"/>
              <a:t>interpretues</a:t>
            </a:r>
            <a:r>
              <a:rPr lang="en-US" sz="16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5CDA8E1-8808-E4BB-AC98-C7D3AE25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601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F55C-0F38-FF63-9FAE-0695D284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24A7-3D6A-B316-0136-C7D34A78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b="1" dirty="0"/>
              <a:t>KUFIZIMET KRYESORE TË ZGJIDHJES REALE TË ANALIZUAR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EA6451D-D6FE-75C7-1E2D-1CF3197C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3E43BF2-CC7C-B233-3D08-21FEFF26D9DD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848373248"/>
              </p:ext>
            </p:extLst>
          </p:nvPr>
        </p:nvGraphicFramePr>
        <p:xfrm>
          <a:off x="838200" y="2281826"/>
          <a:ext cx="10515602" cy="323007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171978">
                  <a:extLst>
                    <a:ext uri="{9D8B030D-6E8A-4147-A177-3AD203B41FA5}">
                      <a16:colId xmlns:a16="http://schemas.microsoft.com/office/drawing/2014/main" val="2632880569"/>
                    </a:ext>
                  </a:extLst>
                </a:gridCol>
                <a:gridCol w="3696299">
                  <a:extLst>
                    <a:ext uri="{9D8B030D-6E8A-4147-A177-3AD203B41FA5}">
                      <a16:colId xmlns:a16="http://schemas.microsoft.com/office/drawing/2014/main" val="2034976806"/>
                    </a:ext>
                  </a:extLst>
                </a:gridCol>
                <a:gridCol w="3647325">
                  <a:extLst>
                    <a:ext uri="{9D8B030D-6E8A-4147-A177-3AD203B41FA5}">
                      <a16:colId xmlns:a16="http://schemas.microsoft.com/office/drawing/2014/main" val="3771732686"/>
                    </a:ext>
                  </a:extLst>
                </a:gridCol>
              </a:tblGrid>
              <a:tr h="51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Kufizimi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Shkaku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Ndikimi</a:t>
                      </a:r>
                    </a:p>
                  </a:txBody>
                  <a:tcPr marL="115010" marR="115010" marT="57505" marB="57505" anchor="ctr"/>
                </a:tc>
                <a:extLst>
                  <a:ext uri="{0D108BD9-81ED-4DB2-BD59-A6C34878D82A}">
                    <a16:rowId xmlns:a16="http://schemas.microsoft.com/office/drawing/2014/main" val="169547240"/>
                  </a:ext>
                </a:extLst>
              </a:tr>
              <a:tr h="51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Alarmim reaktiv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Përdorim i pragjeve statike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Reagim më i vonuar</a:t>
                      </a:r>
                    </a:p>
                  </a:txBody>
                  <a:tcPr marL="115010" marR="115010" marT="57505" marB="57505" anchor="ctr"/>
                </a:tc>
                <a:extLst>
                  <a:ext uri="{0D108BD9-81ED-4DB2-BD59-A6C34878D82A}">
                    <a16:rowId xmlns:a16="http://schemas.microsoft.com/office/drawing/2014/main" val="1525688295"/>
                  </a:ext>
                </a:extLst>
              </a:tr>
              <a:tr h="845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Varësi nga rrjeti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Lidhje Bluetooth / backend / gateway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Humbje ose vonesë të dhënash</a:t>
                      </a:r>
                    </a:p>
                  </a:txBody>
                  <a:tcPr marL="115010" marR="115010" marT="57505" marB="57505" anchor="ctr"/>
                </a:tc>
                <a:extLst>
                  <a:ext uri="{0D108BD9-81ED-4DB2-BD59-A6C34878D82A}">
                    <a16:rowId xmlns:a16="http://schemas.microsoft.com/office/drawing/2014/main" val="1411728480"/>
                  </a:ext>
                </a:extLst>
              </a:tr>
              <a:tr h="51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Interpretim i kufizuar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Fokus në telemetri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Më pak kontekst klinik</a:t>
                      </a:r>
                    </a:p>
                  </a:txBody>
                  <a:tcPr marL="115010" marR="115010" marT="57505" marB="57505" anchor="ctr"/>
                </a:tc>
                <a:extLst>
                  <a:ext uri="{0D108BD9-81ED-4DB2-BD59-A6C34878D82A}">
                    <a16:rowId xmlns:a16="http://schemas.microsoft.com/office/drawing/2014/main" val="2883728870"/>
                  </a:ext>
                </a:extLst>
              </a:tr>
              <a:tr h="845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Shkallëzim i ndjeshëm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2200"/>
                        <a:t>Arkitekturë me disa pika varësie</a:t>
                      </a:r>
                    </a:p>
                  </a:txBody>
                  <a:tcPr marL="115010" marR="115010" marT="57505" marB="5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2200"/>
                        <a:t>Ngarkesë në backend dhe orkestrim</a:t>
                      </a:r>
                    </a:p>
                  </a:txBody>
                  <a:tcPr marL="115010" marR="115010" marT="57505" marB="57505" anchor="ctr"/>
                </a:tc>
                <a:extLst>
                  <a:ext uri="{0D108BD9-81ED-4DB2-BD59-A6C34878D82A}">
                    <a16:rowId xmlns:a16="http://schemas.microsoft.com/office/drawing/2014/main" val="2216920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899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BA8B-A9F7-491C-70A1-70356BA0C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CA58-65C2-8E49-F55B-2C0336594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C. </a:t>
            </a:r>
            <a:r>
              <a:rPr lang="en-US" b="1" dirty="0" err="1"/>
              <a:t>Zgjidhja</a:t>
            </a:r>
            <a:r>
              <a:rPr lang="en-US" b="1" dirty="0"/>
              <a:t> e </a:t>
            </a:r>
            <a:r>
              <a:rPr lang="en-US" b="1" dirty="0" err="1"/>
              <a:t>propozuar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009C3-D825-25AE-3520-F1800B974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8"/>
            <a:ext cx="8154917" cy="4304471"/>
          </a:xfrm>
        </p:spPr>
        <p:txBody>
          <a:bodyPr>
            <a:normAutofit/>
          </a:bodyPr>
          <a:lstStyle/>
          <a:p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përmirësuar</a:t>
            </a:r>
            <a:r>
              <a:rPr lang="en-US" sz="1600" b="0" dirty="0"/>
              <a:t> </a:t>
            </a:r>
            <a:r>
              <a:rPr lang="en-US" sz="1600" b="0" dirty="0" err="1"/>
              <a:t>qasjen</a:t>
            </a:r>
            <a:r>
              <a:rPr lang="en-US" sz="1600" b="0" dirty="0"/>
              <a:t> </a:t>
            </a:r>
            <a:r>
              <a:rPr lang="en-US" sz="1600" b="0" dirty="0" err="1"/>
              <a:t>ekzistuese</a:t>
            </a:r>
            <a:r>
              <a:rPr lang="en-US" sz="1600" b="0" dirty="0"/>
              <a:t>, </a:t>
            </a:r>
            <a:r>
              <a:rPr lang="en-US" sz="1600" b="0" dirty="0" err="1"/>
              <a:t>propozohet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arkitekturë</a:t>
            </a:r>
            <a:r>
              <a:rPr lang="en-US" sz="1600" b="0" dirty="0"/>
              <a:t> </a:t>
            </a:r>
            <a:r>
              <a:rPr lang="en-US" sz="1600" b="0" dirty="0" err="1"/>
              <a:t>hibride</a:t>
            </a:r>
            <a:r>
              <a:rPr lang="en-US" sz="1600" b="0" dirty="0"/>
              <a:t> </a:t>
            </a:r>
            <a:r>
              <a:rPr lang="en-US" sz="1600" b="0" dirty="0" err="1"/>
              <a:t>ku</a:t>
            </a:r>
            <a:r>
              <a:rPr lang="en-US" sz="1600" b="0" dirty="0"/>
              <a:t> </a:t>
            </a:r>
            <a:r>
              <a:rPr lang="en-US" sz="1600" b="0" dirty="0" err="1"/>
              <a:t>ruhet</a:t>
            </a:r>
            <a:r>
              <a:rPr lang="en-US" sz="1600" b="0" dirty="0"/>
              <a:t> </a:t>
            </a:r>
            <a:r>
              <a:rPr lang="en-US" sz="1600" b="0" dirty="0" err="1"/>
              <a:t>baza</a:t>
            </a:r>
            <a:r>
              <a:rPr lang="en-US" sz="1600" b="0" dirty="0"/>
              <a:t> sensor-gateway-application, </a:t>
            </a:r>
            <a:r>
              <a:rPr lang="en-US" sz="1600" b="0" dirty="0" err="1"/>
              <a:t>por</a:t>
            </a:r>
            <a:r>
              <a:rPr lang="en-US" sz="1600" b="0" dirty="0"/>
              <a:t> </a:t>
            </a:r>
            <a:r>
              <a:rPr lang="en-US" sz="1600" b="0" dirty="0" err="1"/>
              <a:t>shtohet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shtresë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e </a:t>
            </a:r>
            <a:r>
              <a:rPr lang="en-US" sz="1600" b="0" dirty="0" err="1"/>
              <a:t>qartë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përpunimin</a:t>
            </a:r>
            <a:r>
              <a:rPr lang="en-US" sz="1600" b="0" dirty="0"/>
              <a:t> e </a:t>
            </a:r>
            <a:r>
              <a:rPr lang="en-US" sz="1600" b="0" dirty="0" err="1"/>
              <a:t>rrjedhave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dhënave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sintetizimin</a:t>
            </a:r>
            <a:r>
              <a:rPr lang="en-US" sz="1600" b="0" dirty="0"/>
              <a:t> e </a:t>
            </a:r>
            <a:r>
              <a:rPr lang="en-US" sz="1600" b="0" dirty="0" err="1"/>
              <a:t>profileve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riskut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qendër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kësaj</a:t>
            </a:r>
            <a:r>
              <a:rPr lang="en-US" sz="1600" b="0" dirty="0"/>
              <a:t> </a:t>
            </a:r>
            <a:r>
              <a:rPr lang="en-US" sz="1600" b="0" dirty="0" err="1"/>
              <a:t>qasjeje</a:t>
            </a:r>
            <a:r>
              <a:rPr lang="en-US" sz="1600" b="0" dirty="0"/>
              <a:t> </a:t>
            </a:r>
            <a:r>
              <a:rPr lang="en-US" sz="1600" b="0" dirty="0" err="1"/>
              <a:t>është</a:t>
            </a:r>
            <a:r>
              <a:rPr lang="en-US" sz="1600" b="0" dirty="0"/>
              <a:t> </a:t>
            </a:r>
            <a:r>
              <a:rPr lang="en-US" sz="1600" b="0" dirty="0" err="1"/>
              <a:t>shtresa</a:t>
            </a:r>
            <a:r>
              <a:rPr lang="en-US" sz="1600" b="0" dirty="0"/>
              <a:t> Kafka plus stream processing plus analytics service.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këtë</a:t>
            </a:r>
            <a:r>
              <a:rPr lang="en-US" sz="1600" b="0" dirty="0"/>
              <a:t> model,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dhënat</a:t>
            </a:r>
            <a:r>
              <a:rPr lang="en-US" sz="1600" b="0" dirty="0"/>
              <a:t> </a:t>
            </a:r>
            <a:r>
              <a:rPr lang="en-US" sz="1600" b="0" dirty="0" err="1"/>
              <a:t>nuk</a:t>
            </a:r>
            <a:r>
              <a:rPr lang="en-US" sz="1600" b="0" dirty="0"/>
              <a:t> </a:t>
            </a:r>
            <a:r>
              <a:rPr lang="en-US" sz="1600" b="0" dirty="0" err="1"/>
              <a:t>kalojnë</a:t>
            </a:r>
            <a:r>
              <a:rPr lang="en-US" sz="1600" b="0" dirty="0"/>
              <a:t> </a:t>
            </a:r>
            <a:r>
              <a:rPr lang="en-US" sz="1600" b="0" dirty="0" err="1"/>
              <a:t>thjesht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</a:t>
            </a:r>
            <a:r>
              <a:rPr lang="en-US" sz="1600" b="0" dirty="0" err="1"/>
              <a:t>sensori</a:t>
            </a:r>
            <a:r>
              <a:rPr lang="en-US" sz="1600" b="0" dirty="0"/>
              <a:t> </a:t>
            </a:r>
            <a:r>
              <a:rPr lang="en-US" sz="1600" b="0" dirty="0" err="1"/>
              <a:t>te</a:t>
            </a:r>
            <a:r>
              <a:rPr lang="en-US" sz="1600" b="0" dirty="0"/>
              <a:t> </a:t>
            </a:r>
            <a:r>
              <a:rPr lang="en-US" sz="1600" b="0" dirty="0" err="1"/>
              <a:t>databaza</a:t>
            </a:r>
            <a:r>
              <a:rPr lang="en-US" sz="1600" b="0" dirty="0"/>
              <a:t>, </a:t>
            </a:r>
            <a:r>
              <a:rPr lang="en-US" sz="1600" b="0" dirty="0" err="1"/>
              <a:t>por</a:t>
            </a:r>
            <a:r>
              <a:rPr lang="en-US" sz="1600" b="0" dirty="0"/>
              <a:t> </a:t>
            </a:r>
            <a:r>
              <a:rPr lang="en-US" sz="1600" b="0" dirty="0" err="1"/>
              <a:t>menaxhohen</a:t>
            </a:r>
            <a:r>
              <a:rPr lang="en-US" sz="1600" b="0" dirty="0"/>
              <a:t> </a:t>
            </a:r>
            <a:r>
              <a:rPr lang="en-US" sz="1600" b="0" dirty="0" err="1"/>
              <a:t>si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stream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vazhdueshëm</a:t>
            </a:r>
            <a:r>
              <a:rPr lang="en-US" sz="1600" b="0" dirty="0"/>
              <a:t> </a:t>
            </a:r>
            <a:r>
              <a:rPr lang="en-US" sz="1600" b="0" dirty="0" err="1"/>
              <a:t>ngjarjesh</a:t>
            </a:r>
            <a:r>
              <a:rPr lang="en-US" sz="1600" b="0" dirty="0"/>
              <a:t>. </a:t>
            </a:r>
            <a:r>
              <a:rPr lang="en-US" sz="1600" b="0" dirty="0" err="1"/>
              <a:t>Kjo</a:t>
            </a:r>
            <a:r>
              <a:rPr lang="en-US" sz="1600" b="0" dirty="0"/>
              <a:t> </a:t>
            </a:r>
            <a:r>
              <a:rPr lang="en-US" sz="1600" b="0" dirty="0" err="1"/>
              <a:t>krijon</a:t>
            </a:r>
            <a:r>
              <a:rPr lang="en-US" sz="1600" b="0" dirty="0"/>
              <a:t> </a:t>
            </a:r>
            <a:r>
              <a:rPr lang="en-US" sz="1600" b="0" dirty="0" err="1"/>
              <a:t>mundësi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transformim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dhënave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kohë</a:t>
            </a:r>
            <a:r>
              <a:rPr lang="en-US" sz="1600" b="0" dirty="0"/>
              <a:t> </a:t>
            </a:r>
            <a:r>
              <a:rPr lang="en-US" sz="1600" b="0" dirty="0" err="1"/>
              <a:t>reale</a:t>
            </a:r>
            <a:r>
              <a:rPr lang="en-US" sz="1600" b="0" dirty="0"/>
              <a:t>, </a:t>
            </a:r>
            <a:r>
              <a:rPr lang="en-US" sz="1600" b="0" dirty="0" err="1"/>
              <a:t>sinkronizim</a:t>
            </a:r>
            <a:r>
              <a:rPr lang="en-US" sz="1600" b="0" dirty="0"/>
              <a:t> me </a:t>
            </a:r>
            <a:r>
              <a:rPr lang="en-US" sz="1600" b="0" dirty="0" err="1"/>
              <a:t>burime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tjera</a:t>
            </a:r>
            <a:r>
              <a:rPr lang="en-US" sz="1600" b="0" dirty="0"/>
              <a:t>, </a:t>
            </a:r>
            <a:r>
              <a:rPr lang="en-US" sz="1600" b="0" dirty="0" err="1"/>
              <a:t>ruajtje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rregullt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ngjarjeve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ndarje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qartë</a:t>
            </a:r>
            <a:r>
              <a:rPr lang="en-US" sz="1600" b="0" dirty="0"/>
              <a:t> </a:t>
            </a:r>
            <a:r>
              <a:rPr lang="en-US" sz="1600" b="0" dirty="0" err="1"/>
              <a:t>ndërmjet</a:t>
            </a:r>
            <a:r>
              <a:rPr lang="en-US" sz="1600" b="0" dirty="0"/>
              <a:t> ingestion, processing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vendimmarrjes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b="0" dirty="0" err="1"/>
              <a:t>Gjithashtu</a:t>
            </a:r>
            <a:r>
              <a:rPr lang="en-US" sz="1600" b="0" dirty="0"/>
              <a:t>, </a:t>
            </a:r>
            <a:r>
              <a:rPr lang="en-US" sz="1600" b="0" dirty="0" err="1"/>
              <a:t>rekomandohet</a:t>
            </a:r>
            <a:r>
              <a:rPr lang="en-US" sz="1600" b="0" dirty="0"/>
              <a:t> </a:t>
            </a:r>
            <a:r>
              <a:rPr lang="en-US" sz="1600" b="0" dirty="0" err="1"/>
              <a:t>zgjerimi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sistemit</a:t>
            </a:r>
            <a:r>
              <a:rPr lang="en-US" sz="1600" b="0" dirty="0"/>
              <a:t> me </a:t>
            </a:r>
            <a:r>
              <a:rPr lang="en-US" sz="1600" b="0" dirty="0" err="1"/>
              <a:t>sensorë</a:t>
            </a:r>
            <a:r>
              <a:rPr lang="en-US" sz="1600" b="0" dirty="0"/>
              <a:t> </a:t>
            </a:r>
            <a:r>
              <a:rPr lang="en-US" sz="1600" b="0" dirty="0" err="1"/>
              <a:t>shtesë</a:t>
            </a:r>
            <a:r>
              <a:rPr lang="en-US" sz="1600" b="0" dirty="0"/>
              <a:t> </a:t>
            </a:r>
            <a:r>
              <a:rPr lang="en-US" sz="1600" b="0" dirty="0" err="1"/>
              <a:t>si</a:t>
            </a:r>
            <a:r>
              <a:rPr lang="en-US" sz="1600" b="0" dirty="0"/>
              <a:t> ECG patch sensor </a:t>
            </a:r>
            <a:r>
              <a:rPr lang="en-US" sz="1600" b="0" dirty="0" err="1"/>
              <a:t>dhe</a:t>
            </a:r>
            <a:r>
              <a:rPr lang="en-US" sz="1600" b="0" dirty="0"/>
              <a:t> respiration sensor,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cilët</a:t>
            </a:r>
            <a:r>
              <a:rPr lang="en-US" sz="1600" b="0" dirty="0"/>
              <a:t> e </a:t>
            </a:r>
            <a:r>
              <a:rPr lang="en-US" sz="1600" b="0" dirty="0" err="1"/>
              <a:t>bëjnë</a:t>
            </a:r>
            <a:r>
              <a:rPr lang="en-US" sz="1600" b="0" dirty="0"/>
              <a:t> </a:t>
            </a:r>
            <a:r>
              <a:rPr lang="en-US" sz="1600" b="0" dirty="0" err="1"/>
              <a:t>interpretimin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pasur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vlefshëm</a:t>
            </a:r>
            <a:r>
              <a:rPr lang="en-US" sz="1600" b="0" dirty="0"/>
              <a:t> </a:t>
            </a:r>
            <a:r>
              <a:rPr lang="en-US" sz="1600" b="0" dirty="0" err="1"/>
              <a:t>klinikisht</a:t>
            </a:r>
            <a:r>
              <a:rPr lang="en-US" sz="16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D83A83-F201-A84E-9EC2-EC7D2158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689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76FA-9A5A-5FF7-3EA2-1F9684C6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753B-35B8-F358-F7EA-CF0E7A80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b="1" dirty="0"/>
              <a:t>ZGJIDHJA E PROPOZUAR DHE ZGJERIMI I SENSORËVE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268E025-36C1-0662-638A-D653A69E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06D0416-045F-EA39-F003-0BCF4D2C580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540973806"/>
              </p:ext>
            </p:extLst>
          </p:nvPr>
        </p:nvGraphicFramePr>
        <p:xfrm>
          <a:off x="838200" y="2342197"/>
          <a:ext cx="10515600" cy="310933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466642">
                  <a:extLst>
                    <a:ext uri="{9D8B030D-6E8A-4147-A177-3AD203B41FA5}">
                      <a16:colId xmlns:a16="http://schemas.microsoft.com/office/drawing/2014/main" val="4205342682"/>
                    </a:ext>
                  </a:extLst>
                </a:gridCol>
                <a:gridCol w="3477182">
                  <a:extLst>
                    <a:ext uri="{9D8B030D-6E8A-4147-A177-3AD203B41FA5}">
                      <a16:colId xmlns:a16="http://schemas.microsoft.com/office/drawing/2014/main" val="1303029446"/>
                    </a:ext>
                  </a:extLst>
                </a:gridCol>
                <a:gridCol w="3571776">
                  <a:extLst>
                    <a:ext uri="{9D8B030D-6E8A-4147-A177-3AD203B41FA5}">
                      <a16:colId xmlns:a16="http://schemas.microsoft.com/office/drawing/2014/main" val="819931283"/>
                    </a:ext>
                  </a:extLst>
                </a:gridCol>
              </a:tblGrid>
              <a:tr h="374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Komponenti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Elementi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Qëllimi</a:t>
                      </a:r>
                    </a:p>
                  </a:txBody>
                  <a:tcPr marL="84012" marR="84012" marT="42006" marB="42006" anchor="ctr"/>
                </a:tc>
                <a:extLst>
                  <a:ext uri="{0D108BD9-81ED-4DB2-BD59-A6C34878D82A}">
                    <a16:rowId xmlns:a16="http://schemas.microsoft.com/office/drawing/2014/main" val="2084300510"/>
                  </a:ext>
                </a:extLst>
              </a:tr>
              <a:tr h="374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Sensorë bazë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PPG, SpO2, temperaturë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Monitorim bazik kardiopulmonar</a:t>
                      </a:r>
                    </a:p>
                  </a:txBody>
                  <a:tcPr marL="84012" marR="84012" marT="42006" marB="42006" anchor="ctr"/>
                </a:tc>
                <a:extLst>
                  <a:ext uri="{0D108BD9-81ED-4DB2-BD59-A6C34878D82A}">
                    <a16:rowId xmlns:a16="http://schemas.microsoft.com/office/drawing/2014/main" val="3997868086"/>
                  </a:ext>
                </a:extLst>
              </a:tr>
              <a:tr h="374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Sensorë shtesë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ECG patch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Ritëm kardiak më i detajuar</a:t>
                      </a:r>
                    </a:p>
                  </a:txBody>
                  <a:tcPr marL="84012" marR="84012" marT="42006" marB="42006" anchor="ctr"/>
                </a:tc>
                <a:extLst>
                  <a:ext uri="{0D108BD9-81ED-4DB2-BD59-A6C34878D82A}">
                    <a16:rowId xmlns:a16="http://schemas.microsoft.com/office/drawing/2014/main" val="118487865"/>
                  </a:ext>
                </a:extLst>
              </a:tr>
              <a:tr h="374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Sensorë shtesë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Respiration sensor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Status respirator më i plotë</a:t>
                      </a:r>
                    </a:p>
                  </a:txBody>
                  <a:tcPr marL="84012" marR="84012" marT="42006" marB="42006" anchor="ctr"/>
                </a:tc>
                <a:extLst>
                  <a:ext uri="{0D108BD9-81ED-4DB2-BD59-A6C34878D82A}">
                    <a16:rowId xmlns:a16="http://schemas.microsoft.com/office/drawing/2014/main" val="442216882"/>
                  </a:ext>
                </a:extLst>
              </a:tr>
              <a:tr h="374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Sensorë kontekstualë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Accelerometer / Gyroscope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Aktivitet, rënie, kontekst funksional</a:t>
                      </a:r>
                    </a:p>
                  </a:txBody>
                  <a:tcPr marL="84012" marR="84012" marT="42006" marB="42006" anchor="ctr"/>
                </a:tc>
                <a:extLst>
                  <a:ext uri="{0D108BD9-81ED-4DB2-BD59-A6C34878D82A}">
                    <a16:rowId xmlns:a16="http://schemas.microsoft.com/office/drawing/2014/main" val="2329432229"/>
                  </a:ext>
                </a:extLst>
              </a:tr>
              <a:tr h="617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Shtresa e mesazheve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MQTT / Kafka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/>
                        <a:t>Telemetri e lehtë dhe rrjedhë e orkestruar</a:t>
                      </a:r>
                    </a:p>
                  </a:txBody>
                  <a:tcPr marL="84012" marR="84012" marT="42006" marB="42006" anchor="ctr"/>
                </a:tc>
                <a:extLst>
                  <a:ext uri="{0D108BD9-81ED-4DB2-BD59-A6C34878D82A}">
                    <a16:rowId xmlns:a16="http://schemas.microsoft.com/office/drawing/2014/main" val="322665714"/>
                  </a:ext>
                </a:extLst>
              </a:tr>
              <a:tr h="617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Shtresa analitike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Processing + analytics service</a:t>
                      </a:r>
                    </a:p>
                  </a:txBody>
                  <a:tcPr marL="84012" marR="84012" marT="42006" marB="420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/>
                        <a:t>Interpretim i vazhdueshëm i profilit të pacientit</a:t>
                      </a:r>
                    </a:p>
                  </a:txBody>
                  <a:tcPr marL="84012" marR="84012" marT="42006" marB="42006" anchor="ctr"/>
                </a:tc>
                <a:extLst>
                  <a:ext uri="{0D108BD9-81ED-4DB2-BD59-A6C34878D82A}">
                    <a16:rowId xmlns:a16="http://schemas.microsoft.com/office/drawing/2014/main" val="1404214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350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26DE-B958-4EB7-361F-A528FB67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C053-7B52-DE04-4CFC-E7BD8C9F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 err="1"/>
              <a:t>Arkitektura</a:t>
            </a:r>
            <a:r>
              <a:rPr lang="en-US" b="1" dirty="0"/>
              <a:t> e </a:t>
            </a:r>
            <a:r>
              <a:rPr lang="en-US" b="1" dirty="0" err="1"/>
              <a:t>Propozuar</a:t>
            </a:r>
            <a:r>
              <a:rPr lang="en-US" b="1" dirty="0"/>
              <a:t> </a:t>
            </a:r>
            <a:r>
              <a:rPr lang="en-US" b="1" dirty="0" err="1"/>
              <a:t>për</a:t>
            </a:r>
            <a:r>
              <a:rPr lang="en-US" b="1" dirty="0"/>
              <a:t> </a:t>
            </a:r>
            <a:r>
              <a:rPr lang="en-US" b="1" dirty="0" err="1"/>
              <a:t>Monitorim</a:t>
            </a:r>
            <a:r>
              <a:rPr lang="en-US" b="1" dirty="0"/>
              <a:t> </a:t>
            </a:r>
            <a:r>
              <a:rPr lang="en-US" b="1" dirty="0" err="1"/>
              <a:t>Inteligjent</a:t>
            </a:r>
            <a:r>
              <a:rPr lang="en-US" b="1" dirty="0"/>
              <a:t> </a:t>
            </a:r>
            <a:r>
              <a:rPr lang="en-US" b="1" dirty="0" err="1"/>
              <a:t>Shëndetësor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E1FB39-894E-7631-CCAB-228F4845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A5D6D1-DF5E-8E3E-8334-8AD5C289CD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135926" y="1732038"/>
            <a:ext cx="7684349" cy="462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271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9C76-937F-1B40-B5C9-7FC52449B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C32E-DA00-F000-7131-D3E7C94D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b="1" dirty="0"/>
              <a:t>KRAHASIM NDËRMJET ZGJIDHJES SË ANALIZUAR DHE ZGJIDHJES SË PROPOZUAR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286E009-C799-3E9F-0775-963CA496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CC2F88F-D119-7DC4-D742-29C7465823D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310160019"/>
              </p:ext>
            </p:extLst>
          </p:nvPr>
        </p:nvGraphicFramePr>
        <p:xfrm>
          <a:off x="838200" y="2057400"/>
          <a:ext cx="10515600" cy="335431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200228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798842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82945948"/>
                    </a:ext>
                  </a:extLst>
                </a:gridCol>
              </a:tblGrid>
              <a:tr h="757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Karakteristika</a:t>
                      </a:r>
                    </a:p>
                  </a:txBody>
                  <a:tcPr marL="118872" marR="63376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Zgjidhja reale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</a:rPr>
                        <a:t>Zgjidhja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</a:rPr>
                        <a:t> e </a:t>
                      </a: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</a:rPr>
                        <a:t>propozuar</a:t>
                      </a:r>
                      <a:endParaRPr lang="en-US" sz="1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170024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Fokus primar</a:t>
                      </a:r>
                    </a:p>
                  </a:txBody>
                  <a:tcPr marL="118872" marR="63376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Mbledhje / monitorim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Interpretim / alarmim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684645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Rrjedha e të dhënave</a:t>
                      </a:r>
                    </a:p>
                  </a:txBody>
                  <a:tcPr marL="118872" marR="63376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Klasike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 orkestruar me stream layer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061364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Latenca operative</a:t>
                      </a:r>
                    </a:p>
                  </a:txBody>
                  <a:tcPr marL="118872" marR="63376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Mesatare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Më e ulët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192369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Shkallëzimi</a:t>
                      </a:r>
                    </a:p>
                  </a:txBody>
                  <a:tcPr marL="118872" marR="63376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 kufizuar nga backend-i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Më i lartë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86601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Vendimmarrja</a:t>
                      </a:r>
                    </a:p>
                  </a:txBody>
                  <a:tcPr marL="118872" marR="63376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Kryesisht reaktive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Më proaktive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276965"/>
                  </a:ext>
                </a:extLst>
              </a:tr>
              <a:tr h="432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Integrimi i shumë burimeve</a:t>
                      </a:r>
                    </a:p>
                  </a:txBody>
                  <a:tcPr marL="118872" marR="63376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 kufizuar</a:t>
                      </a: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</a:rPr>
                        <a:t>Më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</a:rPr>
                        <a:t>strukturuar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8872" marR="63376" marT="91440" marB="9144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96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915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8A8EE-4136-C4F8-9426-46DF0549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8A1C-C7C0-1898-D7CC-9F640635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b="1" dirty="0"/>
              <a:t>D. Vlera e </a:t>
            </a:r>
            <a:r>
              <a:rPr lang="en-US" b="1" dirty="0" err="1"/>
              <a:t>përmirësimit</a:t>
            </a:r>
            <a:r>
              <a:rPr lang="en-US" b="1" dirty="0"/>
              <a:t>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propozuar</a:t>
            </a:r>
            <a:r>
              <a:rPr lang="en-US" b="1" dirty="0"/>
              <a:t> </a:t>
            </a:r>
            <a:r>
              <a:rPr lang="en-US" b="1" dirty="0" err="1"/>
              <a:t>në</a:t>
            </a:r>
            <a:r>
              <a:rPr lang="en-US" b="1" dirty="0"/>
              <a:t> </a:t>
            </a:r>
            <a:r>
              <a:rPr lang="en-US" b="1" dirty="0" err="1"/>
              <a:t>një</a:t>
            </a:r>
            <a:r>
              <a:rPr lang="en-US" b="1" dirty="0"/>
              <a:t> use-case </a:t>
            </a:r>
            <a:r>
              <a:rPr lang="en-US" b="1" dirty="0" err="1"/>
              <a:t>konkret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0C3FA-2D6B-DC29-9920-6BDA681B5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8"/>
            <a:ext cx="8154917" cy="4304471"/>
          </a:xfrm>
        </p:spPr>
        <p:txBody>
          <a:bodyPr>
            <a:normAutofit/>
          </a:bodyPr>
          <a:lstStyle/>
          <a:p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use-case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monitorimit</a:t>
            </a:r>
            <a:r>
              <a:rPr lang="en-US" sz="1600" b="0" dirty="0"/>
              <a:t> respirator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distancë</a:t>
            </a:r>
            <a:r>
              <a:rPr lang="en-US" sz="1600" b="0" dirty="0"/>
              <a:t>, </a:t>
            </a:r>
            <a:r>
              <a:rPr lang="en-US" sz="1600" b="0" dirty="0" err="1"/>
              <a:t>pacienti</a:t>
            </a:r>
            <a:r>
              <a:rPr lang="en-US" sz="1600" b="0" dirty="0"/>
              <a:t> </a:t>
            </a:r>
            <a:r>
              <a:rPr lang="en-US" sz="1600" b="0" dirty="0" err="1"/>
              <a:t>mund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shfaqë</a:t>
            </a:r>
            <a:r>
              <a:rPr lang="en-US" sz="1600" b="0" dirty="0"/>
              <a:t> </a:t>
            </a:r>
            <a:r>
              <a:rPr lang="en-US" sz="1600" b="0" dirty="0" err="1"/>
              <a:t>rënie</a:t>
            </a:r>
            <a:r>
              <a:rPr lang="en-US" sz="1600" b="0" dirty="0"/>
              <a:t> </a:t>
            </a:r>
            <a:r>
              <a:rPr lang="en-US" sz="1600" b="0" dirty="0" err="1"/>
              <a:t>graduale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SpO2, </a:t>
            </a:r>
            <a:r>
              <a:rPr lang="en-US" sz="1600" b="0" dirty="0" err="1"/>
              <a:t>rritje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lehtë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HR, </a:t>
            </a:r>
            <a:r>
              <a:rPr lang="en-US" sz="1600" b="0" dirty="0" err="1"/>
              <a:t>aktivitet</a:t>
            </a:r>
            <a:r>
              <a:rPr lang="en-US" sz="1600" b="0" dirty="0"/>
              <a:t> minimal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temperaturë</a:t>
            </a:r>
            <a:r>
              <a:rPr lang="en-US" sz="1600" b="0" dirty="0"/>
              <a:t> pak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rritur</a:t>
            </a:r>
            <a:r>
              <a:rPr lang="en-US" sz="1600" b="0" dirty="0"/>
              <a:t>.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sistem</a:t>
            </a:r>
            <a:r>
              <a:rPr lang="en-US" sz="1600" b="0" dirty="0"/>
              <a:t> </a:t>
            </a:r>
            <a:r>
              <a:rPr lang="en-US" sz="1600" b="0" dirty="0" err="1"/>
              <a:t>klasik</a:t>
            </a:r>
            <a:r>
              <a:rPr lang="en-US" sz="1600" b="0" dirty="0"/>
              <a:t>, </a:t>
            </a:r>
            <a:r>
              <a:rPr lang="en-US" sz="1600" b="0" dirty="0" err="1"/>
              <a:t>secili</a:t>
            </a:r>
            <a:r>
              <a:rPr lang="en-US" sz="1600" b="0" dirty="0"/>
              <a:t> </a:t>
            </a:r>
            <a:r>
              <a:rPr lang="en-US" sz="1600" b="0" dirty="0" err="1"/>
              <a:t>parametër</a:t>
            </a:r>
            <a:r>
              <a:rPr lang="en-US" sz="1600" b="0" dirty="0"/>
              <a:t> do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vlerësohej</a:t>
            </a:r>
            <a:r>
              <a:rPr lang="en-US" sz="1600" b="0" dirty="0"/>
              <a:t> </a:t>
            </a:r>
            <a:r>
              <a:rPr lang="en-US" sz="1600" b="0" dirty="0" err="1"/>
              <a:t>kryesisht</a:t>
            </a:r>
            <a:r>
              <a:rPr lang="en-US" sz="1600" b="0" dirty="0"/>
              <a:t> </a:t>
            </a:r>
            <a:r>
              <a:rPr lang="en-US" sz="1600" b="0" dirty="0" err="1"/>
              <a:t>sipas</a:t>
            </a:r>
            <a:r>
              <a:rPr lang="en-US" sz="1600" b="0" dirty="0"/>
              <a:t> </a:t>
            </a:r>
            <a:r>
              <a:rPr lang="en-US" sz="1600" b="0" dirty="0" err="1"/>
              <a:t>pragut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vet. </a:t>
            </a:r>
            <a:endParaRPr lang="sq-AL" sz="1600" b="0" dirty="0"/>
          </a:p>
          <a:p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qasjen</a:t>
            </a:r>
            <a:r>
              <a:rPr lang="en-US" sz="1600" b="0" dirty="0"/>
              <a:t> e </a:t>
            </a:r>
            <a:r>
              <a:rPr lang="en-US" sz="1600" b="0" dirty="0" err="1"/>
              <a:t>propozuar</a:t>
            </a:r>
            <a:r>
              <a:rPr lang="en-US" sz="1600" b="0" dirty="0"/>
              <a:t>, </a:t>
            </a:r>
            <a:r>
              <a:rPr lang="en-US" sz="1600" b="0" dirty="0" err="1"/>
              <a:t>këta</a:t>
            </a:r>
            <a:r>
              <a:rPr lang="en-US" sz="1600" b="0" dirty="0"/>
              <a:t> </a:t>
            </a:r>
            <a:r>
              <a:rPr lang="en-US" sz="1600" b="0" dirty="0" err="1"/>
              <a:t>sinjale</a:t>
            </a:r>
            <a:r>
              <a:rPr lang="en-US" sz="1600" b="0" dirty="0"/>
              <a:t> </a:t>
            </a:r>
            <a:r>
              <a:rPr lang="en-US" sz="1600" b="0" dirty="0" err="1"/>
              <a:t>interpretohen</a:t>
            </a:r>
            <a:r>
              <a:rPr lang="en-US" sz="1600" b="0" dirty="0"/>
              <a:t> </a:t>
            </a:r>
            <a:r>
              <a:rPr lang="en-US" sz="1600" b="0" dirty="0" err="1"/>
              <a:t>si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trajektore</a:t>
            </a:r>
            <a:r>
              <a:rPr lang="en-US" sz="1600" b="0" dirty="0"/>
              <a:t> </a:t>
            </a:r>
            <a:r>
              <a:rPr lang="en-US" sz="1600" b="0" dirty="0" err="1"/>
              <a:t>fiziologjike</a:t>
            </a:r>
            <a:r>
              <a:rPr lang="en-US" sz="1600" b="0" dirty="0"/>
              <a:t> e </a:t>
            </a:r>
            <a:r>
              <a:rPr lang="en-US" sz="1600" b="0" dirty="0" err="1"/>
              <a:t>përbashkët</a:t>
            </a:r>
            <a:r>
              <a:rPr lang="en-US" sz="1600" b="0" dirty="0"/>
              <a:t>, duke </a:t>
            </a:r>
            <a:r>
              <a:rPr lang="en-US" sz="1600" b="0" dirty="0" err="1"/>
              <a:t>krijuar</a:t>
            </a:r>
            <a:r>
              <a:rPr lang="en-US" sz="1600" b="0" dirty="0"/>
              <a:t> </a:t>
            </a:r>
            <a:r>
              <a:rPr lang="en-US" sz="1600" b="0" dirty="0" err="1"/>
              <a:t>mundësi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alarm </a:t>
            </a:r>
            <a:r>
              <a:rPr lang="en-US" sz="1600" b="0" dirty="0" err="1"/>
              <a:t>paraprak</a:t>
            </a:r>
            <a:r>
              <a:rPr lang="en-US" sz="1600" b="0" dirty="0"/>
              <a:t> </a:t>
            </a:r>
            <a:r>
              <a:rPr lang="en-US" sz="1600" b="0" dirty="0" err="1"/>
              <a:t>ose</a:t>
            </a:r>
            <a:r>
              <a:rPr lang="en-US" sz="1600" b="0" dirty="0"/>
              <a:t> </a:t>
            </a:r>
            <a:r>
              <a:rPr lang="en-US" sz="1600" b="0" dirty="0" err="1"/>
              <a:t>nivel</a:t>
            </a:r>
            <a:r>
              <a:rPr lang="en-US" sz="1600" b="0" dirty="0"/>
              <a:t> warning </a:t>
            </a:r>
            <a:r>
              <a:rPr lang="en-US" sz="1600" b="0" dirty="0" err="1"/>
              <a:t>përpara</a:t>
            </a:r>
            <a:r>
              <a:rPr lang="en-US" sz="1600" b="0" dirty="0"/>
              <a:t> se </a:t>
            </a:r>
            <a:r>
              <a:rPr lang="en-US" sz="1600" b="0" dirty="0" err="1"/>
              <a:t>gjendja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bëhet</a:t>
            </a:r>
            <a:r>
              <a:rPr lang="en-US" sz="1600" b="0" dirty="0"/>
              <a:t> </a:t>
            </a:r>
            <a:r>
              <a:rPr lang="en-US" sz="1600" b="0" dirty="0" err="1"/>
              <a:t>kritikisht</a:t>
            </a:r>
            <a:r>
              <a:rPr lang="en-US" sz="1600" b="0" dirty="0"/>
              <a:t> e </a:t>
            </a:r>
            <a:r>
              <a:rPr lang="en-US" sz="1600" b="0" dirty="0" err="1"/>
              <a:t>rëndë</a:t>
            </a:r>
            <a:r>
              <a:rPr lang="en-US" sz="1600" b="0" dirty="0"/>
              <a:t>. </a:t>
            </a:r>
            <a:r>
              <a:rPr lang="en-US" sz="1600" b="0" dirty="0" err="1"/>
              <a:t>Kjo</a:t>
            </a:r>
            <a:r>
              <a:rPr lang="en-US" sz="1600" b="0" dirty="0"/>
              <a:t> e </a:t>
            </a:r>
            <a:r>
              <a:rPr lang="en-US" sz="1600" b="0" dirty="0" err="1"/>
              <a:t>zhvendos</a:t>
            </a:r>
            <a:r>
              <a:rPr lang="en-US" sz="1600" b="0" dirty="0"/>
              <a:t> </a:t>
            </a:r>
            <a:r>
              <a:rPr lang="en-US" sz="1600" b="0" dirty="0" err="1"/>
              <a:t>sistemin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</a:t>
            </a:r>
            <a:r>
              <a:rPr lang="en-US" sz="1600" b="0" dirty="0" err="1"/>
              <a:t>logjika</a:t>
            </a:r>
            <a:r>
              <a:rPr lang="en-US" sz="1600" b="0" dirty="0"/>
              <a:t> “alarm pas </a:t>
            </a:r>
            <a:r>
              <a:rPr lang="en-US" sz="1600" b="0" dirty="0" err="1"/>
              <a:t>devijimit</a:t>
            </a:r>
            <a:r>
              <a:rPr lang="en-US" sz="1600" b="0" dirty="0"/>
              <a:t>”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logjikën</a:t>
            </a:r>
            <a:r>
              <a:rPr lang="en-US" sz="1600" b="0" dirty="0"/>
              <a:t> “alarm </a:t>
            </a:r>
            <a:r>
              <a:rPr lang="en-US" sz="1600" b="0" dirty="0" err="1"/>
              <a:t>mbi</a:t>
            </a:r>
            <a:r>
              <a:rPr lang="en-US" sz="1600" b="0" dirty="0"/>
              <a:t> </a:t>
            </a:r>
            <a:r>
              <a:rPr lang="en-US" sz="1600" b="0" dirty="0" err="1"/>
              <a:t>bazën</a:t>
            </a:r>
            <a:r>
              <a:rPr lang="en-US" sz="1600" b="0" dirty="0"/>
              <a:t> e </a:t>
            </a:r>
            <a:r>
              <a:rPr lang="en-US" sz="1600" b="0" dirty="0" err="1"/>
              <a:t>prirjes</a:t>
            </a:r>
            <a:r>
              <a:rPr lang="en-US" sz="1600" b="0" dirty="0"/>
              <a:t> </a:t>
            </a:r>
            <a:r>
              <a:rPr lang="en-US" sz="1600" b="0" dirty="0" err="1"/>
              <a:t>klinikisht</a:t>
            </a:r>
            <a:r>
              <a:rPr lang="en-US" sz="1600" b="0" dirty="0"/>
              <a:t> </a:t>
            </a:r>
            <a:r>
              <a:rPr lang="en-US" sz="1600" b="0" dirty="0" err="1"/>
              <a:t>domethënëse</a:t>
            </a:r>
            <a:r>
              <a:rPr lang="en-US" sz="1600" b="0" dirty="0"/>
              <a:t>”. </a:t>
            </a:r>
            <a:endParaRPr lang="sq-AL" sz="1600" b="0" dirty="0"/>
          </a:p>
          <a:p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rrjedhojë</a:t>
            </a:r>
            <a:r>
              <a:rPr lang="en-US" sz="1600" b="0" dirty="0"/>
              <a:t>, </a:t>
            </a:r>
            <a:r>
              <a:rPr lang="en-US" sz="1600" b="0" dirty="0" err="1"/>
              <a:t>sistemi</a:t>
            </a:r>
            <a:r>
              <a:rPr lang="en-US" sz="1600" b="0" dirty="0"/>
              <a:t> </a:t>
            </a:r>
            <a:r>
              <a:rPr lang="en-US" sz="1600" b="0" dirty="0" err="1"/>
              <a:t>bëhet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shpejtë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reagim</a:t>
            </a:r>
            <a:r>
              <a:rPr lang="en-US" sz="1600" b="0" dirty="0"/>
              <a:t>,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përshtatshëm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multi-source ingestion,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rezilient</a:t>
            </a:r>
            <a:r>
              <a:rPr lang="en-US" sz="1600" b="0" dirty="0"/>
              <a:t> </a:t>
            </a:r>
            <a:r>
              <a:rPr lang="en-US" sz="1600" b="0" dirty="0" err="1"/>
              <a:t>ndaj</a:t>
            </a:r>
            <a:r>
              <a:rPr lang="en-US" sz="1600" b="0" dirty="0"/>
              <a:t> </a:t>
            </a:r>
            <a:r>
              <a:rPr lang="en-US" sz="1600" b="0" dirty="0" err="1"/>
              <a:t>humbjes</a:t>
            </a:r>
            <a:r>
              <a:rPr lang="en-US" sz="1600" b="0" dirty="0"/>
              <a:t> </a:t>
            </a:r>
            <a:r>
              <a:rPr lang="en-US" sz="1600" b="0" dirty="0" err="1"/>
              <a:t>së</a:t>
            </a:r>
            <a:r>
              <a:rPr lang="en-US" sz="1600" b="0" dirty="0"/>
              <a:t> </a:t>
            </a:r>
            <a:r>
              <a:rPr lang="en-US" sz="1600" b="0" dirty="0" err="1"/>
              <a:t>paketave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vlefshëm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personelin</a:t>
            </a:r>
            <a:r>
              <a:rPr lang="en-US" sz="1600" b="0" dirty="0"/>
              <a:t> </a:t>
            </a:r>
            <a:r>
              <a:rPr lang="en-US" sz="1600" b="0" dirty="0" err="1"/>
              <a:t>klinik</a:t>
            </a:r>
            <a:r>
              <a:rPr lang="en-US" sz="16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520F998-2B94-8DA0-6341-0CBE91F7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182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9498-8809-6DC2-C1A2-4E7C1726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8202-3400-5B73-5CCF-91DF52C69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anchor="b">
            <a:normAutofit/>
          </a:bodyPr>
          <a:lstStyle/>
          <a:p>
            <a:r>
              <a:rPr lang="en-US" b="1" dirty="0"/>
              <a:t>IV. DISKUTIME DHE PËRFUNDIME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9BF0527-31C3-AFDF-3015-F815C7FDD58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52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34A1-2F2C-F0E8-DD92-D8B00F5D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69EF-16C9-A652-72EC-6B011787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dirty="0" err="1"/>
              <a:t>Diskutime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DD0BF-9483-F163-51DC-151900BE6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8"/>
            <a:ext cx="8154917" cy="4304471"/>
          </a:xfrm>
        </p:spPr>
        <p:txBody>
          <a:bodyPr>
            <a:normAutofit/>
          </a:bodyPr>
          <a:lstStyle/>
          <a:p>
            <a:r>
              <a:rPr lang="en-US" sz="1600" b="0" dirty="0"/>
              <a:t>Analiza e </a:t>
            </a:r>
            <a:r>
              <a:rPr lang="en-US" sz="1600" b="0" dirty="0" err="1"/>
              <a:t>paraqitur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punim </a:t>
            </a:r>
            <a:r>
              <a:rPr lang="en-US" sz="1600" b="0" dirty="0" err="1"/>
              <a:t>tregon</a:t>
            </a:r>
            <a:r>
              <a:rPr lang="en-US" sz="1600" b="0" dirty="0"/>
              <a:t> se </a:t>
            </a:r>
            <a:r>
              <a:rPr lang="en-US" sz="1600" b="0" dirty="0" err="1"/>
              <a:t>sistemet</a:t>
            </a:r>
            <a:r>
              <a:rPr lang="en-US" sz="1600" b="0" dirty="0"/>
              <a:t> IoT </a:t>
            </a:r>
            <a:r>
              <a:rPr lang="en-US" sz="1600" b="0" dirty="0" err="1"/>
              <a:t>në</a:t>
            </a:r>
            <a:r>
              <a:rPr lang="en-US" sz="1600" b="0" dirty="0"/>
              <a:t> healthcare </a:t>
            </a:r>
            <a:r>
              <a:rPr lang="en-US" sz="1600" b="0" dirty="0" err="1"/>
              <a:t>kanë</a:t>
            </a:r>
            <a:r>
              <a:rPr lang="en-US" sz="1600" b="0" dirty="0"/>
              <a:t> </a:t>
            </a:r>
            <a:r>
              <a:rPr lang="en-US" sz="1600" b="0" dirty="0" err="1"/>
              <a:t>kaluar</a:t>
            </a:r>
            <a:r>
              <a:rPr lang="en-US" sz="1600" b="0" dirty="0"/>
              <a:t> </a:t>
            </a:r>
            <a:r>
              <a:rPr lang="en-US" sz="1600" b="0" dirty="0" err="1"/>
              <a:t>përtej</a:t>
            </a:r>
            <a:r>
              <a:rPr lang="en-US" sz="1600" b="0" dirty="0"/>
              <a:t> </a:t>
            </a:r>
            <a:r>
              <a:rPr lang="en-US" sz="1600" b="0" dirty="0" err="1"/>
              <a:t>fazës</a:t>
            </a:r>
            <a:r>
              <a:rPr lang="en-US" sz="1600" b="0" dirty="0"/>
              <a:t> </a:t>
            </a:r>
            <a:r>
              <a:rPr lang="en-US" sz="1600" b="0" dirty="0" err="1"/>
              <a:t>konceptuale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po </a:t>
            </a:r>
            <a:r>
              <a:rPr lang="en-US" sz="1600" b="0" dirty="0" err="1"/>
              <a:t>materializohen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platforma</a:t>
            </a:r>
            <a:r>
              <a:rPr lang="en-US" sz="1600" b="0" dirty="0"/>
              <a:t> </a:t>
            </a:r>
            <a:r>
              <a:rPr lang="en-US" sz="1600" b="0" dirty="0" err="1"/>
              <a:t>reale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monitorim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vazhdueshëm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mbështetje</a:t>
            </a:r>
            <a:r>
              <a:rPr lang="en-US" sz="1600" b="0" dirty="0"/>
              <a:t> operative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stafit</a:t>
            </a:r>
            <a:r>
              <a:rPr lang="en-US" sz="1600" b="0" dirty="0"/>
              <a:t> </a:t>
            </a:r>
            <a:r>
              <a:rPr lang="en-US" sz="1600" b="0" dirty="0" err="1"/>
              <a:t>shëndetësor</a:t>
            </a:r>
            <a:r>
              <a:rPr lang="en-US" sz="1600" b="0" dirty="0"/>
              <a:t>. </a:t>
            </a:r>
            <a:r>
              <a:rPr lang="en-US" sz="1600" b="0" dirty="0" err="1"/>
              <a:t>Studimet</a:t>
            </a:r>
            <a:r>
              <a:rPr lang="en-US" sz="1600" b="0" dirty="0"/>
              <a:t> e </a:t>
            </a:r>
            <a:r>
              <a:rPr lang="en-US" sz="1600" b="0" dirty="0" err="1"/>
              <a:t>shqyrtuara</a:t>
            </a:r>
            <a:r>
              <a:rPr lang="en-US" sz="1600" b="0" dirty="0"/>
              <a:t> </a:t>
            </a:r>
            <a:r>
              <a:rPr lang="en-US" sz="1600" b="0" dirty="0" err="1"/>
              <a:t>tregojnë</a:t>
            </a:r>
            <a:r>
              <a:rPr lang="en-US" sz="1600" b="0" dirty="0"/>
              <a:t> se </a:t>
            </a:r>
            <a:r>
              <a:rPr lang="en-US" sz="1600" b="0" dirty="0" err="1"/>
              <a:t>kombinimi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sensorëve</a:t>
            </a:r>
            <a:r>
              <a:rPr lang="en-US" sz="1600" b="0" dirty="0"/>
              <a:t> wearable, gateway-</a:t>
            </a:r>
            <a:r>
              <a:rPr lang="en-US" sz="1600" b="0" dirty="0" err="1"/>
              <a:t>ve</a:t>
            </a:r>
            <a:r>
              <a:rPr lang="en-US" sz="1600" b="0" dirty="0"/>
              <a:t> </a:t>
            </a:r>
            <a:r>
              <a:rPr lang="en-US" sz="1600" b="0" dirty="0" err="1"/>
              <a:t>lokale</a:t>
            </a:r>
            <a:r>
              <a:rPr lang="en-US" sz="1600" b="0" dirty="0"/>
              <a:t>, </a:t>
            </a:r>
            <a:r>
              <a:rPr lang="en-US" sz="1600" b="0" dirty="0" err="1"/>
              <a:t>protokolleve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lehta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komunikimit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përpunimit</a:t>
            </a:r>
            <a:r>
              <a:rPr lang="en-US" sz="1600" b="0" dirty="0"/>
              <a:t> cloud </a:t>
            </a:r>
            <a:r>
              <a:rPr lang="en-US" sz="1600" b="0" dirty="0" err="1"/>
              <a:t>krijon</a:t>
            </a:r>
            <a:r>
              <a:rPr lang="en-US" sz="1600" b="0" dirty="0"/>
              <a:t> </a:t>
            </a:r>
            <a:r>
              <a:rPr lang="en-US" sz="1600" b="0" dirty="0" err="1"/>
              <a:t>një</a:t>
            </a:r>
            <a:r>
              <a:rPr lang="en-US" sz="1600" b="0" dirty="0"/>
              <a:t> </a:t>
            </a:r>
            <a:r>
              <a:rPr lang="en-US" sz="1600" b="0" dirty="0" err="1"/>
              <a:t>bazë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fortë</a:t>
            </a:r>
            <a:r>
              <a:rPr lang="en-US" sz="1600" b="0" dirty="0"/>
              <a:t> </a:t>
            </a:r>
            <a:r>
              <a:rPr lang="en-US" sz="1600" b="0" dirty="0" err="1"/>
              <a:t>për</a:t>
            </a:r>
            <a:r>
              <a:rPr lang="en-US" sz="1600" b="0" dirty="0"/>
              <a:t> </a:t>
            </a:r>
            <a:r>
              <a:rPr lang="en-US" sz="1600" b="0" dirty="0" err="1"/>
              <a:t>monitorim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distancë</a:t>
            </a:r>
            <a:r>
              <a:rPr lang="en-US" sz="1600" b="0" dirty="0"/>
              <a:t>. </a:t>
            </a:r>
            <a:endParaRPr lang="sq-AL" sz="1600" b="0" dirty="0"/>
          </a:p>
          <a:p>
            <a:r>
              <a:rPr lang="en-US" sz="1600" b="0" dirty="0" err="1"/>
              <a:t>Megjithatë</a:t>
            </a:r>
            <a:r>
              <a:rPr lang="en-US" sz="1600" b="0" dirty="0"/>
              <a:t>, </a:t>
            </a:r>
            <a:r>
              <a:rPr lang="en-US" sz="1600" b="0" dirty="0" err="1"/>
              <a:t>zgjidhjet</a:t>
            </a:r>
            <a:r>
              <a:rPr lang="en-US" sz="1600" b="0" dirty="0"/>
              <a:t> </a:t>
            </a:r>
            <a:r>
              <a:rPr lang="en-US" sz="1600" b="0" dirty="0" err="1"/>
              <a:t>ekzistuese</a:t>
            </a:r>
            <a:r>
              <a:rPr lang="en-US" sz="1600" b="0" dirty="0"/>
              <a:t> </a:t>
            </a:r>
            <a:r>
              <a:rPr lang="en-US" sz="1600" b="0" dirty="0" err="1"/>
              <a:t>nuk</a:t>
            </a:r>
            <a:r>
              <a:rPr lang="en-US" sz="1600" b="0" dirty="0"/>
              <a:t> </a:t>
            </a:r>
            <a:r>
              <a:rPr lang="en-US" sz="1600" b="0" dirty="0" err="1"/>
              <a:t>janë</a:t>
            </a:r>
            <a:r>
              <a:rPr lang="en-US" sz="1600" b="0" dirty="0"/>
              <a:t> </a:t>
            </a:r>
            <a:r>
              <a:rPr lang="en-US" sz="1600" b="0" dirty="0" err="1"/>
              <a:t>homogjene</a:t>
            </a:r>
            <a:r>
              <a:rPr lang="en-US" sz="1600" b="0" dirty="0"/>
              <a:t>. Disa </a:t>
            </a:r>
            <a:r>
              <a:rPr lang="en-US" sz="1600" b="0" dirty="0" err="1"/>
              <a:t>janë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forta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mbledhje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transmetim</a:t>
            </a:r>
            <a:r>
              <a:rPr lang="en-US" sz="1600" b="0" dirty="0"/>
              <a:t>, </a:t>
            </a:r>
            <a:r>
              <a:rPr lang="en-US" sz="1600" b="0" dirty="0" err="1"/>
              <a:t>ndërsa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tjera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interpretim</a:t>
            </a:r>
            <a:r>
              <a:rPr lang="en-US" sz="1600" b="0" dirty="0"/>
              <a:t> </a:t>
            </a:r>
            <a:r>
              <a:rPr lang="en-US" sz="1600" b="0" dirty="0" err="1"/>
              <a:t>inteligjent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profileve</a:t>
            </a:r>
            <a:r>
              <a:rPr lang="en-US" sz="1600" b="0" dirty="0"/>
              <a:t> </a:t>
            </a:r>
            <a:r>
              <a:rPr lang="en-US" sz="1600" b="0" dirty="0" err="1"/>
              <a:t>fiziologjike</a:t>
            </a:r>
            <a:r>
              <a:rPr lang="en-US" sz="1600" b="0" dirty="0"/>
              <a:t>. </a:t>
            </a:r>
            <a:r>
              <a:rPr lang="en-US" sz="1600" b="0" dirty="0" err="1"/>
              <a:t>Kjo</a:t>
            </a:r>
            <a:r>
              <a:rPr lang="en-US" sz="1600" b="0" dirty="0"/>
              <a:t> </a:t>
            </a:r>
            <a:r>
              <a:rPr lang="en-US" sz="1600" b="0" dirty="0" err="1"/>
              <a:t>tregon</a:t>
            </a:r>
            <a:r>
              <a:rPr lang="en-US" sz="1600" b="0" dirty="0"/>
              <a:t> se </a:t>
            </a:r>
            <a:r>
              <a:rPr lang="en-US" sz="1600" b="0" dirty="0" err="1"/>
              <a:t>vlera</a:t>
            </a:r>
            <a:r>
              <a:rPr lang="en-US" sz="1600" b="0" dirty="0"/>
              <a:t> e </a:t>
            </a:r>
            <a:r>
              <a:rPr lang="en-US" sz="1600" b="0" dirty="0" err="1"/>
              <a:t>sistemit</a:t>
            </a:r>
            <a:r>
              <a:rPr lang="en-US" sz="1600" b="0" dirty="0"/>
              <a:t> </a:t>
            </a:r>
            <a:r>
              <a:rPr lang="en-US" sz="1600" b="0" dirty="0" err="1"/>
              <a:t>nuk</a:t>
            </a:r>
            <a:r>
              <a:rPr lang="en-US" sz="1600" b="0" dirty="0"/>
              <a:t> </a:t>
            </a:r>
            <a:r>
              <a:rPr lang="en-US" sz="1600" b="0" dirty="0" err="1"/>
              <a:t>varet</a:t>
            </a:r>
            <a:r>
              <a:rPr lang="en-US" sz="1600" b="0" dirty="0"/>
              <a:t> </a:t>
            </a:r>
            <a:r>
              <a:rPr lang="en-US" sz="1600" b="0" dirty="0" err="1"/>
              <a:t>vetëm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</a:t>
            </a:r>
            <a:r>
              <a:rPr lang="en-US" sz="1600" b="0" dirty="0" err="1"/>
              <a:t>saktësia</a:t>
            </a:r>
            <a:r>
              <a:rPr lang="en-US" sz="1600" b="0" dirty="0"/>
              <a:t> e </a:t>
            </a:r>
            <a:r>
              <a:rPr lang="en-US" sz="1600" b="0" dirty="0" err="1"/>
              <a:t>sensorëve</a:t>
            </a:r>
            <a:r>
              <a:rPr lang="en-US" sz="1600" b="0" dirty="0"/>
              <a:t>, </a:t>
            </a:r>
            <a:r>
              <a:rPr lang="en-US" sz="1600" b="0" dirty="0" err="1"/>
              <a:t>por</a:t>
            </a:r>
            <a:r>
              <a:rPr lang="en-US" sz="1600" b="0" dirty="0"/>
              <a:t> </a:t>
            </a:r>
            <a:r>
              <a:rPr lang="en-US" sz="1600" b="0" dirty="0" err="1"/>
              <a:t>edhe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</a:t>
            </a:r>
            <a:r>
              <a:rPr lang="en-US" sz="1600" b="0" dirty="0" err="1"/>
              <a:t>mënyra</a:t>
            </a:r>
            <a:r>
              <a:rPr lang="en-US" sz="1600" b="0" dirty="0"/>
              <a:t> se </a:t>
            </a:r>
            <a:r>
              <a:rPr lang="en-US" sz="1600" b="0" dirty="0" err="1"/>
              <a:t>si</a:t>
            </a:r>
            <a:r>
              <a:rPr lang="en-US" sz="1600" b="0" dirty="0"/>
              <a:t> </a:t>
            </a:r>
            <a:r>
              <a:rPr lang="en-US" sz="1600" b="0" dirty="0" err="1"/>
              <a:t>organizohet</a:t>
            </a:r>
            <a:r>
              <a:rPr lang="en-US" sz="1600" b="0" dirty="0"/>
              <a:t> </a:t>
            </a:r>
            <a:r>
              <a:rPr lang="en-US" sz="1600" b="0" dirty="0" err="1"/>
              <a:t>rrjedha</a:t>
            </a:r>
            <a:r>
              <a:rPr lang="en-US" sz="1600" b="0" dirty="0"/>
              <a:t> e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dhënave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si</a:t>
            </a:r>
            <a:r>
              <a:rPr lang="en-US" sz="1600" b="0" dirty="0"/>
              <a:t> </a:t>
            </a:r>
            <a:r>
              <a:rPr lang="en-US" sz="1600" b="0" dirty="0" err="1"/>
              <a:t>mbështetet</a:t>
            </a:r>
            <a:r>
              <a:rPr lang="en-US" sz="1600" b="0" dirty="0"/>
              <a:t> </a:t>
            </a:r>
            <a:r>
              <a:rPr lang="en-US" sz="1600" b="0" dirty="0" err="1"/>
              <a:t>shkallëzimi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tij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praktikë</a:t>
            </a:r>
            <a:r>
              <a:rPr lang="en-US" sz="16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2686146-7721-D461-2D0D-EAE2B28F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6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F8D99-D8F8-B076-D0AD-7549F0B1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BBD6-A29D-D367-C486-B9EECD65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8" y="561975"/>
            <a:ext cx="9050962" cy="1017937"/>
          </a:xfrm>
        </p:spPr>
        <p:txBody>
          <a:bodyPr>
            <a:normAutofit/>
          </a:bodyPr>
          <a:lstStyle/>
          <a:p>
            <a:r>
              <a:rPr lang="en-US" dirty="0" err="1"/>
              <a:t>Përfundime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78E18-467E-7C76-6DCD-F99A4B77C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457" y="1886778"/>
            <a:ext cx="8154917" cy="4304471"/>
          </a:xfrm>
        </p:spPr>
        <p:txBody>
          <a:bodyPr>
            <a:normAutofit/>
          </a:bodyPr>
          <a:lstStyle/>
          <a:p>
            <a:r>
              <a:rPr lang="en-US" sz="1600" b="0" dirty="0"/>
              <a:t>Si </a:t>
            </a:r>
            <a:r>
              <a:rPr lang="en-US" sz="1600" b="0" dirty="0" err="1"/>
              <a:t>përfundim</a:t>
            </a:r>
            <a:r>
              <a:rPr lang="en-US" sz="1600" b="0" dirty="0"/>
              <a:t>, </a:t>
            </a:r>
            <a:r>
              <a:rPr lang="en-US" sz="1600" b="0" dirty="0" err="1"/>
              <a:t>zhvillimi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IoT </a:t>
            </a:r>
            <a:r>
              <a:rPr lang="en-US" sz="1600" b="0" dirty="0" err="1"/>
              <a:t>në</a:t>
            </a:r>
            <a:r>
              <a:rPr lang="en-US" sz="1600" b="0" dirty="0"/>
              <a:t> smart healthcare po </a:t>
            </a:r>
            <a:r>
              <a:rPr lang="en-US" sz="1600" b="0" dirty="0" err="1"/>
              <a:t>lëviz</a:t>
            </a:r>
            <a:r>
              <a:rPr lang="en-US" sz="1600" b="0" dirty="0"/>
              <a:t> </a:t>
            </a:r>
            <a:r>
              <a:rPr lang="en-US" sz="1600" b="0" dirty="0" err="1"/>
              <a:t>nga</a:t>
            </a:r>
            <a:r>
              <a:rPr lang="en-US" sz="1600" b="0" dirty="0"/>
              <a:t> </a:t>
            </a:r>
            <a:r>
              <a:rPr lang="en-US" sz="1600" b="0" dirty="0" err="1"/>
              <a:t>telemetria</a:t>
            </a:r>
            <a:r>
              <a:rPr lang="en-US" sz="1600" b="0" dirty="0"/>
              <a:t> </a:t>
            </a:r>
            <a:r>
              <a:rPr lang="en-US" sz="1600" b="0" dirty="0" err="1"/>
              <a:t>pasive</a:t>
            </a:r>
            <a:r>
              <a:rPr lang="en-US" sz="1600" b="0" dirty="0"/>
              <a:t> </a:t>
            </a:r>
            <a:r>
              <a:rPr lang="en-US" sz="1600" b="0" dirty="0" err="1"/>
              <a:t>drejt</a:t>
            </a:r>
            <a:r>
              <a:rPr lang="en-US" sz="1600" b="0" dirty="0"/>
              <a:t> </a:t>
            </a:r>
            <a:r>
              <a:rPr lang="en-US" sz="1600" b="0" dirty="0" err="1"/>
              <a:t>ekosistemeve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integruara</a:t>
            </a:r>
            <a:r>
              <a:rPr lang="en-US" sz="1600" b="0" dirty="0"/>
              <a:t>,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elastike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interpretuese</a:t>
            </a:r>
            <a:r>
              <a:rPr lang="en-US" sz="1600" b="0" dirty="0"/>
              <a:t>. </a:t>
            </a:r>
            <a:r>
              <a:rPr lang="en-US" sz="1600" b="0" dirty="0" err="1"/>
              <a:t>Sensorët</a:t>
            </a:r>
            <a:r>
              <a:rPr lang="en-US" sz="1600" b="0" dirty="0"/>
              <a:t>, gateway-t, </a:t>
            </a:r>
            <a:r>
              <a:rPr lang="en-US" sz="1600" b="0" dirty="0" err="1"/>
              <a:t>protokollet</a:t>
            </a:r>
            <a:r>
              <a:rPr lang="en-US" sz="1600" b="0" dirty="0"/>
              <a:t> e </a:t>
            </a:r>
            <a:r>
              <a:rPr lang="en-US" sz="1600" b="0" dirty="0" err="1"/>
              <a:t>komunikimit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arkitekturat</a:t>
            </a:r>
            <a:r>
              <a:rPr lang="en-US" sz="1600" b="0" dirty="0"/>
              <a:t> edge-cloud </a:t>
            </a:r>
            <a:r>
              <a:rPr lang="en-US" sz="1600" b="0" dirty="0" err="1"/>
              <a:t>mbeten</a:t>
            </a:r>
            <a:r>
              <a:rPr lang="en-US" sz="1600" b="0" dirty="0"/>
              <a:t> </a:t>
            </a:r>
            <a:r>
              <a:rPr lang="en-US" sz="1600" b="0" dirty="0" err="1"/>
              <a:t>themeli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sistemit</a:t>
            </a:r>
            <a:r>
              <a:rPr lang="en-US" sz="1600" b="0" dirty="0"/>
              <a:t>, </a:t>
            </a:r>
            <a:r>
              <a:rPr lang="en-US" sz="1600" b="0" dirty="0" err="1"/>
              <a:t>por</a:t>
            </a:r>
            <a:r>
              <a:rPr lang="en-US" sz="1600" b="0" dirty="0"/>
              <a:t> </a:t>
            </a:r>
            <a:r>
              <a:rPr lang="en-US" sz="1600" b="0" dirty="0" err="1"/>
              <a:t>vlera</a:t>
            </a:r>
            <a:r>
              <a:rPr lang="en-US" sz="1600" b="0" dirty="0"/>
              <a:t> </a:t>
            </a:r>
            <a:r>
              <a:rPr lang="en-US" sz="1600" b="0" dirty="0" err="1"/>
              <a:t>reale</a:t>
            </a:r>
            <a:r>
              <a:rPr lang="en-US" sz="1600" b="0" dirty="0"/>
              <a:t> </a:t>
            </a:r>
            <a:r>
              <a:rPr lang="en-US" sz="1600" b="0" dirty="0" err="1"/>
              <a:t>shtohet</a:t>
            </a:r>
            <a:r>
              <a:rPr lang="en-US" sz="1600" b="0" dirty="0"/>
              <a:t> </a:t>
            </a:r>
            <a:r>
              <a:rPr lang="en-US" sz="1600" b="0" dirty="0" err="1"/>
              <a:t>kur</a:t>
            </a:r>
            <a:r>
              <a:rPr lang="en-US" sz="1600" b="0" dirty="0"/>
              <a:t> </a:t>
            </a:r>
            <a:r>
              <a:rPr lang="en-US" sz="1600" b="0" dirty="0" err="1"/>
              <a:t>kjo</a:t>
            </a:r>
            <a:r>
              <a:rPr lang="en-US" sz="1600" b="0" dirty="0"/>
              <a:t> </a:t>
            </a:r>
            <a:r>
              <a:rPr lang="en-US" sz="1600" b="0" dirty="0" err="1"/>
              <a:t>infrastrukturë</a:t>
            </a:r>
            <a:r>
              <a:rPr lang="en-US" sz="1600" b="0" dirty="0"/>
              <a:t> </a:t>
            </a:r>
            <a:r>
              <a:rPr lang="en-US" sz="1600" b="0" dirty="0" err="1"/>
              <a:t>plotësohet</a:t>
            </a:r>
            <a:r>
              <a:rPr lang="en-US" sz="1600" b="0" dirty="0"/>
              <a:t> me </a:t>
            </a:r>
            <a:r>
              <a:rPr lang="en-US" sz="1600" b="0" dirty="0" err="1"/>
              <a:t>mekanizma</a:t>
            </a:r>
            <a:r>
              <a:rPr lang="en-US" sz="1600" b="0" dirty="0"/>
              <a:t> </a:t>
            </a:r>
            <a:r>
              <a:rPr lang="en-US" sz="1600" b="0" dirty="0" err="1"/>
              <a:t>analitikë</a:t>
            </a:r>
            <a:r>
              <a:rPr lang="en-US" sz="1600" b="0" dirty="0"/>
              <a:t> </a:t>
            </a:r>
            <a:r>
              <a:rPr lang="en-US" sz="1600" b="0" dirty="0" err="1"/>
              <a:t>që</a:t>
            </a:r>
            <a:r>
              <a:rPr lang="en-US" sz="1600" b="0" dirty="0"/>
              <a:t> e </a:t>
            </a:r>
            <a:r>
              <a:rPr lang="en-US" sz="1600" b="0" dirty="0" err="1"/>
              <a:t>lexojnë</a:t>
            </a:r>
            <a:r>
              <a:rPr lang="en-US" sz="1600" b="0" dirty="0"/>
              <a:t> </a:t>
            </a:r>
            <a:r>
              <a:rPr lang="en-US" sz="1600" b="0" dirty="0" err="1"/>
              <a:t>gjendjen</a:t>
            </a:r>
            <a:r>
              <a:rPr lang="en-US" sz="1600" b="0" dirty="0"/>
              <a:t> e </a:t>
            </a:r>
            <a:r>
              <a:rPr lang="en-US" sz="1600" b="0" dirty="0" err="1"/>
              <a:t>pacientit</a:t>
            </a:r>
            <a:r>
              <a:rPr lang="en-US" sz="1600" b="0" dirty="0"/>
              <a:t> </a:t>
            </a:r>
            <a:r>
              <a:rPr lang="en-US" sz="1600" b="0" dirty="0" err="1"/>
              <a:t>në</a:t>
            </a:r>
            <a:r>
              <a:rPr lang="en-US" sz="1600" b="0" dirty="0"/>
              <a:t> </a:t>
            </a:r>
            <a:r>
              <a:rPr lang="en-US" sz="1600" b="0" dirty="0" err="1"/>
              <a:t>mënyrë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hershme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koordinuar</a:t>
            </a:r>
            <a:r>
              <a:rPr lang="en-US" sz="1600" b="0" dirty="0"/>
              <a:t>. </a:t>
            </a:r>
            <a:r>
              <a:rPr lang="en-US" sz="1600" b="0" dirty="0" err="1"/>
              <a:t>Zgjidhja</a:t>
            </a:r>
            <a:r>
              <a:rPr lang="en-US" sz="1600" b="0" dirty="0"/>
              <a:t> </a:t>
            </a:r>
            <a:r>
              <a:rPr lang="en-US" sz="1600" b="0" dirty="0" err="1"/>
              <a:t>reale</a:t>
            </a:r>
            <a:r>
              <a:rPr lang="en-US" sz="1600" b="0" dirty="0"/>
              <a:t> e </a:t>
            </a:r>
            <a:r>
              <a:rPr lang="en-US" sz="1600" b="0" dirty="0" err="1"/>
              <a:t>analizuar</a:t>
            </a:r>
            <a:r>
              <a:rPr lang="en-US" sz="1600" b="0" dirty="0"/>
              <a:t> </a:t>
            </a:r>
            <a:r>
              <a:rPr lang="en-US" sz="1600" b="0" dirty="0" err="1"/>
              <a:t>dëshmon</a:t>
            </a:r>
            <a:r>
              <a:rPr lang="en-US" sz="1600" b="0" dirty="0"/>
              <a:t> </a:t>
            </a:r>
            <a:r>
              <a:rPr lang="en-US" sz="1600" b="0" dirty="0" err="1"/>
              <a:t>që</a:t>
            </a:r>
            <a:r>
              <a:rPr lang="en-US" sz="1600" b="0" dirty="0"/>
              <a:t> </a:t>
            </a:r>
            <a:r>
              <a:rPr lang="en-US" sz="1600" b="0" dirty="0" err="1"/>
              <a:t>monitorimi</a:t>
            </a:r>
            <a:r>
              <a:rPr lang="en-US" sz="1600" b="0" dirty="0"/>
              <a:t> wearable </a:t>
            </a:r>
            <a:r>
              <a:rPr lang="en-US" sz="1600" b="0" dirty="0" err="1"/>
              <a:t>funksionon</a:t>
            </a:r>
            <a:r>
              <a:rPr lang="en-US" sz="1600" b="0" dirty="0"/>
              <a:t> </a:t>
            </a:r>
            <a:r>
              <a:rPr lang="en-US" sz="1600" b="0" dirty="0" err="1"/>
              <a:t>praktikisht</a:t>
            </a:r>
            <a:r>
              <a:rPr lang="en-US" sz="1600" b="0" dirty="0"/>
              <a:t>, </a:t>
            </a:r>
            <a:r>
              <a:rPr lang="en-US" sz="1600" b="0" dirty="0" err="1"/>
              <a:t>ndërsa</a:t>
            </a:r>
            <a:r>
              <a:rPr lang="en-US" sz="1600" b="0" dirty="0"/>
              <a:t> </a:t>
            </a:r>
            <a:r>
              <a:rPr lang="en-US" sz="1600" b="0" dirty="0" err="1"/>
              <a:t>zgjidhja</a:t>
            </a:r>
            <a:r>
              <a:rPr lang="en-US" sz="1600" b="0" dirty="0"/>
              <a:t> e </a:t>
            </a:r>
            <a:r>
              <a:rPr lang="en-US" sz="1600" b="0" dirty="0" err="1"/>
              <a:t>propozuar</a:t>
            </a:r>
            <a:r>
              <a:rPr lang="en-US" sz="1600" b="0" dirty="0"/>
              <a:t> </a:t>
            </a:r>
            <a:r>
              <a:rPr lang="en-US" sz="1600" b="0" dirty="0" err="1"/>
              <a:t>synon</a:t>
            </a:r>
            <a:r>
              <a:rPr lang="en-US" sz="1600" b="0" dirty="0"/>
              <a:t> ta </a:t>
            </a:r>
            <a:r>
              <a:rPr lang="en-US" sz="1600" b="0" dirty="0" err="1"/>
              <a:t>çojë</a:t>
            </a:r>
            <a:r>
              <a:rPr lang="en-US" sz="1600" b="0" dirty="0"/>
              <a:t> </a:t>
            </a:r>
            <a:r>
              <a:rPr lang="en-US" sz="1600" b="0" dirty="0" err="1"/>
              <a:t>këtë</a:t>
            </a:r>
            <a:r>
              <a:rPr lang="en-US" sz="1600" b="0" dirty="0"/>
              <a:t> model </a:t>
            </a:r>
            <a:r>
              <a:rPr lang="en-US" sz="1600" b="0" dirty="0" err="1"/>
              <a:t>një</a:t>
            </a:r>
            <a:r>
              <a:rPr lang="en-US" sz="1600" b="0" dirty="0"/>
              <a:t> hap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tej</a:t>
            </a:r>
            <a:r>
              <a:rPr lang="en-US" sz="1600" b="0" dirty="0"/>
              <a:t>, </a:t>
            </a:r>
            <a:r>
              <a:rPr lang="en-US" sz="1600" b="0" dirty="0" err="1"/>
              <a:t>drejt</a:t>
            </a:r>
            <a:r>
              <a:rPr lang="en-US" sz="1600" b="0" dirty="0"/>
              <a:t> </a:t>
            </a:r>
            <a:r>
              <a:rPr lang="en-US" sz="1600" b="0" dirty="0" err="1"/>
              <a:t>interpretimit</a:t>
            </a:r>
            <a:r>
              <a:rPr lang="en-US" sz="1600" b="0" dirty="0"/>
              <a:t> </a:t>
            </a:r>
            <a:r>
              <a:rPr lang="en-US" sz="1600" b="0" dirty="0" err="1"/>
              <a:t>shumë-parametrik</a:t>
            </a:r>
            <a:r>
              <a:rPr lang="en-US" sz="1600" b="0" dirty="0"/>
              <a:t>, </a:t>
            </a:r>
            <a:r>
              <a:rPr lang="en-US" sz="1600" b="0" dirty="0" err="1"/>
              <a:t>alarmimit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hershëm</a:t>
            </a:r>
            <a:r>
              <a:rPr lang="en-US" sz="1600" b="0" dirty="0"/>
              <a:t> </a:t>
            </a:r>
            <a:r>
              <a:rPr lang="en-US" sz="1600" b="0" dirty="0" err="1"/>
              <a:t>dhe</a:t>
            </a:r>
            <a:r>
              <a:rPr lang="en-US" sz="1600" b="0" dirty="0"/>
              <a:t> </a:t>
            </a:r>
            <a:r>
              <a:rPr lang="en-US" sz="1600" b="0" dirty="0" err="1"/>
              <a:t>mbështetjes</a:t>
            </a:r>
            <a:r>
              <a:rPr lang="en-US" sz="1600" b="0" dirty="0"/>
              <a:t> </a:t>
            </a:r>
            <a:r>
              <a:rPr lang="en-US" sz="1600" b="0" dirty="0" err="1"/>
              <a:t>më</a:t>
            </a:r>
            <a:r>
              <a:rPr lang="en-US" sz="1600" b="0" dirty="0"/>
              <a:t> </a:t>
            </a:r>
            <a:r>
              <a:rPr lang="en-US" sz="1600" b="0" dirty="0" err="1"/>
              <a:t>efektive</a:t>
            </a:r>
            <a:r>
              <a:rPr lang="en-US" sz="1600" b="0" dirty="0"/>
              <a:t> </a:t>
            </a:r>
            <a:r>
              <a:rPr lang="en-US" sz="1600" b="0" dirty="0" err="1"/>
              <a:t>të</a:t>
            </a:r>
            <a:r>
              <a:rPr lang="en-US" sz="1600" b="0" dirty="0"/>
              <a:t> </a:t>
            </a:r>
            <a:r>
              <a:rPr lang="en-US" sz="1600" b="0" dirty="0" err="1"/>
              <a:t>vendimmarrjes</a:t>
            </a:r>
            <a:r>
              <a:rPr lang="en-US" sz="1600" b="0" dirty="0"/>
              <a:t> </a:t>
            </a:r>
            <a:r>
              <a:rPr lang="en-US" sz="1600" b="0" dirty="0" err="1"/>
              <a:t>klinike</a:t>
            </a:r>
            <a:r>
              <a:rPr lang="en-US" sz="1600" b="0" dirty="0"/>
              <a:t>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BC64D72-9BD6-54B1-6F7E-B6EBD0DF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57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sq-AL" dirty="0"/>
              <a:t>Faleminderit!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{AC9836E1-1255-46A6-B302-0D5D2469C73D}TF7521aafa-c748-4c40-a498-ba511be234dc5b1b6097_win32-5039330bb2f3</Template>
  <TotalTime>0</TotalTime>
  <Words>3923</Words>
  <Application>Microsoft Office PowerPoint</Application>
  <PresentationFormat>Widescreen</PresentationFormat>
  <Paragraphs>390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Tenorite</vt:lpstr>
      <vt:lpstr>Custom</vt:lpstr>
      <vt:lpstr>TEMA: Integrimi I inteligjencës artificiale dhe blockchain në tokenizimin e artit</vt:lpstr>
      <vt:lpstr>Kapitujt kryesorë</vt:lpstr>
      <vt:lpstr>A. Përshkrimi i domenit IoT në shëndetësi</vt:lpstr>
      <vt:lpstr>B. Rëndësia e IoT në praktikë</vt:lpstr>
      <vt:lpstr>C. Problemet që synohen të zgjidhen</vt:lpstr>
      <vt:lpstr>D. Qëllimi dhe objektivat e punimit</vt:lpstr>
      <vt:lpstr>e. Struktura e punimit</vt:lpstr>
      <vt:lpstr>II. ANALIZA TEKNIKE E SISTEMIT IOT </vt:lpstr>
      <vt:lpstr>A. Analiza e sensorëve dhe parametrave 1. Llojet e sensorëve në IoT Healthcare</vt:lpstr>
      <vt:lpstr>PowerPoint Presentation</vt:lpstr>
      <vt:lpstr>2. Parametrat që maten</vt:lpstr>
      <vt:lpstr>3. Rangjet normale dhe kritike</vt:lpstr>
      <vt:lpstr>4. Frekuenca e matjes dhe saktësia</vt:lpstr>
      <vt:lpstr>5. Sfida në mbledhjen e të dhënave</vt:lpstr>
      <vt:lpstr>B. Transmetimi i të dhënave dhe IoT Gateway 1. Metodat e transmetimit </vt:lpstr>
      <vt:lpstr>2. Roli i IoT Gateway</vt:lpstr>
      <vt:lpstr>3. Modelet e komunikimit</vt:lpstr>
      <vt:lpstr>4. Problematikat</vt:lpstr>
      <vt:lpstr>C. Protokollet e komunikimit</vt:lpstr>
      <vt:lpstr>PROTOKOLLET E RRJETIT/TRANSMETIMIT NË IoT HEALTHCARE</vt:lpstr>
      <vt:lpstr>5. Krahasimi i protokolleve</vt:lpstr>
      <vt:lpstr>6. Përshtatshmëria për shëndetësi</vt:lpstr>
      <vt:lpstr>D. Arkitekturat IoT</vt:lpstr>
      <vt:lpstr>3. Arkitektura e propozuar</vt:lpstr>
      <vt:lpstr>4. Komponentët dhe rolet</vt:lpstr>
      <vt:lpstr>5. Avantazhet dhe kufizimet</vt:lpstr>
      <vt:lpstr>III. PËRDORIMI REAL I IOT NË HEALTHCARE DHE ANALIZIMI I ZGJIDHJEVE</vt:lpstr>
      <vt:lpstr>A. Analiza e një zgjidhjeje reale IoT për monitorim shëndetësor</vt:lpstr>
      <vt:lpstr>PowerPoint Presentation</vt:lpstr>
      <vt:lpstr>KOMPONENTËT KRYESORË TË ZGJIDHJES TË ANALIZUAR</vt:lpstr>
      <vt:lpstr>PARAMETRAT KRYESORË TË MONITORUAR NË ZGJIDHJEN E ANALIZUAR</vt:lpstr>
      <vt:lpstr>B. Kufizimet e zgjidhjes së analizuar dhe nevoja për përmirësim</vt:lpstr>
      <vt:lpstr>KUFIZIMET KRYESORE TË ZGJIDHJES REALE TË ANALIZUAR</vt:lpstr>
      <vt:lpstr>C. Zgjidhja e propozuar</vt:lpstr>
      <vt:lpstr>ZGJIDHJA E PROPOZUAR DHE ZGJERIMI I SENSORËVE</vt:lpstr>
      <vt:lpstr>Arkitektura e Propozuar për Monitorim Inteligjent Shëndetësor</vt:lpstr>
      <vt:lpstr>KRAHASIM NDËRMJET ZGJIDHJES SË ANALIZUAR DHE ZGJIDHJES SË PROPOZUAR</vt:lpstr>
      <vt:lpstr>D. Vlera e përmirësimit të propozuar në një use-case konkret</vt:lpstr>
      <vt:lpstr>IV. DISKUTIME DHE PËRFUNDIME</vt:lpstr>
      <vt:lpstr>Diskutime</vt:lpstr>
      <vt:lpstr>Përfundime</vt:lpstr>
      <vt:lpstr>Faleminderit!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Milot Qorrolli</dc:creator>
  <cp:lastModifiedBy>Milot Qorrolli</cp:lastModifiedBy>
  <cp:revision>2</cp:revision>
  <dcterms:created xsi:type="dcterms:W3CDTF">2026-04-19T09:47:05Z</dcterms:created>
  <dcterms:modified xsi:type="dcterms:W3CDTF">2026-04-19T12:51:33Z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