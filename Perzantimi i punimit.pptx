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6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7025-4B38-0879-AD7C-F80E824A7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81E91-9189-ADA1-EAE6-AC69692CE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1302C-F98C-F3D5-A407-4E4FB77C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62D4-E31E-770A-CB80-033A72D7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31B68-774F-955D-F269-ABE6FE0F3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16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43C2-4AC8-184C-384E-15762F236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786E0-99B0-AC96-74D4-6A48C77F6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392C4-B32E-F66C-F356-CA35F495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60A5-40D9-B298-0236-277A3A28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34533-A816-1477-B985-F8693DE6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95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B94A-E29D-BD78-D9BA-8592EA23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40E2B-EC77-F152-B314-85B7C75FF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752A3-8481-D8DA-E2D7-E1BE6216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2AE16-5939-8765-4F44-103B1AF6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48818-7B8D-912B-7C4F-379EF99B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5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D368-F2BD-601C-A3D4-1D80F8EB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CCD13-0F27-0B94-CE6F-DD5041887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DF8B3-6162-810B-9386-004F475B5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22371-7B0B-C6C5-F101-19E2682A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60139-0D83-D765-F5A4-0F060DF4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8221-B0F8-C903-C89C-34C2C457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87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4541-3782-C8B1-E3E8-319EAE8B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D02A5-49E7-0FD6-C48D-AE49E497E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3B19F-A16A-3BA5-2ACE-C31EE1C52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8406E-8D5A-1169-07B7-D2F45551E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463178-0D3E-7444-B6BE-EA65E2218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876CE-5E65-3DF6-5C6C-59AB7D27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08343-BD8C-7618-5B26-64CB6B32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1EBDD7-44B0-06E1-34CC-8A0E9A50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0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7F151-7386-AFDF-266A-A5C2D88CA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CB15A-C933-918E-E962-B8E2C14D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16C80-268A-1E03-7A31-E958C68F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BA0DD-D549-E9BD-D36A-BB2E3C61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9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EA906-478D-F7CE-3E0F-0D02336A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8587C-C7E8-0E41-8757-9DDB5FCF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81899-44F3-79E9-0051-86ADFA34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62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700CA-D57E-49ED-0C5F-0C3BB754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BD4B8-0B14-B113-166A-DBC7BD84F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DC21E-35E4-C6F2-2D0A-DE99A532B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CADBF-DE74-3809-5A3C-4E71B15F3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9BB1F-E629-660B-C021-8A6532F0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430A-C6EE-8ACB-5674-A86FBF3E2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844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0235-81E7-A57A-8893-CEC42FADB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E917F-504C-7A44-DA6F-A62543258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4E9A3-325A-2008-7D54-A70E033AC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AAEB4-B587-1BC1-9F2A-2E713942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F5F68-AEDC-DC21-AA4C-D4A2ECEEB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2FBE-6CF8-7DC4-6285-A1B0AB45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64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5F8F-1EA7-4926-DADE-7C7286AF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AB8C1-CFE2-9F80-8E32-07F4C5B92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BBBEF-3131-6072-AE33-4848990F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2D2B-98B0-1531-D835-205D1944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E7620-BB06-3120-6BF6-2CC47538D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6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9D666-6562-7E90-F144-AC5FD7AE2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CAA22-20B7-8DB5-C60C-76490DC5B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D837-D59C-3A6D-0B06-D9D2D39A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5B2B-2B2A-EA7A-9758-C800AB53B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3F99C-9FE8-C1D4-B9A7-C010514C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9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8FDD2-3FBC-9C57-DF46-80DC3EC8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A980-ECEA-2290-6E36-38C91AB06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1731-A06B-BA26-97DC-87FDBDC04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ABD26B-4278-4F1B-9176-D0B6713F7FCC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BAF39-4128-802B-6098-90429D45C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ECCB-EB2F-D7E6-93AB-ACAE6A9A1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BA2A8-DB19-4304-91FC-9EB6C15A47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55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3825-D473-F6D7-61B8-2C617519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989"/>
            <a:ext cx="10515600" cy="933323"/>
          </a:xfrm>
        </p:spPr>
        <p:txBody>
          <a:bodyPr>
            <a:normAutofit/>
          </a:bodyPr>
          <a:lstStyle/>
          <a:p>
            <a:r>
              <a:rPr lang="en-GB" sz="4000" dirty="0" err="1"/>
              <a:t>Të</a:t>
            </a:r>
            <a:r>
              <a:rPr lang="en-GB" sz="4000" dirty="0"/>
              <a:t> </a:t>
            </a:r>
            <a:r>
              <a:rPr lang="en-GB" sz="4000" dirty="0" err="1"/>
              <a:t>dhënat</a:t>
            </a:r>
            <a:r>
              <a:rPr lang="en-GB" sz="4000" dirty="0"/>
              <a:t> e </a:t>
            </a:r>
            <a:r>
              <a:rPr lang="en-GB" sz="4000" dirty="0" err="1"/>
              <a:t>punimit</a:t>
            </a:r>
            <a:r>
              <a:rPr lang="en-GB" sz="4000" dirty="0"/>
              <a:t> </a:t>
            </a:r>
            <a:r>
              <a:rPr lang="en-GB" sz="4000" dirty="0" err="1"/>
              <a:t>kryesor</a:t>
            </a:r>
            <a:endParaRPr lang="en-GB" sz="4000" dirty="0"/>
          </a:p>
        </p:txBody>
      </p:sp>
      <p:graphicFrame>
        <p:nvGraphicFramePr>
          <p:cNvPr id="33" name="Content Placeholder 32">
            <a:extLst>
              <a:ext uri="{FF2B5EF4-FFF2-40B4-BE49-F238E27FC236}">
                <a16:creationId xmlns:a16="http://schemas.microsoft.com/office/drawing/2014/main" id="{C3C9ADC7-2447-B772-F12D-1A4F93DDD5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420061"/>
              </p:ext>
            </p:extLst>
          </p:nvPr>
        </p:nvGraphicFramePr>
        <p:xfrm>
          <a:off x="1242510" y="1472184"/>
          <a:ext cx="10635546" cy="3606763"/>
        </p:xfrm>
        <a:graphic>
          <a:graphicData uri="http://schemas.openxmlformats.org/drawingml/2006/table">
            <a:tbl>
              <a:tblPr/>
              <a:tblGrid>
                <a:gridCol w="4046757">
                  <a:extLst>
                    <a:ext uri="{9D8B030D-6E8A-4147-A177-3AD203B41FA5}">
                      <a16:colId xmlns:a16="http://schemas.microsoft.com/office/drawing/2014/main" val="379156478"/>
                    </a:ext>
                  </a:extLst>
                </a:gridCol>
                <a:gridCol w="6588789">
                  <a:extLst>
                    <a:ext uri="{9D8B030D-6E8A-4147-A177-3AD203B41FA5}">
                      <a16:colId xmlns:a16="http://schemas.microsoft.com/office/drawing/2014/main" val="730328384"/>
                    </a:ext>
                  </a:extLst>
                </a:gridCol>
              </a:tblGrid>
              <a:tr h="594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Autori/</a:t>
                      </a:r>
                      <a:r>
                        <a:rPr lang="en-GB" sz="1600" b="1" dirty="0" err="1"/>
                        <a:t>ët</a:t>
                      </a:r>
                      <a:endParaRPr lang="en-GB" sz="1600" dirty="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600" dirty="0"/>
                        <a:t>Juri Mattila, Timo Seppälä, Pellervo Valkama, Taneli Hukkinen, Kary Främling, Jan Holmström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303887"/>
                  </a:ext>
                </a:extLst>
              </a:tr>
              <a:tr h="1163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 err="1"/>
                        <a:t>Titulli</a:t>
                      </a:r>
                      <a:endParaRPr lang="en-GB" sz="1600" dirty="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Blockchain-based deployment of product-centric information systems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123259"/>
                  </a:ext>
                </a:extLst>
              </a:tr>
              <a:tr h="46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Viti i publikimit</a:t>
                      </a:r>
                      <a:endParaRPr lang="en-GB" sz="160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2021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11733"/>
                  </a:ext>
                </a:extLst>
              </a:tr>
              <a:tr h="46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Emri i Konferencës/Revistës</a:t>
                      </a:r>
                      <a:endParaRPr lang="en-GB" sz="160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Science Direct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65937"/>
                  </a:ext>
                </a:extLst>
              </a:tr>
              <a:tr h="46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DOI / Link Shkencor</a:t>
                      </a:r>
                      <a:endParaRPr lang="en-GB" sz="160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dirty="0"/>
                        <a:t>https://www.sciencedirect.com/science/article/pii/S0166361520305765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27401"/>
                  </a:ext>
                </a:extLst>
              </a:tr>
              <a:tr h="462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Numri i citimeve</a:t>
                      </a:r>
                      <a:endParaRPr lang="en-GB" sz="1600"/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dirty="0"/>
                        <a:t>16</a:t>
                      </a:r>
                    </a:p>
                  </a:txBody>
                  <a:tcPr marL="48628" marR="48628" marT="24314" marB="2431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883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959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1926-AC8E-46CC-BFA3-C3948BA33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Abstrakt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C001-685A-419F-C5CB-D5638591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875"/>
            <a:ext cx="10515600" cy="5272088"/>
          </a:xfrm>
        </p:spPr>
        <p:txBody>
          <a:bodyPr>
            <a:normAutofit/>
          </a:bodyPr>
          <a:lstStyle/>
          <a:p>
            <a:r>
              <a:rPr lang="en-GB" sz="1600" dirty="0"/>
              <a:t>Ky punim </a:t>
            </a:r>
            <a:r>
              <a:rPr lang="en-GB" sz="1600" dirty="0" err="1"/>
              <a:t>analizon</a:t>
            </a:r>
            <a:r>
              <a:rPr lang="en-GB" sz="1600" dirty="0"/>
              <a:t> </a:t>
            </a:r>
            <a:r>
              <a:rPr lang="en-GB" sz="1600" dirty="0" err="1"/>
              <a:t>qasjen</a:t>
            </a:r>
            <a:r>
              <a:rPr lang="en-GB" sz="1600" dirty="0"/>
              <a:t> e </a:t>
            </a:r>
            <a:r>
              <a:rPr lang="en-GB" sz="1600" dirty="0" err="1"/>
              <a:t>propozuar</a:t>
            </a:r>
            <a:r>
              <a:rPr lang="en-GB" sz="1600" dirty="0"/>
              <a:t> </a:t>
            </a:r>
            <a:r>
              <a:rPr lang="en-GB" sz="1600" dirty="0" err="1"/>
              <a:t>nga</a:t>
            </a:r>
            <a:r>
              <a:rPr lang="en-GB" sz="1600" dirty="0"/>
              <a:t> Mattila et al. (2021), e </a:t>
            </a:r>
            <a:r>
              <a:rPr lang="en-GB" sz="1600" dirty="0" err="1"/>
              <a:t>cila</a:t>
            </a:r>
            <a:r>
              <a:rPr lang="en-GB" sz="1600" dirty="0"/>
              <a:t> </a:t>
            </a:r>
            <a:r>
              <a:rPr lang="en-GB" sz="1600" dirty="0" err="1"/>
              <a:t>prezanton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mekanizëm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ri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menaxhimin</a:t>
            </a:r>
            <a:r>
              <a:rPr lang="en-GB" sz="1600" dirty="0"/>
              <a:t> e </a:t>
            </a:r>
            <a:r>
              <a:rPr lang="en-GB" sz="1600" dirty="0" err="1"/>
              <a:t>informacionit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produkteve</a:t>
            </a:r>
            <a:r>
              <a:rPr lang="en-GB" sz="1600" dirty="0"/>
              <a:t> </a:t>
            </a:r>
            <a:r>
              <a:rPr lang="en-GB" sz="1600" dirty="0" err="1"/>
              <a:t>përmes</a:t>
            </a:r>
            <a:r>
              <a:rPr lang="en-GB" sz="1600" dirty="0"/>
              <a:t> </a:t>
            </a:r>
            <a:r>
              <a:rPr lang="en-GB" sz="1600" dirty="0" err="1"/>
              <a:t>teknologjisë</a:t>
            </a:r>
            <a:r>
              <a:rPr lang="en-GB" sz="1600" dirty="0"/>
              <a:t> blockchain. </a:t>
            </a:r>
          </a:p>
          <a:p>
            <a:r>
              <a:rPr lang="en-GB" sz="1600" dirty="0" err="1"/>
              <a:t>Zgjidhja</a:t>
            </a:r>
            <a:r>
              <a:rPr lang="en-GB" sz="1600" dirty="0"/>
              <a:t> </a:t>
            </a:r>
            <a:r>
              <a:rPr lang="en-GB" sz="1600" dirty="0" err="1"/>
              <a:t>synon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adresojë</a:t>
            </a:r>
            <a:r>
              <a:rPr lang="en-GB" sz="1600" dirty="0"/>
              <a:t> tri </a:t>
            </a:r>
            <a:r>
              <a:rPr lang="en-GB" sz="1600" dirty="0" err="1"/>
              <a:t>sfida</a:t>
            </a:r>
            <a:r>
              <a:rPr lang="en-GB" sz="1600" dirty="0"/>
              <a:t> </a:t>
            </a:r>
            <a:r>
              <a:rPr lang="en-GB" sz="1600" dirty="0" err="1"/>
              <a:t>kryesore</a:t>
            </a:r>
            <a:r>
              <a:rPr lang="en-GB" sz="1600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mungesën</a:t>
            </a:r>
            <a:r>
              <a:rPr lang="en-GB" sz="1600" dirty="0"/>
              <a:t> e </a:t>
            </a:r>
            <a:r>
              <a:rPr lang="en-GB" sz="1600" dirty="0" err="1"/>
              <a:t>bashkëpunimit</a:t>
            </a:r>
            <a:r>
              <a:rPr lang="en-GB" sz="1600" dirty="0"/>
              <a:t> </a:t>
            </a:r>
            <a:r>
              <a:rPr lang="en-GB" sz="1600" dirty="0" err="1"/>
              <a:t>ndër</a:t>
            </a:r>
            <a:r>
              <a:rPr lang="en-GB" sz="1600" dirty="0"/>
              <a:t>-industrial,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fragmentimin</a:t>
            </a:r>
            <a:r>
              <a:rPr lang="en-GB" sz="1600" dirty="0"/>
              <a:t> e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mungesën</a:t>
            </a:r>
            <a:r>
              <a:rPr lang="en-GB" sz="1600" dirty="0"/>
              <a:t> e </a:t>
            </a:r>
            <a:r>
              <a:rPr lang="en-GB" sz="1600" dirty="0" err="1"/>
              <a:t>ruajtjes</a:t>
            </a:r>
            <a:r>
              <a:rPr lang="en-GB" sz="1600" dirty="0"/>
              <a:t> se </a:t>
            </a:r>
            <a:r>
              <a:rPr lang="en-GB" sz="1600" dirty="0" err="1"/>
              <a:t>informacionit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ciklit</a:t>
            </a:r>
            <a:r>
              <a:rPr lang="en-GB" sz="1600" dirty="0"/>
              <a:t> </a:t>
            </a:r>
            <a:r>
              <a:rPr lang="en-GB" sz="1600" dirty="0" err="1"/>
              <a:t>jetësor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produkteve</a:t>
            </a:r>
            <a:r>
              <a:rPr lang="en-GB" sz="1600" dirty="0"/>
              <a:t>. </a:t>
            </a:r>
          </a:p>
          <a:p>
            <a:r>
              <a:rPr lang="en-GB" sz="1600" dirty="0" err="1"/>
              <a:t>Autorët</a:t>
            </a:r>
            <a:r>
              <a:rPr lang="en-GB" sz="1600" dirty="0"/>
              <a:t> </a:t>
            </a:r>
            <a:r>
              <a:rPr lang="en-GB" sz="1600" dirty="0" err="1"/>
              <a:t>propozojnë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sistem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decentralizuar</a:t>
            </a:r>
            <a:r>
              <a:rPr lang="en-GB" sz="1600" dirty="0"/>
              <a:t> </a:t>
            </a:r>
            <a:r>
              <a:rPr lang="en-GB" sz="1600" dirty="0" err="1"/>
              <a:t>ku</a:t>
            </a:r>
            <a:r>
              <a:rPr lang="en-GB" sz="1600" dirty="0"/>
              <a:t> </a:t>
            </a:r>
            <a:r>
              <a:rPr lang="en-GB" sz="1600" dirty="0" err="1"/>
              <a:t>asetet</a:t>
            </a:r>
            <a:r>
              <a:rPr lang="en-GB" sz="1600" dirty="0"/>
              <a:t> </a:t>
            </a:r>
            <a:r>
              <a:rPr lang="en-GB" sz="1600" dirty="0" err="1"/>
              <a:t>fizike</a:t>
            </a:r>
            <a:r>
              <a:rPr lang="en-GB" sz="1600" dirty="0"/>
              <a:t> </a:t>
            </a:r>
            <a:r>
              <a:rPr lang="en-GB" sz="1600" dirty="0" err="1"/>
              <a:t>tokenizohen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gjurmohen</a:t>
            </a:r>
            <a:r>
              <a:rPr lang="en-GB" sz="1600" dirty="0"/>
              <a:t> </a:t>
            </a:r>
            <a:r>
              <a:rPr lang="en-GB" sz="1600" dirty="0" err="1"/>
              <a:t>gjatë</a:t>
            </a:r>
            <a:r>
              <a:rPr lang="en-GB" sz="1600" dirty="0"/>
              <a:t> </a:t>
            </a:r>
            <a:r>
              <a:rPr lang="en-GB" sz="1600" dirty="0" err="1"/>
              <a:t>ciklit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tyre </a:t>
            </a:r>
            <a:r>
              <a:rPr lang="en-GB" sz="1600" dirty="0" err="1"/>
              <a:t>jetësor</a:t>
            </a:r>
            <a:r>
              <a:rPr lang="en-GB" sz="1600" dirty="0"/>
              <a:t> </a:t>
            </a:r>
            <a:r>
              <a:rPr lang="en-GB" sz="1600" dirty="0" err="1"/>
              <a:t>përmes</a:t>
            </a:r>
            <a:r>
              <a:rPr lang="en-GB" sz="1600" dirty="0"/>
              <a:t> smart contracts.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demonstrim</a:t>
            </a:r>
            <a:r>
              <a:rPr lang="en-GB" sz="1600" dirty="0"/>
              <a:t> </a:t>
            </a:r>
            <a:r>
              <a:rPr lang="en-GB" sz="1600" dirty="0" err="1"/>
              <a:t>përdoret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vinç</a:t>
            </a:r>
            <a:r>
              <a:rPr lang="en-GB" sz="1600" dirty="0"/>
              <a:t> </a:t>
            </a:r>
            <a:r>
              <a:rPr lang="en-GB" sz="1600" dirty="0" err="1"/>
              <a:t>ngarkues</a:t>
            </a:r>
            <a:r>
              <a:rPr lang="en-GB" sz="1600" dirty="0"/>
              <a:t>,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cili</a:t>
            </a:r>
            <a:r>
              <a:rPr lang="en-GB" sz="1600" dirty="0"/>
              <a:t> </a:t>
            </a:r>
            <a:r>
              <a:rPr lang="en-GB" sz="1600" dirty="0" err="1"/>
              <a:t>përfaqëson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produkt</a:t>
            </a:r>
            <a:r>
              <a:rPr lang="en-GB" sz="1600" dirty="0"/>
              <a:t> me </a:t>
            </a:r>
            <a:r>
              <a:rPr lang="en-GB" sz="1600" dirty="0" err="1"/>
              <a:t>shumë</a:t>
            </a:r>
            <a:r>
              <a:rPr lang="en-GB" sz="1600" dirty="0"/>
              <a:t> </a:t>
            </a:r>
            <a:r>
              <a:rPr lang="en-GB" sz="1600" dirty="0" err="1"/>
              <a:t>palë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përfshira</a:t>
            </a:r>
            <a:r>
              <a:rPr lang="en-GB" sz="1600" dirty="0"/>
              <a:t> </a:t>
            </a:r>
            <a:r>
              <a:rPr lang="en-GB" sz="1600" dirty="0" err="1"/>
              <a:t>gjatë</a:t>
            </a:r>
            <a:r>
              <a:rPr lang="en-GB" sz="1600" dirty="0"/>
              <a:t> </a:t>
            </a:r>
            <a:r>
              <a:rPr lang="en-GB" sz="1600" dirty="0" err="1"/>
              <a:t>jetës</a:t>
            </a:r>
            <a:r>
              <a:rPr lang="en-GB" sz="1600" dirty="0"/>
              <a:t> </a:t>
            </a:r>
            <a:r>
              <a:rPr lang="en-GB" sz="1600" dirty="0" err="1"/>
              <a:t>së</a:t>
            </a:r>
            <a:r>
              <a:rPr lang="en-GB" sz="1600" dirty="0"/>
              <a:t> </a:t>
            </a:r>
            <a:r>
              <a:rPr lang="en-GB" sz="1600" dirty="0" err="1"/>
              <a:t>tij</a:t>
            </a:r>
            <a:r>
              <a:rPr lang="en-GB" sz="1600" dirty="0"/>
              <a:t>. </a:t>
            </a:r>
            <a:r>
              <a:rPr lang="en-GB" sz="1600" dirty="0" err="1"/>
              <a:t>Përmes</a:t>
            </a:r>
            <a:r>
              <a:rPr lang="en-GB" sz="1600" dirty="0"/>
              <a:t> </a:t>
            </a:r>
            <a:r>
              <a:rPr lang="en-GB" sz="1600" dirty="0" err="1"/>
              <a:t>mekanizmave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konsensusit</a:t>
            </a:r>
            <a:r>
              <a:rPr lang="en-GB" sz="1600" dirty="0"/>
              <a:t>, </a:t>
            </a:r>
            <a:r>
              <a:rPr lang="en-GB" sz="1600" dirty="0" err="1"/>
              <a:t>zgjidhja</a:t>
            </a:r>
            <a:r>
              <a:rPr lang="en-GB" sz="1600" dirty="0"/>
              <a:t> </a:t>
            </a:r>
            <a:r>
              <a:rPr lang="en-GB" sz="1600" dirty="0" err="1"/>
              <a:t>synon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mundësojë</a:t>
            </a:r>
            <a:r>
              <a:rPr lang="en-GB" sz="1600" dirty="0"/>
              <a:t> </a:t>
            </a:r>
            <a:r>
              <a:rPr lang="en-GB" sz="1600" dirty="0" err="1"/>
              <a:t>mbledhjen</a:t>
            </a:r>
            <a:r>
              <a:rPr lang="en-GB" sz="1600" dirty="0"/>
              <a:t> e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me </a:t>
            </a:r>
            <a:r>
              <a:rPr lang="en-GB" sz="1600" dirty="0" err="1"/>
              <a:t>vlerë</a:t>
            </a:r>
            <a:r>
              <a:rPr lang="en-GB" sz="1600" dirty="0"/>
              <a:t> </a:t>
            </a:r>
            <a:r>
              <a:rPr lang="en-GB" sz="1600" dirty="0" err="1"/>
              <a:t>nga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gjithë</a:t>
            </a:r>
            <a:r>
              <a:rPr lang="en-GB" sz="1600" dirty="0"/>
              <a:t> </a:t>
            </a:r>
            <a:r>
              <a:rPr lang="en-GB" sz="1600" dirty="0" err="1"/>
              <a:t>aktorët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platformë</a:t>
            </a:r>
            <a:r>
              <a:rPr lang="en-GB" sz="1600" dirty="0"/>
              <a:t> </a:t>
            </a:r>
            <a:r>
              <a:rPr lang="en-GB" sz="1600" dirty="0" err="1"/>
              <a:t>vetëqëndrueshme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shkëmbimin</a:t>
            </a:r>
            <a:r>
              <a:rPr lang="en-GB" sz="1600" dirty="0"/>
              <a:t> e tyre. Analiza </a:t>
            </a:r>
            <a:r>
              <a:rPr lang="en-GB" sz="1600" dirty="0" err="1"/>
              <a:t>vlerëson</a:t>
            </a:r>
            <a:r>
              <a:rPr lang="en-GB" sz="1600" dirty="0"/>
              <a:t> </a:t>
            </a:r>
            <a:r>
              <a:rPr lang="en-GB" sz="1600" dirty="0" err="1"/>
              <a:t>kontributet</a:t>
            </a:r>
            <a:r>
              <a:rPr lang="en-GB" sz="1600" dirty="0"/>
              <a:t> </a:t>
            </a:r>
            <a:r>
              <a:rPr lang="en-GB" sz="1600" dirty="0" err="1"/>
              <a:t>inovative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punimit</a:t>
            </a:r>
            <a:r>
              <a:rPr lang="en-GB" sz="1600" dirty="0"/>
              <a:t>, </a:t>
            </a:r>
            <a:r>
              <a:rPr lang="en-GB" sz="1600" dirty="0" err="1"/>
              <a:t>kufizimet</a:t>
            </a:r>
            <a:r>
              <a:rPr lang="en-GB" sz="1600" dirty="0"/>
              <a:t> </a:t>
            </a:r>
            <a:r>
              <a:rPr lang="en-GB" sz="1600" dirty="0" err="1"/>
              <a:t>teknike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potencialin</a:t>
            </a:r>
            <a:r>
              <a:rPr lang="en-GB" sz="1600" dirty="0"/>
              <a:t> e </a:t>
            </a:r>
            <a:r>
              <a:rPr lang="en-GB" sz="1600" dirty="0" err="1"/>
              <a:t>tij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transformimin</a:t>
            </a:r>
            <a:r>
              <a:rPr lang="en-GB" sz="1600" dirty="0"/>
              <a:t> e </a:t>
            </a:r>
            <a:r>
              <a:rPr lang="en-GB" sz="1600" dirty="0" err="1"/>
              <a:t>zinxhirit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vlerës</a:t>
            </a:r>
            <a:r>
              <a:rPr lang="en-GB" sz="1600" dirty="0"/>
              <a:t> industrial.</a:t>
            </a:r>
          </a:p>
        </p:txBody>
      </p:sp>
    </p:spTree>
    <p:extLst>
      <p:ext uri="{BB962C8B-B14F-4D97-AF65-F5344CB8AC3E}">
        <p14:creationId xmlns:p14="http://schemas.microsoft.com/office/powerpoint/2010/main" val="278398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B872-CA23-CDA9-FD8F-B6F082FC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427"/>
          </a:xfrm>
        </p:spPr>
        <p:txBody>
          <a:bodyPr>
            <a:normAutofit fontScale="90000"/>
          </a:bodyPr>
          <a:lstStyle/>
          <a:p>
            <a:r>
              <a:rPr lang="en-GB" dirty="0" err="1"/>
              <a:t>Përmbjatja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026ED-6E23-C176-5977-33B1B9226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544"/>
            <a:ext cx="10515600" cy="52534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Distributed ledger technology (DLT)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Blockchain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Asset-centric computing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Studimi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literaturës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Analiza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Konkluzioni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Future 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Mendimi</a:t>
            </a:r>
            <a:r>
              <a:rPr lang="en-GB" sz="1600" dirty="0"/>
              <a:t> Kritik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Përmirësimet</a:t>
            </a:r>
            <a:r>
              <a:rPr lang="en-GB" sz="1600" dirty="0"/>
              <a:t> e </a:t>
            </a:r>
            <a:r>
              <a:rPr lang="en-GB" sz="1600" dirty="0" err="1"/>
              <a:t>mundshme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Krahasimi</a:t>
            </a:r>
            <a:r>
              <a:rPr lang="en-GB" sz="1600" dirty="0"/>
              <a:t> me </a:t>
            </a:r>
            <a:r>
              <a:rPr lang="en-GB" sz="1600" dirty="0" err="1"/>
              <a:t>punimin</a:t>
            </a:r>
            <a:r>
              <a:rPr lang="en-GB" sz="1600" dirty="0"/>
              <a:t> </a:t>
            </a:r>
            <a:r>
              <a:rPr lang="en-GB" sz="1600" dirty="0" err="1"/>
              <a:t>tjetër</a:t>
            </a: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 err="1"/>
              <a:t>Reflektimi</a:t>
            </a:r>
            <a:r>
              <a:rPr lang="en-GB" sz="1600" dirty="0"/>
              <a:t> </a:t>
            </a:r>
            <a:r>
              <a:rPr lang="en-GB" sz="1600" dirty="0" err="1"/>
              <a:t>mbi</a:t>
            </a:r>
            <a:r>
              <a:rPr lang="en-GB" sz="1600" dirty="0"/>
              <a:t> </a:t>
            </a:r>
            <a:r>
              <a:rPr lang="en-GB" sz="1600" dirty="0" err="1"/>
              <a:t>procesin</a:t>
            </a:r>
            <a:r>
              <a:rPr lang="en-GB" sz="1600" dirty="0"/>
              <a:t> </a:t>
            </a:r>
            <a:r>
              <a:rPr lang="en-GB" sz="1600" dirty="0" err="1"/>
              <a:t>kërkimor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6153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A5FB-3737-2B3A-53C6-E87B08DC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 fontScale="90000"/>
          </a:bodyPr>
          <a:lstStyle/>
          <a:p>
            <a:r>
              <a:rPr lang="en-GB" dirty="0"/>
              <a:t>Distributed ledger technology (DLT)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F8C4E-7FCE-8BE5-FF40-2253D18CF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384"/>
            <a:ext cx="10515600" cy="5390579"/>
          </a:xfrm>
        </p:spPr>
        <p:txBody>
          <a:bodyPr>
            <a:normAutofit/>
          </a:bodyPr>
          <a:lstStyle/>
          <a:p>
            <a:r>
              <a:rPr lang="en-GB" sz="1600" dirty="0"/>
              <a:t>DLT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bazë</a:t>
            </a:r>
            <a:r>
              <a:rPr lang="en-GB" sz="1600" dirty="0"/>
              <a:t> e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e </a:t>
            </a:r>
            <a:r>
              <a:rPr lang="en-GB" sz="1600" dirty="0" err="1"/>
              <a:t>shpërndarë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ruan </a:t>
            </a:r>
            <a:r>
              <a:rPr lang="en-GB" sz="1600" dirty="0" err="1"/>
              <a:t>një</a:t>
            </a:r>
            <a:r>
              <a:rPr lang="en-GB" sz="1600" dirty="0"/>
              <a:t> kopje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rrjet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shpërndarë</a:t>
            </a:r>
            <a:r>
              <a:rPr lang="en-GB" sz="1600" dirty="0"/>
              <a:t> </a:t>
            </a:r>
            <a:r>
              <a:rPr lang="en-GB" sz="1600" dirty="0" err="1"/>
              <a:t>kompjuterësh</a:t>
            </a:r>
            <a:r>
              <a:rPr lang="en-GB" sz="1600" dirty="0"/>
              <a:t>. </a:t>
            </a:r>
            <a:r>
              <a:rPr lang="en-GB" sz="1600" dirty="0" err="1"/>
              <a:t>Kjo</a:t>
            </a:r>
            <a:r>
              <a:rPr lang="en-GB" sz="1600" dirty="0"/>
              <a:t> </a:t>
            </a:r>
            <a:r>
              <a:rPr lang="en-GB" sz="1600" dirty="0" err="1"/>
              <a:t>siguron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jenë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disponueshme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mënyrë</a:t>
            </a:r>
            <a:r>
              <a:rPr lang="en-GB" sz="1600" dirty="0"/>
              <a:t> </a:t>
            </a:r>
            <a:r>
              <a:rPr lang="en-GB" sz="1600" dirty="0" err="1"/>
              <a:t>transparente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besueshme</a:t>
            </a:r>
            <a:r>
              <a:rPr lang="en-GB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DEBE3-25D3-77BC-C3C2-C2A7C9BAD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257" y="1726881"/>
            <a:ext cx="5847207" cy="36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7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AE260-CB0A-22C5-B257-B508E0A8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59"/>
          </a:xfrm>
        </p:spPr>
        <p:txBody>
          <a:bodyPr>
            <a:normAutofit fontScale="90000"/>
          </a:bodyPr>
          <a:lstStyle/>
          <a:p>
            <a:r>
              <a:rPr lang="en-GB" dirty="0"/>
              <a:t>Blockchain</a:t>
            </a:r>
          </a:p>
        </p:txBody>
      </p:sp>
      <p:pic>
        <p:nvPicPr>
          <p:cNvPr id="1026" name="Picture 2" descr="Blockchain | NIST">
            <a:extLst>
              <a:ext uri="{FF2B5EF4-FFF2-40B4-BE49-F238E27FC236}">
                <a16:creationId xmlns:a16="http://schemas.microsoft.com/office/drawing/2014/main" id="{7360BF47-F6EF-4388-D925-DD6F30AE79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59" y="2513530"/>
            <a:ext cx="9339881" cy="271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69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C5472-8B38-8B98-7393-0C23D06D9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Asset-centric computing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2050" name="Picture 2" descr="What Is Asset Tokenization? Meaning, Examples, Pros, &amp; Cons | Britannica  Money">
            <a:extLst>
              <a:ext uri="{FF2B5EF4-FFF2-40B4-BE49-F238E27FC236}">
                <a16:creationId xmlns:a16="http://schemas.microsoft.com/office/drawing/2014/main" id="{53C64C4B-9DA8-1BF1-6967-0428A416C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4938" y="2927647"/>
            <a:ext cx="5828261" cy="327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 descr="A diagram of a blockchain&#10;&#10;AI-generated content may be incorrect.">
            <a:extLst>
              <a:ext uri="{FF2B5EF4-FFF2-40B4-BE49-F238E27FC236}">
                <a16:creationId xmlns:a16="http://schemas.microsoft.com/office/drawing/2014/main" id="{EE3E03A9-DBA5-8EB2-FA60-7F8662634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0897" y="1367416"/>
            <a:ext cx="5828261" cy="1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20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F9F4-1A08-DFB1-886C-22D041FE8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Rendesia</a:t>
            </a:r>
            <a:r>
              <a:rPr lang="en-GB" dirty="0"/>
              <a:t> </a:t>
            </a:r>
            <a:r>
              <a:rPr lang="en-GB" dirty="0" err="1"/>
              <a:t>dhe</a:t>
            </a:r>
            <a:r>
              <a:rPr lang="en-GB" dirty="0"/>
              <a:t> </a:t>
            </a:r>
            <a:r>
              <a:rPr lang="en-GB" dirty="0" err="1"/>
              <a:t>objektivat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461E-B042-B61F-D0AC-59E3F52CC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GB" sz="1600" dirty="0" err="1"/>
              <a:t>Pse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e </a:t>
            </a:r>
            <a:r>
              <a:rPr lang="en-GB" sz="1600" dirty="0" err="1"/>
              <a:t>rëndësishme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Produktet</a:t>
            </a:r>
            <a:r>
              <a:rPr lang="en-GB" sz="1600" dirty="0"/>
              <a:t> </a:t>
            </a:r>
            <a:r>
              <a:rPr lang="en-GB" sz="1600" dirty="0" err="1"/>
              <a:t>kalojnë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shumë</a:t>
            </a:r>
            <a:r>
              <a:rPr lang="en-GB" sz="1600" dirty="0"/>
              <a:t> </a:t>
            </a:r>
            <a:r>
              <a:rPr lang="en-GB" sz="1600" dirty="0" err="1"/>
              <a:t>duar</a:t>
            </a:r>
            <a:r>
              <a:rPr lang="en-GB" sz="1600" dirty="0"/>
              <a:t> →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dhënat</a:t>
            </a:r>
            <a:r>
              <a:rPr lang="en-GB" sz="1600" dirty="0"/>
              <a:t> </a:t>
            </a:r>
            <a:r>
              <a:rPr lang="en-GB" sz="1600" dirty="0" err="1"/>
              <a:t>humbasin</a:t>
            </a:r>
            <a:r>
              <a:rPr lang="en-GB" sz="1600" dirty="0"/>
              <a:t> </a:t>
            </a:r>
            <a:r>
              <a:rPr lang="en-GB" sz="1600" dirty="0" err="1"/>
              <a:t>ose</a:t>
            </a:r>
            <a:r>
              <a:rPr lang="en-GB" sz="1600" dirty="0"/>
              <a:t> </a:t>
            </a:r>
            <a:r>
              <a:rPr lang="en-GB" sz="1600" dirty="0" err="1"/>
              <a:t>nuk</a:t>
            </a:r>
            <a:r>
              <a:rPr lang="en-GB" sz="1600" dirty="0"/>
              <a:t> </a:t>
            </a:r>
            <a:r>
              <a:rPr lang="en-GB" sz="1600" dirty="0" err="1"/>
              <a:t>ndahen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Rritet</a:t>
            </a:r>
            <a:r>
              <a:rPr lang="en-GB" sz="1600" dirty="0"/>
              <a:t> </a:t>
            </a:r>
            <a:r>
              <a:rPr lang="en-GB" sz="1600" dirty="0" err="1"/>
              <a:t>kërkesa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gjurmueshmëri</a:t>
            </a:r>
            <a:r>
              <a:rPr lang="en-GB" sz="1600" dirty="0"/>
              <a:t>, </a:t>
            </a:r>
            <a:r>
              <a:rPr lang="en-GB" sz="1600" dirty="0" err="1"/>
              <a:t>siguri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verifikueshmëri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informacionit</a:t>
            </a:r>
            <a:endParaRPr lang="en-GB" sz="1600" dirty="0"/>
          </a:p>
          <a:p>
            <a:r>
              <a:rPr lang="en-GB" sz="1600" dirty="0" err="1"/>
              <a:t>Objektivat</a:t>
            </a:r>
            <a:r>
              <a:rPr lang="en-GB" sz="1600" dirty="0"/>
              <a:t> e </a:t>
            </a:r>
            <a:r>
              <a:rPr lang="en-GB" sz="1600" dirty="0" err="1"/>
              <a:t>punimit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analizojë</a:t>
            </a:r>
            <a:r>
              <a:rPr lang="en-GB" sz="1600" dirty="0"/>
              <a:t> </a:t>
            </a:r>
            <a:r>
              <a:rPr lang="en-GB" sz="1600" dirty="0" err="1"/>
              <a:t>nëse</a:t>
            </a:r>
            <a:r>
              <a:rPr lang="en-GB" sz="1600" dirty="0"/>
              <a:t> blockchain </a:t>
            </a:r>
            <a:r>
              <a:rPr lang="en-GB" sz="1600" dirty="0" err="1"/>
              <a:t>mundëson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sistem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qendrueshëm</a:t>
            </a:r>
            <a:r>
              <a:rPr lang="en-GB" sz="1600" dirty="0"/>
              <a:t> </a:t>
            </a:r>
            <a:r>
              <a:rPr lang="en-GB" sz="1600" dirty="0" err="1"/>
              <a:t>ndër</a:t>
            </a:r>
            <a:r>
              <a:rPr lang="en-GB" sz="1600" dirty="0"/>
              <a:t>-industrial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vlerësojë</a:t>
            </a:r>
            <a:r>
              <a:rPr lang="en-GB" sz="1600" dirty="0"/>
              <a:t> </a:t>
            </a:r>
            <a:r>
              <a:rPr lang="en-GB" sz="1600" dirty="0" err="1"/>
              <a:t>mundësinë</a:t>
            </a:r>
            <a:r>
              <a:rPr lang="en-GB" sz="1600" dirty="0"/>
              <a:t> e </a:t>
            </a:r>
            <a:r>
              <a:rPr lang="en-GB" sz="1600" dirty="0" err="1"/>
              <a:t>incentivimit</a:t>
            </a:r>
            <a:r>
              <a:rPr lang="en-GB" sz="1600" dirty="0"/>
              <a:t> </a:t>
            </a:r>
            <a:r>
              <a:rPr lang="en-GB" sz="1600" dirty="0" err="1"/>
              <a:t>ekonomik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pjesëmarrësit</a:t>
            </a:r>
            <a:endParaRPr lang="en-GB" sz="1600" dirty="0"/>
          </a:p>
          <a:p>
            <a:endParaRPr lang="en-GB" dirty="0"/>
          </a:p>
        </p:txBody>
      </p:sp>
      <p:sp>
        <p:nvSpPr>
          <p:cNvPr id="6" name="AutoShape 6" descr="Asset Tokenization: Unlocking New Possibilities for the Enterprise">
            <a:extLst>
              <a:ext uri="{FF2B5EF4-FFF2-40B4-BE49-F238E27FC236}">
                <a16:creationId xmlns:a16="http://schemas.microsoft.com/office/drawing/2014/main" id="{67E45A3A-4EF1-4718-5C2F-650533CBA1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F37BB-C272-AF22-D99E-2AD749DDE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81400"/>
            <a:ext cx="4911852" cy="294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5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6BD18-F0E6-0B6D-F14F-F1EAF7B1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Studimi</a:t>
            </a:r>
            <a:r>
              <a:rPr lang="en-GB" sz="4000" dirty="0"/>
              <a:t> </a:t>
            </a:r>
            <a:r>
              <a:rPr lang="en-GB" sz="4000" dirty="0" err="1"/>
              <a:t>i</a:t>
            </a:r>
            <a:r>
              <a:rPr lang="en-GB" sz="4000" dirty="0"/>
              <a:t> </a:t>
            </a:r>
            <a:r>
              <a:rPr lang="en-GB" sz="4000" dirty="0" err="1"/>
              <a:t>literaturës</a:t>
            </a:r>
            <a:endParaRPr lang="en-GB" sz="40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8933F2-BF5B-1A0D-349F-EABD6399DD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0185" y="2017799"/>
            <a:ext cx="10515600" cy="3274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 err="1"/>
              <a:t>Problemet</a:t>
            </a:r>
            <a:r>
              <a:rPr lang="en-GB" sz="1600" b="1" dirty="0"/>
              <a:t> </a:t>
            </a:r>
            <a:r>
              <a:rPr lang="en-GB" sz="1600" b="1" dirty="0" err="1"/>
              <a:t>aktuale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industrisë</a:t>
            </a:r>
            <a:r>
              <a:rPr lang="en-GB" sz="1600" b="1" dirty="0"/>
              <a:t> </a:t>
            </a:r>
            <a:r>
              <a:rPr lang="en-GB" sz="1600" b="1" dirty="0" err="1"/>
              <a:t>në</a:t>
            </a:r>
            <a:r>
              <a:rPr lang="en-GB" sz="1600" b="1" dirty="0"/>
              <a:t> </a:t>
            </a:r>
            <a:r>
              <a:rPr lang="en-GB" sz="1600" b="1" dirty="0" err="1"/>
              <a:t>menaxhimin</a:t>
            </a:r>
            <a:r>
              <a:rPr lang="en-GB" sz="1600" b="1" dirty="0"/>
              <a:t> e </a:t>
            </a:r>
            <a:r>
              <a:rPr lang="en-GB" sz="1600" b="1" dirty="0" err="1"/>
              <a:t>aseteve</a:t>
            </a:r>
            <a:endParaRPr lang="en-GB" sz="1600" b="1" dirty="0"/>
          </a:p>
          <a:p>
            <a:r>
              <a:rPr lang="en-GB" sz="1600" dirty="0"/>
              <a:t>Sot, </a:t>
            </a:r>
            <a:r>
              <a:rPr lang="en-GB" sz="1600" dirty="0" err="1"/>
              <a:t>menaxhimi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aseteve</a:t>
            </a:r>
            <a:r>
              <a:rPr lang="en-GB" sz="1600" dirty="0"/>
              <a:t> </a:t>
            </a:r>
            <a:r>
              <a:rPr lang="en-GB" sz="1600" dirty="0" err="1"/>
              <a:t>paraqet</a:t>
            </a:r>
            <a:r>
              <a:rPr lang="en-GB" sz="1600" dirty="0"/>
              <a:t> </a:t>
            </a:r>
            <a:r>
              <a:rPr lang="en-GB" sz="1600" dirty="0" err="1"/>
              <a:t>sfida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mëdha</a:t>
            </a:r>
            <a:r>
              <a:rPr lang="en-GB" sz="1600" dirty="0"/>
              <a:t>, </a:t>
            </a:r>
            <a:r>
              <a:rPr lang="en-GB" sz="1600" dirty="0" err="1"/>
              <a:t>pasi</a:t>
            </a:r>
            <a:r>
              <a:rPr lang="en-GB" sz="1600" dirty="0"/>
              <a:t> </a:t>
            </a:r>
            <a:r>
              <a:rPr lang="en-GB" sz="1600" dirty="0" err="1"/>
              <a:t>sistemi</a:t>
            </a:r>
            <a:r>
              <a:rPr lang="en-GB" sz="1600" dirty="0"/>
              <a:t> </a:t>
            </a:r>
            <a:r>
              <a:rPr lang="en-GB" sz="1600" dirty="0" err="1"/>
              <a:t>nuk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qëndrueshëm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as </a:t>
            </a:r>
            <a:r>
              <a:rPr lang="en-GB" sz="1600" dirty="0" err="1"/>
              <a:t>autonom</a:t>
            </a:r>
            <a:r>
              <a:rPr lang="en-GB" sz="1600" dirty="0"/>
              <a:t>. </a:t>
            </a:r>
            <a:r>
              <a:rPr lang="en-GB" sz="1600" dirty="0" err="1"/>
              <a:t>Çdo</a:t>
            </a:r>
            <a:r>
              <a:rPr lang="en-GB" sz="1600" dirty="0"/>
              <a:t> </a:t>
            </a:r>
            <a:r>
              <a:rPr lang="en-GB" sz="1600" dirty="0" err="1"/>
              <a:t>kompani</a:t>
            </a:r>
            <a:r>
              <a:rPr lang="en-GB" sz="1600" dirty="0"/>
              <a:t> </a:t>
            </a:r>
            <a:r>
              <a:rPr lang="en-GB" sz="1600" dirty="0" err="1"/>
              <a:t>mban</a:t>
            </a:r>
            <a:r>
              <a:rPr lang="en-GB" sz="1600" dirty="0"/>
              <a:t> </a:t>
            </a:r>
            <a:r>
              <a:rPr lang="en-GB" sz="1600" dirty="0" err="1"/>
              <a:t>gjurmët</a:t>
            </a:r>
            <a:r>
              <a:rPr lang="en-GB" sz="1600" dirty="0"/>
              <a:t> e </a:t>
            </a:r>
            <a:r>
              <a:rPr lang="en-GB" sz="1600" dirty="0" err="1"/>
              <a:t>aseteve</a:t>
            </a:r>
            <a:r>
              <a:rPr lang="en-GB" sz="1600" dirty="0"/>
              <a:t> </a:t>
            </a:r>
            <a:r>
              <a:rPr lang="en-GB" sz="1600" dirty="0" err="1"/>
              <a:t>vetëm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nevojat</a:t>
            </a:r>
            <a:r>
              <a:rPr lang="en-GB" sz="1600" dirty="0"/>
              <a:t> e </a:t>
            </a:r>
            <a:r>
              <a:rPr lang="en-GB" sz="1600" dirty="0" err="1"/>
              <a:t>veta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brendshme</a:t>
            </a:r>
            <a:r>
              <a:rPr lang="en-GB" sz="1600" dirty="0"/>
              <a:t>. </a:t>
            </a:r>
            <a:r>
              <a:rPr lang="en-GB" sz="1600" dirty="0" err="1"/>
              <a:t>Mirëpo</a:t>
            </a:r>
            <a:r>
              <a:rPr lang="en-GB" sz="1600" dirty="0"/>
              <a:t>, </a:t>
            </a:r>
            <a:r>
              <a:rPr lang="en-GB" sz="1600" dirty="0" err="1"/>
              <a:t>kur</a:t>
            </a:r>
            <a:r>
              <a:rPr lang="en-GB" sz="1600" dirty="0"/>
              <a:t> </a:t>
            </a:r>
            <a:r>
              <a:rPr lang="en-GB" sz="1600" dirty="0" err="1"/>
              <a:t>këto</a:t>
            </a:r>
            <a:r>
              <a:rPr lang="en-GB" sz="1600" dirty="0"/>
              <a:t> </a:t>
            </a:r>
            <a:r>
              <a:rPr lang="en-GB" sz="1600" dirty="0" err="1"/>
              <a:t>asete</a:t>
            </a:r>
            <a:r>
              <a:rPr lang="en-GB" sz="1600" dirty="0"/>
              <a:t> </a:t>
            </a:r>
            <a:r>
              <a:rPr lang="en-GB" sz="1600" dirty="0" err="1"/>
              <a:t>shkëmbehen</a:t>
            </a:r>
            <a:r>
              <a:rPr lang="en-GB" sz="1600" dirty="0"/>
              <a:t> </a:t>
            </a:r>
            <a:r>
              <a:rPr lang="en-GB" sz="1600" dirty="0" err="1"/>
              <a:t>ndërmjet</a:t>
            </a:r>
            <a:r>
              <a:rPr lang="en-GB" sz="1600" dirty="0"/>
              <a:t> </a:t>
            </a:r>
            <a:r>
              <a:rPr lang="en-GB" sz="1600" dirty="0" err="1"/>
              <a:t>aktorëve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ndryshëm</a:t>
            </a:r>
            <a:r>
              <a:rPr lang="en-GB" sz="1600" dirty="0"/>
              <a:t>, </a:t>
            </a:r>
            <a:r>
              <a:rPr lang="en-GB" sz="1600" dirty="0" err="1"/>
              <a:t>informacioni</a:t>
            </a:r>
            <a:r>
              <a:rPr lang="en-GB" sz="1600" dirty="0"/>
              <a:t> </a:t>
            </a:r>
            <a:r>
              <a:rPr lang="en-GB" sz="1600" dirty="0" err="1"/>
              <a:t>humbet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kompaninë</a:t>
            </a:r>
            <a:r>
              <a:rPr lang="en-GB" sz="1600" dirty="0"/>
              <a:t> </a:t>
            </a:r>
            <a:r>
              <a:rPr lang="en-GB" sz="1600" dirty="0" err="1"/>
              <a:t>pritëse</a:t>
            </a:r>
            <a:r>
              <a:rPr lang="en-GB" sz="1600" dirty="0"/>
              <a:t> </a:t>
            </a:r>
            <a:r>
              <a:rPr lang="en-GB" sz="1600" dirty="0" err="1"/>
              <a:t>ato</a:t>
            </a:r>
            <a:r>
              <a:rPr lang="en-GB" sz="1600" dirty="0"/>
              <a:t> </a:t>
            </a:r>
            <a:r>
              <a:rPr lang="en-GB" sz="1600" dirty="0" err="1"/>
              <a:t>regjistrohen</a:t>
            </a:r>
            <a:r>
              <a:rPr lang="en-GB" sz="1600" dirty="0"/>
              <a:t> </a:t>
            </a:r>
            <a:r>
              <a:rPr lang="en-GB" sz="1600" dirty="0" err="1"/>
              <a:t>përsëri</a:t>
            </a:r>
            <a:r>
              <a:rPr lang="en-GB" sz="1600" dirty="0"/>
              <a:t> </a:t>
            </a:r>
            <a:r>
              <a:rPr lang="en-GB" sz="1600" dirty="0" err="1"/>
              <a:t>si</a:t>
            </a:r>
            <a:r>
              <a:rPr lang="en-GB" sz="1600" dirty="0"/>
              <a:t> </a:t>
            </a:r>
            <a:r>
              <a:rPr lang="en-GB" sz="1600" dirty="0" err="1"/>
              <a:t>asete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reja</a:t>
            </a:r>
            <a:r>
              <a:rPr lang="en-GB" sz="1600" dirty="0"/>
              <a:t>.</a:t>
            </a:r>
          </a:p>
          <a:p>
            <a:r>
              <a:rPr lang="en-GB" sz="1600" b="1" dirty="0" err="1"/>
              <a:t>Ideja</a:t>
            </a:r>
            <a:r>
              <a:rPr lang="en-GB" sz="1600" b="1" dirty="0"/>
              <a:t> </a:t>
            </a:r>
            <a:r>
              <a:rPr lang="en-GB" sz="1600" b="1" dirty="0" err="1"/>
              <a:t>bazë</a:t>
            </a:r>
            <a:r>
              <a:rPr lang="en-GB" sz="1600" b="1" dirty="0"/>
              <a:t> e </a:t>
            </a:r>
            <a:r>
              <a:rPr lang="en-GB" sz="1600" b="1" dirty="0" err="1"/>
              <a:t>këtij</a:t>
            </a:r>
            <a:r>
              <a:rPr lang="en-GB" sz="1600" b="1" dirty="0"/>
              <a:t> </a:t>
            </a:r>
            <a:r>
              <a:rPr lang="en-GB" sz="1600" b="1" dirty="0" err="1"/>
              <a:t>punimi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krijimi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sistemi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menaxhimit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informacionit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përqendruar</a:t>
            </a:r>
            <a:r>
              <a:rPr lang="en-GB" sz="1600" dirty="0"/>
              <a:t> </a:t>
            </a:r>
            <a:r>
              <a:rPr lang="en-GB" sz="1600" dirty="0" err="1"/>
              <a:t>te</a:t>
            </a:r>
            <a:r>
              <a:rPr lang="en-GB" sz="1600" dirty="0"/>
              <a:t> </a:t>
            </a:r>
            <a:r>
              <a:rPr lang="en-GB" sz="1600" dirty="0" err="1"/>
              <a:t>produkti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aftë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ruajë</a:t>
            </a:r>
            <a:r>
              <a:rPr lang="en-GB" sz="1600" dirty="0"/>
              <a:t> </a:t>
            </a:r>
            <a:r>
              <a:rPr lang="en-GB" sz="1600" dirty="0" err="1"/>
              <a:t>integritetin</a:t>
            </a:r>
            <a:r>
              <a:rPr lang="en-GB" sz="1600" dirty="0"/>
              <a:t> e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</a:t>
            </a:r>
            <a:r>
              <a:rPr lang="en-GB" sz="1600" dirty="0" err="1"/>
              <a:t>gjatë</a:t>
            </a:r>
            <a:r>
              <a:rPr lang="en-GB" sz="1600" dirty="0"/>
              <a:t> </a:t>
            </a:r>
            <a:r>
              <a:rPr lang="en-GB" sz="1600" dirty="0" err="1"/>
              <a:t>gjithë</a:t>
            </a:r>
            <a:r>
              <a:rPr lang="en-GB" sz="1600" dirty="0"/>
              <a:t> </a:t>
            </a:r>
            <a:r>
              <a:rPr lang="en-GB" sz="1600" dirty="0" err="1"/>
              <a:t>ciklit</a:t>
            </a:r>
            <a:r>
              <a:rPr lang="en-GB" sz="1600" dirty="0"/>
              <a:t> </a:t>
            </a:r>
            <a:r>
              <a:rPr lang="en-GB" sz="1600" dirty="0" err="1"/>
              <a:t>jetësor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tij</a:t>
            </a:r>
            <a:r>
              <a:rPr lang="en-GB" sz="1600" dirty="0"/>
              <a:t>.</a:t>
            </a:r>
          </a:p>
          <a:p>
            <a:r>
              <a:rPr lang="en-GB" sz="1600" dirty="0" err="1"/>
              <a:t>Sistemi</a:t>
            </a:r>
            <a:r>
              <a:rPr lang="en-GB" sz="1600" dirty="0"/>
              <a:t> </a:t>
            </a:r>
            <a:r>
              <a:rPr lang="en-GB" sz="1600" dirty="0" err="1"/>
              <a:t>duhet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plotësojë</a:t>
            </a:r>
            <a:r>
              <a:rPr lang="en-GB" sz="1600" dirty="0"/>
              <a:t> </a:t>
            </a:r>
            <a:r>
              <a:rPr lang="en-GB" sz="1600" dirty="0" err="1"/>
              <a:t>kërkesat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specifikimet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vijim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 err="1"/>
              <a:t>Mundësimi</a:t>
            </a:r>
            <a:r>
              <a:rPr lang="en-GB" sz="1600" b="1" dirty="0"/>
              <a:t> </a:t>
            </a:r>
            <a:r>
              <a:rPr lang="en-GB" sz="1600" b="1" dirty="0" err="1"/>
              <a:t>i</a:t>
            </a:r>
            <a:r>
              <a:rPr lang="en-GB" sz="1600" b="1" dirty="0"/>
              <a:t> </a:t>
            </a:r>
            <a:r>
              <a:rPr lang="en-GB" sz="1600" b="1" dirty="0" err="1"/>
              <a:t>pjesëmarrjes</a:t>
            </a:r>
            <a:r>
              <a:rPr lang="en-GB" sz="1600" b="1" dirty="0"/>
              <a:t> </a:t>
            </a:r>
            <a:r>
              <a:rPr lang="en-GB" sz="1600" b="1" dirty="0" err="1"/>
              <a:t>nga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gjitha</a:t>
            </a:r>
            <a:r>
              <a:rPr lang="en-GB" sz="1600" b="1" dirty="0"/>
              <a:t> </a:t>
            </a:r>
            <a:r>
              <a:rPr lang="en-GB" sz="1600" b="1" dirty="0" err="1"/>
              <a:t>palët</a:t>
            </a:r>
            <a:r>
              <a:rPr lang="en-GB" sz="1600" b="1" dirty="0"/>
              <a:t> e </a:t>
            </a:r>
            <a:r>
              <a:rPr lang="en-GB" sz="1600" b="1" dirty="0" err="1"/>
              <a:t>interesuara</a:t>
            </a:r>
            <a:endParaRPr lang="en-GB" sz="16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/>
              <a:t> </a:t>
            </a:r>
            <a:r>
              <a:rPr lang="en-GB" sz="1600" b="1" dirty="0" err="1"/>
              <a:t>Parandalimi</a:t>
            </a:r>
            <a:r>
              <a:rPr lang="en-GB" sz="1600" b="1" dirty="0"/>
              <a:t> </a:t>
            </a:r>
            <a:r>
              <a:rPr lang="en-GB" sz="1600" b="1" dirty="0" err="1"/>
              <a:t>i</a:t>
            </a:r>
            <a:r>
              <a:rPr lang="en-GB" sz="1600" b="1" dirty="0"/>
              <a:t> </a:t>
            </a:r>
            <a:r>
              <a:rPr lang="en-GB" sz="1600" b="1" dirty="0" err="1"/>
              <a:t>fragmentimit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dhënave</a:t>
            </a:r>
            <a:r>
              <a:rPr lang="en-GB" sz="1600" b="1" dirty="0"/>
              <a:t> </a:t>
            </a:r>
            <a:r>
              <a:rPr lang="en-GB" sz="1600" b="1" dirty="0" err="1"/>
              <a:t>dhe</a:t>
            </a:r>
            <a:r>
              <a:rPr lang="en-GB" sz="1600" b="1" dirty="0"/>
              <a:t> </a:t>
            </a:r>
            <a:r>
              <a:rPr lang="en-GB" sz="1600" b="1" dirty="0" err="1"/>
              <a:t>proceseve</a:t>
            </a:r>
            <a:r>
              <a:rPr lang="en-GB" sz="1600" b="1" dirty="0"/>
              <a:t> </a:t>
            </a:r>
            <a:r>
              <a:rPr lang="en-GB" sz="1600" b="1" dirty="0" err="1"/>
              <a:t>në</a:t>
            </a:r>
            <a:r>
              <a:rPr lang="en-GB" sz="1600" b="1" dirty="0"/>
              <a:t> </a:t>
            </a:r>
            <a:r>
              <a:rPr lang="en-GB" sz="1600" b="1" dirty="0" err="1"/>
              <a:t>një</a:t>
            </a:r>
            <a:r>
              <a:rPr lang="en-GB" sz="1600" b="1" dirty="0"/>
              <a:t> </a:t>
            </a:r>
            <a:r>
              <a:rPr lang="en-GB" sz="1600" b="1" dirty="0" err="1"/>
              <a:t>mjedis</a:t>
            </a:r>
            <a:r>
              <a:rPr lang="en-GB" sz="1600" b="1" dirty="0"/>
              <a:t> </a:t>
            </a:r>
            <a:r>
              <a:rPr lang="en-GB" sz="1600" b="1" dirty="0" err="1"/>
              <a:t>dinamik</a:t>
            </a:r>
            <a:endParaRPr lang="en-GB" sz="16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 err="1"/>
              <a:t>Sigurimi</a:t>
            </a:r>
            <a:r>
              <a:rPr lang="en-GB" sz="1600" b="1" dirty="0"/>
              <a:t> </a:t>
            </a:r>
            <a:r>
              <a:rPr lang="en-GB" sz="1600" b="1" dirty="0" err="1"/>
              <a:t>i</a:t>
            </a:r>
            <a:r>
              <a:rPr lang="en-GB" sz="1600" b="1" dirty="0"/>
              <a:t> </a:t>
            </a:r>
            <a:r>
              <a:rPr lang="en-GB" sz="1600" b="1" dirty="0" err="1"/>
              <a:t>qëndrueshmërisë</a:t>
            </a:r>
            <a:r>
              <a:rPr lang="en-GB" sz="1600" b="1" dirty="0"/>
              <a:t> </a:t>
            </a:r>
            <a:r>
              <a:rPr lang="en-GB" sz="1600" b="1" dirty="0" err="1"/>
              <a:t>së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dhënave</a:t>
            </a:r>
            <a:r>
              <a:rPr lang="en-GB" sz="1600" b="1" dirty="0"/>
              <a:t> </a:t>
            </a:r>
            <a:r>
              <a:rPr lang="en-GB" sz="1600" b="1" dirty="0" err="1"/>
              <a:t>dhe</a:t>
            </a:r>
            <a:r>
              <a:rPr lang="en-GB" sz="1600" b="1" dirty="0"/>
              <a:t> </a:t>
            </a:r>
            <a:r>
              <a:rPr lang="en-GB" sz="1600" b="1" dirty="0" err="1"/>
              <a:t>platformës</a:t>
            </a:r>
            <a:r>
              <a:rPr lang="en-GB" sz="1600" b="1" dirty="0"/>
              <a:t> </a:t>
            </a:r>
            <a:r>
              <a:rPr lang="en-GB" sz="1600" b="1" dirty="0" err="1"/>
              <a:t>gjatë</a:t>
            </a:r>
            <a:r>
              <a:rPr lang="en-GB" sz="1600" b="1" dirty="0"/>
              <a:t> </a:t>
            </a:r>
            <a:r>
              <a:rPr lang="en-GB" sz="1600" b="1" dirty="0" err="1"/>
              <a:t>gjithë</a:t>
            </a:r>
            <a:r>
              <a:rPr lang="en-GB" sz="1600" b="1" dirty="0"/>
              <a:t> </a:t>
            </a:r>
            <a:r>
              <a:rPr lang="en-GB" sz="1600" b="1" dirty="0" err="1"/>
              <a:t>jetëgjatësisë</a:t>
            </a:r>
            <a:r>
              <a:rPr lang="en-GB" sz="1600" b="1" dirty="0"/>
              <a:t> </a:t>
            </a:r>
            <a:r>
              <a:rPr lang="en-GB" sz="1600" b="1" dirty="0" err="1"/>
              <a:t>së</a:t>
            </a:r>
            <a:r>
              <a:rPr lang="en-GB" sz="1600" b="1" dirty="0"/>
              <a:t> </a:t>
            </a:r>
            <a:r>
              <a:rPr lang="en-GB" sz="1600" b="1" dirty="0" err="1"/>
              <a:t>produktit</a:t>
            </a:r>
            <a:br>
              <a:rPr lang="en-GB" sz="1200" dirty="0"/>
            </a:b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260716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471E7-14F3-884F-3066-68243A79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Analiza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DD013-A7ED-21DD-E09A-5E9C2275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171123"/>
          </a:xfrm>
        </p:spPr>
        <p:txBody>
          <a:bodyPr/>
          <a:lstStyle/>
          <a:p>
            <a:r>
              <a:rPr lang="en-GB" sz="1600" b="1" dirty="0" err="1"/>
              <a:t>Qëllimet</a:t>
            </a:r>
            <a:endParaRPr lang="en-GB" sz="16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Krijimi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sistemi</a:t>
            </a:r>
            <a:r>
              <a:rPr lang="en-GB" sz="1600" dirty="0"/>
              <a:t> </a:t>
            </a:r>
            <a:r>
              <a:rPr lang="en-GB" sz="1600" dirty="0" err="1"/>
              <a:t>ku</a:t>
            </a:r>
            <a:r>
              <a:rPr lang="en-GB" sz="1600" dirty="0"/>
              <a:t> </a:t>
            </a:r>
            <a:r>
              <a:rPr lang="en-GB" sz="1600" dirty="0" err="1"/>
              <a:t>informacioni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produktit</a:t>
            </a:r>
            <a:r>
              <a:rPr lang="en-GB" sz="1600" dirty="0"/>
              <a:t> :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b="1" dirty="0" err="1"/>
              <a:t>i</a:t>
            </a:r>
            <a:r>
              <a:rPr lang="en-GB" sz="1600" b="1" dirty="0"/>
              <a:t> </a:t>
            </a:r>
            <a:r>
              <a:rPr lang="en-GB" sz="1600" b="1" dirty="0" err="1"/>
              <a:t>vetëm</a:t>
            </a:r>
            <a:r>
              <a:rPr lang="en-GB" sz="1600" dirty="0"/>
              <a:t>,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vërtetueshëm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aksesueshëm</a:t>
            </a:r>
            <a:r>
              <a:rPr lang="en-GB" sz="1600" dirty="0"/>
              <a:t> </a:t>
            </a:r>
            <a:r>
              <a:rPr lang="en-GB" sz="1600" dirty="0" err="1"/>
              <a:t>nga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gjithë</a:t>
            </a:r>
            <a:r>
              <a:rPr lang="en-GB" sz="1600" dirty="0"/>
              <a:t> </a:t>
            </a:r>
            <a:r>
              <a:rPr lang="en-GB" sz="1600" dirty="0" err="1"/>
              <a:t>aktorët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Implementim</a:t>
            </a:r>
            <a:r>
              <a:rPr lang="en-GB" sz="1600" dirty="0"/>
              <a:t> </a:t>
            </a:r>
            <a:r>
              <a:rPr lang="en-GB" sz="1600" dirty="0" err="1"/>
              <a:t>ndër</a:t>
            </a:r>
            <a:r>
              <a:rPr lang="en-GB" sz="1600" dirty="0"/>
              <a:t>-industrial pa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autoritet</a:t>
            </a:r>
            <a:r>
              <a:rPr lang="en-GB" sz="1600" dirty="0"/>
              <a:t> </a:t>
            </a:r>
            <a:r>
              <a:rPr lang="en-GB" sz="1600" dirty="0" err="1"/>
              <a:t>qendror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8CC82E-BAD1-F560-63AE-174F5F139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88" y="2752544"/>
            <a:ext cx="1190791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2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55C39-E4E4-104A-59EE-FF085710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Analiza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E072-EAA7-AEBC-153E-A08F91BED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96"/>
            <a:ext cx="10515600" cy="4723067"/>
          </a:xfrm>
        </p:spPr>
        <p:txBody>
          <a:bodyPr/>
          <a:lstStyle/>
          <a:p>
            <a:r>
              <a:rPr lang="en-GB" sz="1600" b="1" dirty="0" err="1"/>
              <a:t>Metodologjia</a:t>
            </a:r>
            <a:endParaRPr lang="en-GB" sz="16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/>
              <a:t>Explorative Design Science Research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Intervista</a:t>
            </a:r>
            <a:r>
              <a:rPr lang="en-GB" sz="1600" dirty="0"/>
              <a:t> me </a:t>
            </a:r>
            <a:r>
              <a:rPr lang="en-GB" sz="1600" dirty="0" err="1"/>
              <a:t>ekspertë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industrisë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Studim</a:t>
            </a:r>
            <a:r>
              <a:rPr lang="en-GB" sz="1600" dirty="0"/>
              <a:t> </a:t>
            </a:r>
            <a:r>
              <a:rPr lang="en-GB" sz="1600" dirty="0" err="1"/>
              <a:t>demonstrues</a:t>
            </a:r>
            <a:r>
              <a:rPr lang="en-GB" sz="1600" dirty="0"/>
              <a:t> me </a:t>
            </a:r>
            <a:r>
              <a:rPr lang="en-GB" sz="1600" b="1" dirty="0" err="1"/>
              <a:t>vinç</a:t>
            </a:r>
            <a:r>
              <a:rPr lang="en-GB" sz="1600" b="1" dirty="0"/>
              <a:t> </a:t>
            </a:r>
            <a:r>
              <a:rPr lang="en-GB" sz="1600" b="1" dirty="0" err="1"/>
              <a:t>ngarkues</a:t>
            </a:r>
            <a:r>
              <a:rPr lang="en-GB" sz="1600" dirty="0"/>
              <a:t> </a:t>
            </a:r>
            <a:r>
              <a:rPr lang="en-GB" sz="1600" dirty="0" err="1"/>
              <a:t>si</a:t>
            </a:r>
            <a:r>
              <a:rPr lang="en-GB" sz="1600" dirty="0"/>
              <a:t> </a:t>
            </a:r>
            <a:r>
              <a:rPr lang="en-GB" sz="1600" dirty="0" err="1"/>
              <a:t>aset</a:t>
            </a:r>
            <a:r>
              <a:rPr lang="en-GB" sz="1600" dirty="0"/>
              <a:t> </a:t>
            </a:r>
            <a:r>
              <a:rPr lang="en-GB" sz="1600" dirty="0" err="1"/>
              <a:t>fizik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/>
              <a:t>Smart contract </a:t>
            </a:r>
            <a:r>
              <a:rPr lang="en-GB" sz="1600" dirty="0" err="1"/>
              <a:t>në</a:t>
            </a:r>
            <a:r>
              <a:rPr lang="en-GB" sz="1600" dirty="0"/>
              <a:t> Ethereum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1ACD4-6C19-114E-513B-EA47E14FC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55" y="709246"/>
            <a:ext cx="5325218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5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E150-4F6F-7AAC-B8BB-D7393141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Analiza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164-09BA-0968-D370-709C72245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 b="1" dirty="0">
                <a:latin typeface="Arial" panose="020B0604020202020204" pitchFamily="34" charset="0"/>
              </a:rPr>
              <a:t>Analiza </a:t>
            </a:r>
            <a:r>
              <a:rPr lang="en-US" altLang="en-US" sz="1600" b="1" dirty="0" err="1">
                <a:latin typeface="Arial" panose="020B0604020202020204" pitchFamily="34" charset="0"/>
              </a:rPr>
              <a:t>kritike</a:t>
            </a:r>
            <a:r>
              <a:rPr lang="en-US" altLang="en-US" sz="1600" b="1" dirty="0">
                <a:latin typeface="Arial" panose="020B0604020202020204" pitchFamily="34" charset="0"/>
              </a:rPr>
              <a:t> e </a:t>
            </a:r>
            <a:r>
              <a:rPr lang="en-US" altLang="en-US" sz="1600" b="1" dirty="0" err="1">
                <a:latin typeface="Arial" panose="020B0604020202020204" pitchFamily="34" charset="0"/>
              </a:rPr>
              <a:t>rezultateve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dhe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diskutimit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endParaRPr lang="en-US" altLang="en-US" b="1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21D35C-261D-DCEA-1042-369EC5955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32" y="2386493"/>
            <a:ext cx="4700423" cy="20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10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D4DA-BA14-B80F-347E-6373DDBF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1027"/>
          </a:xfrm>
        </p:spPr>
        <p:txBody>
          <a:bodyPr/>
          <a:lstStyle/>
          <a:p>
            <a:r>
              <a:rPr lang="en-GB" dirty="0" err="1"/>
              <a:t>Konkluzioni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A1C8-F095-4A8C-CE63-60429796A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6152"/>
            <a:ext cx="10515600" cy="4960811"/>
          </a:xfrm>
        </p:spPr>
        <p:txBody>
          <a:bodyPr/>
          <a:lstStyle/>
          <a:p>
            <a:r>
              <a:rPr lang="en-GB" sz="1600" dirty="0"/>
              <a:t>Blockchain </a:t>
            </a:r>
            <a:r>
              <a:rPr lang="en-GB" sz="1600" dirty="0" err="1"/>
              <a:t>ofron</a:t>
            </a:r>
            <a:r>
              <a:rPr lang="en-GB" sz="1600" dirty="0"/>
              <a:t> </a:t>
            </a:r>
            <a:r>
              <a:rPr lang="en-GB" sz="1600" dirty="0" err="1"/>
              <a:t>platformë</a:t>
            </a:r>
            <a:r>
              <a:rPr lang="en-GB" sz="1600" dirty="0"/>
              <a:t> </a:t>
            </a:r>
            <a:r>
              <a:rPr lang="en-GB" sz="1600" dirty="0" err="1"/>
              <a:t>ideale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PLM </a:t>
            </a:r>
            <a:r>
              <a:rPr lang="en-GB" sz="1600" dirty="0" err="1"/>
              <a:t>ndër</a:t>
            </a:r>
            <a:r>
              <a:rPr lang="en-GB" sz="1600" dirty="0"/>
              <a:t>-industrial</a:t>
            </a:r>
          </a:p>
          <a:p>
            <a:r>
              <a:rPr lang="en-GB" sz="1600" dirty="0"/>
              <a:t>Smart contracts </a:t>
            </a:r>
            <a:r>
              <a:rPr lang="en-GB" sz="1600" dirty="0" err="1"/>
              <a:t>lejojnë</a:t>
            </a:r>
            <a:r>
              <a:rPr lang="en-GB" sz="1600" dirty="0"/>
              <a:t> </a:t>
            </a:r>
            <a:r>
              <a:rPr lang="en-GB" sz="1600" dirty="0" err="1"/>
              <a:t>kontroll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transparencë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endParaRPr lang="en-GB" sz="1600" dirty="0"/>
          </a:p>
          <a:p>
            <a:r>
              <a:rPr lang="en-GB" sz="1600" dirty="0" err="1"/>
              <a:t>Demonstrimi</a:t>
            </a:r>
            <a:r>
              <a:rPr lang="en-GB" sz="1600" dirty="0"/>
              <a:t> </a:t>
            </a:r>
            <a:r>
              <a:rPr lang="en-GB" sz="1600" dirty="0" err="1"/>
              <a:t>provon</a:t>
            </a:r>
            <a:r>
              <a:rPr lang="en-GB" sz="1600" dirty="0"/>
              <a:t> </a:t>
            </a:r>
            <a:r>
              <a:rPr lang="en-GB" sz="1600" dirty="0" err="1"/>
              <a:t>fizibilitetin</a:t>
            </a:r>
            <a:r>
              <a:rPr lang="en-GB" sz="1600" dirty="0"/>
              <a:t> </a:t>
            </a:r>
            <a:r>
              <a:rPr lang="en-GB" sz="1600" dirty="0" err="1"/>
              <a:t>konceptual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qasjes</a:t>
            </a:r>
            <a:endParaRPr lang="en-GB" sz="1600" dirty="0"/>
          </a:p>
          <a:p>
            <a:endParaRPr lang="en-GB" sz="1600" dirty="0"/>
          </a:p>
          <a:p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konfigurim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tillë</a:t>
            </a:r>
            <a:r>
              <a:rPr lang="en-GB" sz="1600" dirty="0"/>
              <a:t> </a:t>
            </a:r>
            <a:r>
              <a:rPr lang="en-GB" sz="1600" dirty="0" err="1"/>
              <a:t>sistemi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err="1"/>
              <a:t>asnjë</a:t>
            </a:r>
            <a:r>
              <a:rPr lang="en-GB" sz="1600" dirty="0"/>
              <a:t> </a:t>
            </a:r>
            <a:r>
              <a:rPr lang="en-GB" sz="1600" dirty="0" err="1"/>
              <a:t>pjesëmarrës</a:t>
            </a:r>
            <a:r>
              <a:rPr lang="en-GB" sz="1600" dirty="0"/>
              <a:t> </a:t>
            </a:r>
            <a:r>
              <a:rPr lang="en-GB" sz="1600" dirty="0" err="1"/>
              <a:t>nuk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detyruar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marrë</a:t>
            </a:r>
            <a:r>
              <a:rPr lang="en-GB" sz="1600" dirty="0"/>
              <a:t> </a:t>
            </a:r>
            <a:r>
              <a:rPr lang="en-GB" sz="1600" dirty="0" err="1"/>
              <a:t>pjesë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zhvillim</a:t>
            </a:r>
            <a:r>
              <a:rPr lang="en-GB" sz="1600" dirty="0"/>
              <a:t>, </a:t>
            </a:r>
            <a:r>
              <a:rPr lang="en-GB" sz="1600" dirty="0" err="1"/>
              <a:t>ofrim</a:t>
            </a:r>
            <a:r>
              <a:rPr lang="en-GB" sz="1600" dirty="0"/>
              <a:t> </a:t>
            </a:r>
            <a:r>
              <a:rPr lang="en-GB" sz="1600" dirty="0" err="1"/>
              <a:t>ose</a:t>
            </a:r>
            <a:r>
              <a:rPr lang="en-GB" sz="1600" dirty="0"/>
              <a:t> </a:t>
            </a:r>
            <a:r>
              <a:rPr lang="en-GB" sz="1600" dirty="0" err="1"/>
              <a:t>financim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arkitekturës</a:t>
            </a:r>
            <a:r>
              <a:rPr lang="en-GB" sz="1600" dirty="0"/>
              <a:t> </a:t>
            </a:r>
            <a:r>
              <a:rPr lang="en-GB" sz="1600" dirty="0" err="1"/>
              <a:t>së</a:t>
            </a:r>
            <a:r>
              <a:rPr lang="en-GB" sz="1600" dirty="0"/>
              <a:t> </a:t>
            </a:r>
            <a:r>
              <a:rPr lang="en-GB" sz="1600" dirty="0" err="1"/>
              <a:t>sistemit</a:t>
            </a:r>
            <a:r>
              <a:rPr lang="en-GB" sz="1600" dirty="0"/>
              <a:t>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1600" dirty="0" err="1"/>
              <a:t>ndërsa</a:t>
            </a:r>
            <a:r>
              <a:rPr lang="en-GB" sz="1600" dirty="0"/>
              <a:t> </a:t>
            </a:r>
            <a:r>
              <a:rPr lang="en-GB" sz="1600" dirty="0" err="1"/>
              <a:t>asnjë</a:t>
            </a:r>
            <a:r>
              <a:rPr lang="en-GB" sz="1600" dirty="0"/>
              <a:t> </a:t>
            </a:r>
            <a:r>
              <a:rPr lang="en-GB" sz="1600" dirty="0" err="1"/>
              <a:t>rol</a:t>
            </a:r>
            <a:r>
              <a:rPr lang="en-GB" sz="1600" dirty="0"/>
              <a:t> apo </a:t>
            </a:r>
            <a:r>
              <a:rPr lang="en-GB" sz="1600" dirty="0" err="1"/>
              <a:t>funksion</a:t>
            </a:r>
            <a:r>
              <a:rPr lang="en-GB" sz="1600" dirty="0"/>
              <a:t> </a:t>
            </a:r>
            <a:r>
              <a:rPr lang="en-GB" sz="1600" dirty="0" err="1"/>
              <a:t>nuk</a:t>
            </a:r>
            <a:r>
              <a:rPr lang="en-GB" sz="1600" dirty="0"/>
              <a:t> </a:t>
            </a:r>
            <a:r>
              <a:rPr lang="en-GB" sz="1600" dirty="0" err="1"/>
              <a:t>është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ndaluar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asnjë</a:t>
            </a:r>
            <a:r>
              <a:rPr lang="en-GB" sz="1600" dirty="0"/>
              <a:t> </a:t>
            </a:r>
            <a:r>
              <a:rPr lang="en-GB" sz="1600" dirty="0" err="1"/>
              <a:t>pjesëmarrës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gatshëm</a:t>
            </a:r>
            <a:r>
              <a:rPr lang="en-GB" sz="1600" dirty="0"/>
              <a:t> ta </a:t>
            </a:r>
            <a:r>
              <a:rPr lang="en-GB" sz="1600" dirty="0" err="1"/>
              <a:t>ofrojë</a:t>
            </a:r>
            <a:r>
              <a:rPr lang="en-GB" sz="1600" dirty="0"/>
              <a:t> </a:t>
            </a:r>
            <a:r>
              <a:rPr lang="en-GB" sz="1600" dirty="0" err="1"/>
              <a:t>atë</a:t>
            </a:r>
            <a:r>
              <a:rPr lang="en-GB" sz="1600" dirty="0"/>
              <a:t> </a:t>
            </a:r>
            <a:r>
              <a:rPr lang="en-GB" sz="1600" dirty="0" err="1"/>
              <a:t>funksion</a:t>
            </a:r>
            <a:r>
              <a:rPr lang="en-GB" sz="16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95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0A83-419A-1349-DE3F-621A084B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>
            <a:normAutofit/>
          </a:bodyPr>
          <a:lstStyle/>
          <a:p>
            <a:r>
              <a:rPr lang="en-GB" sz="400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0D024-8D06-E354-B0F9-33DF5163E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304"/>
            <a:ext cx="10515600" cy="4887659"/>
          </a:xfrm>
        </p:spPr>
        <p:txBody>
          <a:bodyPr>
            <a:normAutofit/>
          </a:bodyPr>
          <a:lstStyle/>
          <a:p>
            <a:r>
              <a:rPr lang="en-GB" sz="1600" b="1" dirty="0" err="1"/>
              <a:t>Interoperabiliteti</a:t>
            </a:r>
            <a:r>
              <a:rPr lang="en-GB" sz="1600" b="1" dirty="0"/>
              <a:t> </a:t>
            </a:r>
            <a:r>
              <a:rPr lang="en-GB" sz="1600" b="1" dirty="0" err="1"/>
              <a:t>ndër-aplikativ</a:t>
            </a:r>
            <a:endParaRPr lang="en-GB" sz="1600" b="1" dirty="0"/>
          </a:p>
          <a:p>
            <a:r>
              <a:rPr lang="en-GB" sz="1600" b="1" dirty="0"/>
              <a:t>Blockchain </a:t>
            </a:r>
            <a:r>
              <a:rPr lang="en-GB" sz="1600" b="1" dirty="0" err="1"/>
              <a:t>vetëm</a:t>
            </a:r>
            <a:r>
              <a:rPr lang="en-GB" sz="1600" b="1" dirty="0"/>
              <a:t> </a:t>
            </a:r>
            <a:r>
              <a:rPr lang="en-GB" sz="1600" b="1" dirty="0" err="1"/>
              <a:t>për</a:t>
            </a:r>
            <a:r>
              <a:rPr lang="en-GB" sz="1600" b="1" dirty="0"/>
              <a:t> </a:t>
            </a:r>
            <a:r>
              <a:rPr lang="en-GB" sz="1600" b="1" dirty="0" err="1"/>
              <a:t>tokenizim</a:t>
            </a:r>
            <a:endParaRPr lang="en-GB" sz="1600" b="1" dirty="0"/>
          </a:p>
          <a:p>
            <a:r>
              <a:rPr lang="en-GB" sz="1600" b="1" dirty="0"/>
              <a:t>DAR / TAR / Root Asset Profile</a:t>
            </a:r>
            <a:br>
              <a:rPr lang="en-GB" sz="1600" dirty="0"/>
            </a:br>
            <a:r>
              <a:rPr lang="en-GB" sz="1600" dirty="0" err="1"/>
              <a:t>Modernizimi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modelit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dhënave</a:t>
            </a:r>
            <a:r>
              <a:rPr lang="en-GB" sz="1600" dirty="0"/>
              <a:t> </a:t>
            </a:r>
            <a:r>
              <a:rPr lang="en-GB" sz="1600" dirty="0" err="1"/>
              <a:t>përmes</a:t>
            </a:r>
            <a:r>
              <a:rPr lang="en-GB" sz="1600" dirty="0"/>
              <a:t> </a:t>
            </a:r>
            <a:r>
              <a:rPr lang="en-GB" sz="1600" b="1" dirty="0"/>
              <a:t>Asset-Centric Computing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/>
              <a:t>DAR (Digital Asset Record)</a:t>
            </a:r>
            <a:r>
              <a:rPr lang="en-GB" sz="1600" dirty="0"/>
              <a:t> → </a:t>
            </a:r>
            <a:r>
              <a:rPr lang="en-GB" sz="1600" dirty="0" err="1"/>
              <a:t>përfaqësimi</a:t>
            </a:r>
            <a:r>
              <a:rPr lang="en-GB" sz="1600" dirty="0"/>
              <a:t> </a:t>
            </a:r>
            <a:r>
              <a:rPr lang="en-GB" sz="1600" dirty="0" err="1"/>
              <a:t>unik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produktit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blockchain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/>
              <a:t>TAR (Transaction Asset Record)</a:t>
            </a:r>
            <a:r>
              <a:rPr lang="en-GB" sz="1600" dirty="0"/>
              <a:t> →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gjitha</a:t>
            </a:r>
            <a:r>
              <a:rPr lang="en-GB" sz="1600" dirty="0"/>
              <a:t> </a:t>
            </a:r>
            <a:r>
              <a:rPr lang="en-GB" sz="1600" dirty="0" err="1"/>
              <a:t>ngjarjet</a:t>
            </a:r>
            <a:r>
              <a:rPr lang="en-GB" sz="1600" dirty="0"/>
              <a:t>/</a:t>
            </a:r>
            <a:r>
              <a:rPr lang="en-GB" sz="1600" dirty="0" err="1"/>
              <a:t>transaksionet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</a:t>
            </a:r>
            <a:r>
              <a:rPr lang="en-GB" sz="1600" dirty="0" err="1"/>
              <a:t>ndodhin</a:t>
            </a:r>
            <a:r>
              <a:rPr lang="en-GB" sz="1600" dirty="0"/>
              <a:t> </a:t>
            </a:r>
            <a:r>
              <a:rPr lang="en-GB" sz="1600" dirty="0" err="1"/>
              <a:t>gjatë</a:t>
            </a:r>
            <a:r>
              <a:rPr lang="en-GB" sz="1600" dirty="0"/>
              <a:t> </a:t>
            </a:r>
            <a:r>
              <a:rPr lang="en-GB" sz="1600" dirty="0" err="1"/>
              <a:t>ciklit</a:t>
            </a:r>
            <a:r>
              <a:rPr lang="en-GB" sz="1600" dirty="0"/>
              <a:t> </a:t>
            </a:r>
            <a:r>
              <a:rPr lang="en-GB" sz="1600" dirty="0" err="1"/>
              <a:t>jetësor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/>
              <a:t>Root Profile</a:t>
            </a:r>
            <a:r>
              <a:rPr lang="en-GB" sz="1600" dirty="0"/>
              <a:t> → </a:t>
            </a:r>
            <a:r>
              <a:rPr lang="en-GB" sz="1600" dirty="0" err="1"/>
              <a:t>identiteti</a:t>
            </a:r>
            <a:r>
              <a:rPr lang="en-GB" sz="1600" dirty="0"/>
              <a:t> </a:t>
            </a:r>
            <a:r>
              <a:rPr lang="en-GB" sz="1600" dirty="0" err="1"/>
              <a:t>kryesor</a:t>
            </a:r>
            <a:r>
              <a:rPr lang="en-GB" sz="1600" dirty="0"/>
              <a:t>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asetit</a:t>
            </a:r>
            <a:r>
              <a:rPr lang="en-GB" sz="1600" dirty="0"/>
              <a:t>, </a:t>
            </a:r>
            <a:r>
              <a:rPr lang="en-GB" sz="1600" dirty="0" err="1"/>
              <a:t>i</a:t>
            </a:r>
            <a:r>
              <a:rPr lang="en-GB" sz="1600" dirty="0"/>
              <a:t> </a:t>
            </a:r>
            <a:r>
              <a:rPr lang="en-GB" sz="1600" dirty="0" err="1"/>
              <a:t>ndërlidhur</a:t>
            </a:r>
            <a:r>
              <a:rPr lang="en-GB" sz="1600" dirty="0"/>
              <a:t> me </a:t>
            </a:r>
            <a:r>
              <a:rPr lang="en-GB" sz="1600" dirty="0" err="1"/>
              <a:t>modele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ndryshme</a:t>
            </a:r>
            <a:r>
              <a:rPr lang="en-GB" sz="1600" dirty="0"/>
              <a:t> PLM</a:t>
            </a:r>
          </a:p>
        </p:txBody>
      </p:sp>
    </p:spTree>
    <p:extLst>
      <p:ext uri="{BB962C8B-B14F-4D97-AF65-F5344CB8AC3E}">
        <p14:creationId xmlns:p14="http://schemas.microsoft.com/office/powerpoint/2010/main" val="2242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14C0-4E1E-EFF0-128A-6ADE28AF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Mendimi</a:t>
            </a:r>
            <a:r>
              <a:rPr lang="en-GB" sz="4000" dirty="0"/>
              <a:t> Kritik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859C3-31E5-61E0-FEF5-66A57CB0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dirty="0" err="1"/>
              <a:t>Punimi</a:t>
            </a:r>
            <a:r>
              <a:rPr lang="en-GB" sz="1600" dirty="0"/>
              <a:t> </a:t>
            </a:r>
            <a:r>
              <a:rPr lang="en-GB" sz="1600" dirty="0" err="1"/>
              <a:t>paraqet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kontribut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rëndësishëm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tokenizimin</a:t>
            </a:r>
            <a:r>
              <a:rPr lang="en-GB" sz="1600" dirty="0"/>
              <a:t> e </a:t>
            </a:r>
            <a:r>
              <a:rPr lang="en-GB" sz="1600" dirty="0" err="1"/>
              <a:t>aseteve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menaxhimin</a:t>
            </a:r>
            <a:r>
              <a:rPr lang="en-GB" sz="1600" dirty="0"/>
              <a:t> </a:t>
            </a:r>
            <a:r>
              <a:rPr lang="en-GB" sz="1600" dirty="0" err="1"/>
              <a:t>ndër</a:t>
            </a:r>
            <a:r>
              <a:rPr lang="en-GB" sz="1600" dirty="0"/>
              <a:t>-industrial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informacionit</a:t>
            </a:r>
            <a:r>
              <a:rPr lang="en-GB" sz="1600" dirty="0"/>
              <a:t>. </a:t>
            </a:r>
            <a:r>
              <a:rPr lang="en-GB" sz="1600" dirty="0" err="1"/>
              <a:t>Ideja</a:t>
            </a:r>
            <a:r>
              <a:rPr lang="en-GB" sz="1600" dirty="0"/>
              <a:t> e </a:t>
            </a:r>
            <a:r>
              <a:rPr lang="en-GB" sz="1600" dirty="0" err="1"/>
              <a:t>decentralizimit</a:t>
            </a:r>
            <a:r>
              <a:rPr lang="en-GB" sz="1600" dirty="0"/>
              <a:t> </a:t>
            </a:r>
            <a:r>
              <a:rPr lang="en-GB" sz="1600" dirty="0" err="1"/>
              <a:t>eliminon</a:t>
            </a:r>
            <a:r>
              <a:rPr lang="en-GB" sz="1600" dirty="0"/>
              <a:t> </a:t>
            </a:r>
            <a:r>
              <a:rPr lang="en-GB" sz="1600" dirty="0" err="1"/>
              <a:t>varësinë</a:t>
            </a:r>
            <a:r>
              <a:rPr lang="en-GB" sz="1600" dirty="0"/>
              <a:t> </a:t>
            </a:r>
            <a:r>
              <a:rPr lang="en-GB" sz="1600" dirty="0" err="1"/>
              <a:t>nga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aktor</a:t>
            </a:r>
            <a:r>
              <a:rPr lang="en-GB" sz="1600" dirty="0"/>
              <a:t> </a:t>
            </a:r>
            <a:r>
              <a:rPr lang="en-GB" sz="1600" dirty="0" err="1"/>
              <a:t>qendror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rrit</a:t>
            </a:r>
            <a:r>
              <a:rPr lang="en-GB" sz="1600" dirty="0"/>
              <a:t> </a:t>
            </a:r>
            <a:r>
              <a:rPr lang="en-GB" sz="1600" dirty="0" err="1"/>
              <a:t>transparencën</a:t>
            </a:r>
            <a:r>
              <a:rPr lang="en-GB" sz="1600" dirty="0"/>
              <a:t>.</a:t>
            </a:r>
            <a:br>
              <a:rPr lang="en-GB" sz="1600" dirty="0"/>
            </a:br>
            <a:r>
              <a:rPr lang="en-GB" sz="1600" dirty="0" err="1"/>
              <a:t>Megjithatë</a:t>
            </a:r>
            <a:r>
              <a:rPr lang="en-GB" sz="1600" dirty="0"/>
              <a:t>, </a:t>
            </a:r>
            <a:r>
              <a:rPr lang="en-GB" sz="1600" dirty="0" err="1"/>
              <a:t>mungojnë</a:t>
            </a:r>
            <a:r>
              <a:rPr lang="en-GB" sz="1600" dirty="0"/>
              <a:t> </a:t>
            </a:r>
            <a:r>
              <a:rPr lang="en-GB" sz="1600" dirty="0" err="1"/>
              <a:t>analiza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detajuara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performancës</a:t>
            </a:r>
            <a:r>
              <a:rPr lang="en-GB" sz="1600" dirty="0"/>
              <a:t> </a:t>
            </a:r>
            <a:r>
              <a:rPr lang="en-GB" sz="1600" dirty="0" err="1"/>
              <a:t>së</a:t>
            </a:r>
            <a:r>
              <a:rPr lang="en-GB" sz="1600" dirty="0"/>
              <a:t> </a:t>
            </a:r>
            <a:r>
              <a:rPr lang="en-GB" sz="1600" dirty="0" err="1"/>
              <a:t>sistemit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rrjete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mëdha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çështjeve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privatësisë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GDPR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kostos</a:t>
            </a:r>
            <a:r>
              <a:rPr lang="en-GB" sz="1600" dirty="0"/>
              <a:t> </a:t>
            </a:r>
            <a:r>
              <a:rPr lang="en-GB" sz="1600" dirty="0" err="1"/>
              <a:t>reale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adoptimit</a:t>
            </a:r>
            <a:r>
              <a:rPr lang="en-GB" sz="1600" dirty="0"/>
              <a:t> </a:t>
            </a:r>
            <a:r>
              <a:rPr lang="en-GB" sz="1600" dirty="0" err="1"/>
              <a:t>nga</a:t>
            </a:r>
            <a:r>
              <a:rPr lang="en-GB" sz="1600" dirty="0"/>
              <a:t> </a:t>
            </a:r>
            <a:r>
              <a:rPr lang="en-GB" sz="1600" dirty="0" err="1"/>
              <a:t>industritë</a:t>
            </a:r>
            <a:endParaRPr lang="en-GB" sz="1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120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1877-7B6E-29AD-B85B-FCEFA3A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Përmirësimet</a:t>
            </a:r>
            <a:r>
              <a:rPr lang="en-GB" sz="4000" dirty="0"/>
              <a:t> e </a:t>
            </a:r>
            <a:r>
              <a:rPr lang="en-GB" sz="4000" dirty="0" err="1"/>
              <a:t>mundshme</a:t>
            </a:r>
            <a:endParaRPr lang="en-GB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8F40C8-924A-717D-499A-A8D7ED519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064417"/>
              </p:ext>
            </p:extLst>
          </p:nvPr>
        </p:nvGraphicFramePr>
        <p:xfrm>
          <a:off x="838200" y="2288540"/>
          <a:ext cx="10515600" cy="30175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693601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9406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Aspekti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/>
                        <a:t>Përmirësimi</a:t>
                      </a:r>
                      <a:r>
                        <a:rPr lang="en-GB" b="1" dirty="0"/>
                        <a:t> </a:t>
                      </a:r>
                      <a:r>
                        <a:rPr lang="en-GB" b="1" dirty="0" err="1"/>
                        <a:t>i</a:t>
                      </a:r>
                      <a:r>
                        <a:rPr lang="en-GB" b="1" dirty="0"/>
                        <a:t> </a:t>
                      </a:r>
                      <a:r>
                        <a:rPr lang="en-GB" b="1" dirty="0" err="1"/>
                        <a:t>propozuar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3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Arkitektura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Ndërtimi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një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hybrid model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ku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vetëm</a:t>
                      </a:r>
                      <a:r>
                        <a:rPr lang="en-GB" dirty="0"/>
                        <a:t> hashes </a:t>
                      </a:r>
                      <a:r>
                        <a:rPr lang="en-GB" dirty="0" err="1"/>
                        <a:t>ruhen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në</a:t>
                      </a:r>
                      <a:r>
                        <a:rPr lang="en-GB" dirty="0"/>
                        <a:t> blockchain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01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Modeli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të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dhënave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Integrimi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DAR / TAR / Root Profile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për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ndërlidhje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të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standardizuar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4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Siguria &amp; Privatësia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Përdorimi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</a:t>
                      </a:r>
                      <a:r>
                        <a:rPr lang="en-GB" dirty="0"/>
                        <a:t> </a:t>
                      </a:r>
                      <a:r>
                        <a:rPr lang="en-GB" b="1" dirty="0"/>
                        <a:t>ZKP, DID, Confidential Computing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54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Testimi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Skenarë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industrialë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të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shumtë</a:t>
                      </a:r>
                      <a:r>
                        <a:rPr lang="en-GB" dirty="0"/>
                        <a:t> me </a:t>
                      </a:r>
                      <a:r>
                        <a:rPr lang="en-GB" dirty="0" err="1"/>
                        <a:t>krahasim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metrikash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realiste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195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Adoptimi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Strategji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dhe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analiza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ekonomike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për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ndërmarrjet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876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07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B8BC-2568-3559-D9EC-47900A785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011"/>
          </a:xfrm>
        </p:spPr>
        <p:txBody>
          <a:bodyPr>
            <a:normAutofit/>
          </a:bodyPr>
          <a:lstStyle/>
          <a:p>
            <a:r>
              <a:rPr lang="en-GB" sz="4000" dirty="0" err="1"/>
              <a:t>Krahasimi</a:t>
            </a:r>
            <a:r>
              <a:rPr lang="en-GB" sz="4000" dirty="0"/>
              <a:t> me </a:t>
            </a:r>
            <a:r>
              <a:rPr lang="en-GB" sz="4000" dirty="0" err="1"/>
              <a:t>punimin</a:t>
            </a:r>
            <a:r>
              <a:rPr lang="en-GB" sz="4000" dirty="0"/>
              <a:t> </a:t>
            </a:r>
            <a:r>
              <a:rPr lang="en-GB" sz="4000" dirty="0" err="1"/>
              <a:t>tjetër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6B9F7-BF7C-364C-41CF-7962509B4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92"/>
            <a:ext cx="10515600" cy="4869371"/>
          </a:xfrm>
        </p:spPr>
        <p:txBody>
          <a:bodyPr>
            <a:normAutofit/>
          </a:bodyPr>
          <a:lstStyle/>
          <a:p>
            <a:r>
              <a:rPr lang="en-GB" sz="1600" b="1" dirty="0" err="1"/>
              <a:t>Punimi</a:t>
            </a:r>
            <a:r>
              <a:rPr lang="en-GB" sz="1600" b="1" dirty="0"/>
              <a:t> </a:t>
            </a:r>
            <a:r>
              <a:rPr lang="en-GB" sz="1600" b="1" dirty="0" err="1"/>
              <a:t>krahasues</a:t>
            </a:r>
            <a:endParaRPr lang="en-GB" sz="1600" b="1" dirty="0"/>
          </a:p>
          <a:p>
            <a:pPr marL="0" indent="0">
              <a:buNone/>
            </a:pPr>
            <a:r>
              <a:rPr lang="en-GB" sz="1600" b="1" dirty="0"/>
              <a:t>“Towards Blockchain-enabled Open Architectures for Scalable Digital Asset Platforms”</a:t>
            </a:r>
          </a:p>
          <a:p>
            <a:pPr marL="0" indent="0">
              <a:buNone/>
            </a:pPr>
            <a:br>
              <a:rPr lang="en-GB" sz="1600" dirty="0"/>
            </a:br>
            <a:r>
              <a:rPr lang="en-GB" sz="1600" b="1" dirty="0" err="1"/>
              <a:t>Përmbledhje</a:t>
            </a:r>
            <a:r>
              <a:rPr lang="en-GB" sz="1600" b="1" dirty="0"/>
              <a:t> e </a:t>
            </a:r>
            <a:r>
              <a:rPr lang="en-GB" sz="1600" b="1" dirty="0" err="1"/>
              <a:t>punimit</a:t>
            </a:r>
            <a:r>
              <a:rPr lang="en-GB" sz="1600" b="1" dirty="0"/>
              <a:t> </a:t>
            </a:r>
            <a:r>
              <a:rPr lang="en-GB" sz="1600" b="1" dirty="0" err="1"/>
              <a:t>krahasues</a:t>
            </a:r>
            <a:r>
              <a:rPr lang="en-GB" sz="1600" b="1" dirty="0"/>
              <a:t> :</a:t>
            </a:r>
          </a:p>
          <a:p>
            <a:r>
              <a:rPr lang="en-GB" sz="1600" dirty="0"/>
              <a:t>Ky punim </a:t>
            </a:r>
            <a:r>
              <a:rPr lang="en-GB" sz="1600" dirty="0" err="1"/>
              <a:t>adreson</a:t>
            </a:r>
            <a:r>
              <a:rPr lang="en-GB" sz="1600" dirty="0"/>
              <a:t> </a:t>
            </a:r>
            <a:r>
              <a:rPr lang="en-GB" sz="1600" dirty="0" err="1"/>
              <a:t>domosdoshmërinë</a:t>
            </a:r>
            <a:r>
              <a:rPr lang="en-GB" sz="1600" dirty="0"/>
              <a:t> e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arkitekture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hapur</a:t>
            </a:r>
            <a:r>
              <a:rPr lang="en-GB" sz="1600" dirty="0"/>
              <a:t>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menaxhimin</a:t>
            </a:r>
            <a:r>
              <a:rPr lang="en-GB" sz="1600" dirty="0"/>
              <a:t> e </a:t>
            </a:r>
            <a:r>
              <a:rPr lang="en-GB" sz="1600" dirty="0" err="1"/>
              <a:t>aseteve</a:t>
            </a:r>
            <a:r>
              <a:rPr lang="en-GB" sz="1600" dirty="0"/>
              <a:t> </a:t>
            </a:r>
            <a:r>
              <a:rPr lang="en-GB" sz="1600" dirty="0" err="1"/>
              <a:t>dixhitale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ekonomi</a:t>
            </a:r>
            <a:r>
              <a:rPr lang="en-GB" sz="1600" dirty="0"/>
              <a:t> </a:t>
            </a:r>
            <a:r>
              <a:rPr lang="en-GB" sz="1600" dirty="0" err="1"/>
              <a:t>industriale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ofron</a:t>
            </a:r>
            <a:r>
              <a:rPr lang="en-GB" sz="1600" dirty="0"/>
              <a:t>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qasje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b="1" dirty="0" err="1"/>
              <a:t>bazuar</a:t>
            </a:r>
            <a:r>
              <a:rPr lang="en-GB" sz="1600" b="1" dirty="0"/>
              <a:t> </a:t>
            </a:r>
            <a:r>
              <a:rPr lang="en-GB" sz="1600" b="1" dirty="0" err="1"/>
              <a:t>në</a:t>
            </a:r>
            <a:r>
              <a:rPr lang="en-GB" sz="1600" b="1" dirty="0"/>
              <a:t> </a:t>
            </a:r>
            <a:r>
              <a:rPr lang="en-GB" sz="1600" b="1" dirty="0" err="1"/>
              <a:t>aset</a:t>
            </a:r>
            <a:r>
              <a:rPr lang="en-GB" sz="1600" b="1" dirty="0"/>
              <a:t> (asset-centric approach)</a:t>
            </a:r>
            <a:r>
              <a:rPr lang="en-GB" sz="1600" dirty="0"/>
              <a:t>. </a:t>
            </a:r>
            <a:r>
              <a:rPr lang="en-GB" sz="1600" dirty="0" err="1"/>
              <a:t>Autorët</a:t>
            </a:r>
            <a:r>
              <a:rPr lang="en-GB" sz="1600" dirty="0"/>
              <a:t> </a:t>
            </a:r>
            <a:r>
              <a:rPr lang="en-GB" sz="1600" dirty="0" err="1"/>
              <a:t>prezantojnë</a:t>
            </a:r>
            <a:r>
              <a:rPr lang="en-GB" sz="1600" dirty="0"/>
              <a:t> </a:t>
            </a:r>
            <a:r>
              <a:rPr lang="en-GB" sz="1600" dirty="0" err="1"/>
              <a:t>konceptin</a:t>
            </a:r>
            <a:r>
              <a:rPr lang="en-GB" sz="1600" dirty="0"/>
              <a:t> e </a:t>
            </a:r>
            <a:r>
              <a:rPr lang="en-GB" sz="1600" b="1" dirty="0"/>
              <a:t>“Digital Twin Container”</a:t>
            </a:r>
            <a:r>
              <a:rPr lang="en-GB" sz="1600" dirty="0"/>
              <a:t>, </a:t>
            </a:r>
            <a:r>
              <a:rPr lang="en-GB" sz="1600" dirty="0" err="1"/>
              <a:t>një</a:t>
            </a:r>
            <a:r>
              <a:rPr lang="en-GB" sz="1600" dirty="0"/>
              <a:t> </a:t>
            </a:r>
            <a:r>
              <a:rPr lang="en-GB" sz="1600" dirty="0" err="1"/>
              <a:t>objekt</a:t>
            </a:r>
            <a:r>
              <a:rPr lang="en-GB" sz="1600" dirty="0"/>
              <a:t> </a:t>
            </a:r>
            <a:r>
              <a:rPr lang="en-GB" sz="1600" dirty="0" err="1"/>
              <a:t>dixhital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</a:t>
            </a:r>
            <a:r>
              <a:rPr lang="en-GB" sz="1600" dirty="0" err="1"/>
              <a:t>përfaqëson</a:t>
            </a:r>
            <a:r>
              <a:rPr lang="en-GB" sz="1600" dirty="0"/>
              <a:t> </a:t>
            </a:r>
            <a:r>
              <a:rPr lang="en-GB" sz="1600" dirty="0" err="1"/>
              <a:t>asetin</a:t>
            </a:r>
            <a:r>
              <a:rPr lang="en-GB" sz="1600" dirty="0"/>
              <a:t> </a:t>
            </a:r>
            <a:r>
              <a:rPr lang="en-GB" sz="1600" dirty="0" err="1"/>
              <a:t>fizik</a:t>
            </a:r>
            <a:r>
              <a:rPr lang="en-GB" sz="1600" dirty="0"/>
              <a:t>, duke </a:t>
            </a:r>
            <a:r>
              <a:rPr lang="en-GB" sz="1600" dirty="0" err="1"/>
              <a:t>lejuar</a:t>
            </a:r>
            <a:r>
              <a:rPr lang="en-GB" sz="16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ruajtjen</a:t>
            </a:r>
            <a:r>
              <a:rPr lang="en-GB" sz="1600" dirty="0"/>
              <a:t> e </a:t>
            </a:r>
            <a:r>
              <a:rPr lang="en-GB" sz="1600" dirty="0" err="1"/>
              <a:t>gjurmueshmërisë</a:t>
            </a:r>
            <a:r>
              <a:rPr lang="en-GB" sz="1600" dirty="0"/>
              <a:t> (</a:t>
            </a:r>
            <a:r>
              <a:rPr lang="en-GB" sz="1600" dirty="0" err="1"/>
              <a:t>shënimeve</a:t>
            </a:r>
            <a:r>
              <a:rPr lang="en-GB" sz="1600" dirty="0"/>
              <a:t> </a:t>
            </a:r>
            <a:r>
              <a:rPr lang="en-GB" sz="1600" dirty="0" err="1"/>
              <a:t>kritike</a:t>
            </a:r>
            <a:r>
              <a:rPr lang="en-GB" sz="1600" dirty="0"/>
              <a:t>) </a:t>
            </a:r>
            <a:r>
              <a:rPr lang="en-GB" sz="1600" b="1" dirty="0"/>
              <a:t>on-chain</a:t>
            </a:r>
            <a:r>
              <a:rPr lang="en-GB" sz="1600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ndërsa</a:t>
            </a:r>
            <a:r>
              <a:rPr lang="en-GB" sz="1600" dirty="0"/>
              <a:t> </a:t>
            </a:r>
            <a:r>
              <a:rPr lang="en-GB" sz="1600" dirty="0" err="1"/>
              <a:t>metadatat</a:t>
            </a:r>
            <a:r>
              <a:rPr lang="en-GB" sz="1600" dirty="0"/>
              <a:t>, </a:t>
            </a:r>
            <a:r>
              <a:rPr lang="en-GB" sz="1600" dirty="0" err="1"/>
              <a:t>përditësimet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logjika</a:t>
            </a:r>
            <a:r>
              <a:rPr lang="en-GB" sz="1600" dirty="0"/>
              <a:t> </a:t>
            </a:r>
            <a:r>
              <a:rPr lang="en-GB" sz="1600" dirty="0" err="1"/>
              <a:t>operacionale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qëndrojnë</a:t>
            </a:r>
            <a:r>
              <a:rPr lang="en-GB" sz="1600" dirty="0"/>
              <a:t> </a:t>
            </a:r>
            <a:r>
              <a:rPr lang="en-GB" sz="1600" b="1" dirty="0"/>
              <a:t>off-chain</a:t>
            </a:r>
            <a:r>
              <a:rPr lang="en-GB" sz="1600" dirty="0"/>
              <a:t>.</a:t>
            </a:r>
          </a:p>
          <a:p>
            <a:pPr marL="0" indent="0">
              <a:buNone/>
            </a:pPr>
            <a:r>
              <a:rPr lang="en-GB" sz="1600" dirty="0" err="1"/>
              <a:t>Qasja</a:t>
            </a:r>
            <a:r>
              <a:rPr lang="en-GB" sz="1600" dirty="0"/>
              <a:t> </a:t>
            </a:r>
            <a:r>
              <a:rPr lang="en-GB" sz="1600" dirty="0" err="1"/>
              <a:t>synon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ruajë</a:t>
            </a:r>
            <a:r>
              <a:rPr lang="en-GB" sz="1600" dirty="0"/>
              <a:t> </a:t>
            </a:r>
            <a:r>
              <a:rPr lang="en-GB" sz="1600" dirty="0" err="1"/>
              <a:t>avantazhet</a:t>
            </a:r>
            <a:r>
              <a:rPr lang="en-GB" sz="1600" dirty="0"/>
              <a:t> e blockchain (</a:t>
            </a:r>
            <a:r>
              <a:rPr lang="en-GB" sz="1600" dirty="0" err="1"/>
              <a:t>integritet</a:t>
            </a:r>
            <a:r>
              <a:rPr lang="en-GB" sz="1600" dirty="0"/>
              <a:t>, </a:t>
            </a:r>
            <a:r>
              <a:rPr lang="en-GB" sz="1600" dirty="0" err="1"/>
              <a:t>transparencë</a:t>
            </a:r>
            <a:r>
              <a:rPr lang="en-GB" sz="1600" dirty="0"/>
              <a:t>, </a:t>
            </a:r>
            <a:r>
              <a:rPr lang="en-GB" sz="1600" dirty="0" err="1"/>
              <a:t>qëndrueshmëri</a:t>
            </a:r>
            <a:r>
              <a:rPr lang="en-GB" sz="1600" dirty="0"/>
              <a:t>) pa </a:t>
            </a:r>
            <a:r>
              <a:rPr lang="en-GB" sz="1600" dirty="0" err="1"/>
              <a:t>krijuar</a:t>
            </a:r>
            <a:r>
              <a:rPr lang="en-GB" sz="1600" dirty="0"/>
              <a:t> </a:t>
            </a:r>
            <a:r>
              <a:rPr lang="en-GB" sz="1600" dirty="0" err="1"/>
              <a:t>ngarkesë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tepërt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dirty="0" err="1"/>
              <a:t>rrjet</a:t>
            </a:r>
            <a:r>
              <a:rPr lang="en-GB" sz="1600" dirty="0"/>
              <a:t>.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më</a:t>
            </a:r>
            <a:r>
              <a:rPr lang="en-GB" sz="1600" dirty="0"/>
              <a:t> </a:t>
            </a:r>
            <a:r>
              <a:rPr lang="en-GB" sz="1600" dirty="0" err="1"/>
              <a:t>tepër</a:t>
            </a:r>
            <a:r>
              <a:rPr lang="en-GB" sz="1600" dirty="0"/>
              <a:t>, </a:t>
            </a:r>
            <a:r>
              <a:rPr lang="en-GB" sz="1600" dirty="0" err="1"/>
              <a:t>punimi</a:t>
            </a:r>
            <a:r>
              <a:rPr lang="en-GB" sz="1600" dirty="0"/>
              <a:t> </a:t>
            </a:r>
            <a:r>
              <a:rPr lang="en-GB" sz="1600" dirty="0" err="1"/>
              <a:t>fokusohet</a:t>
            </a:r>
            <a:r>
              <a:rPr lang="en-GB" sz="1600" dirty="0"/>
              <a:t> </a:t>
            </a:r>
            <a:r>
              <a:rPr lang="en-GB" sz="1600" dirty="0" err="1"/>
              <a:t>në</a:t>
            </a:r>
            <a:r>
              <a:rPr lang="en-GB" sz="1600" dirty="0"/>
              <a:t> </a:t>
            </a:r>
            <a:r>
              <a:rPr lang="en-GB" sz="1600" b="1" dirty="0" err="1"/>
              <a:t>interoperabilitetin</a:t>
            </a:r>
            <a:r>
              <a:rPr lang="en-GB" sz="1600" b="1" dirty="0"/>
              <a:t> me </a:t>
            </a:r>
            <a:r>
              <a:rPr lang="en-GB" sz="1600" b="1" dirty="0" err="1"/>
              <a:t>sistemet</a:t>
            </a:r>
            <a:r>
              <a:rPr lang="en-GB" sz="1600" b="1" dirty="0"/>
              <a:t> </a:t>
            </a:r>
            <a:r>
              <a:rPr lang="en-GB" sz="1600" b="1" dirty="0" err="1"/>
              <a:t>ekzistuese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produkteve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</a:t>
            </a:r>
            <a:r>
              <a:rPr lang="en-GB" sz="1600" dirty="0" err="1"/>
              <a:t>zinxhirit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furnizimit</a:t>
            </a:r>
            <a:r>
              <a:rPr lang="en-GB" sz="1600" dirty="0"/>
              <a:t> </a:t>
            </a:r>
            <a:r>
              <a:rPr lang="en-GB" sz="1600" dirty="0" err="1"/>
              <a:t>si</a:t>
            </a:r>
            <a:r>
              <a:rPr lang="en-GB" sz="1600" dirty="0"/>
              <a:t> PLM, ERP </a:t>
            </a:r>
            <a:r>
              <a:rPr lang="en-GB" sz="1600" dirty="0" err="1"/>
              <a:t>dhe</a:t>
            </a:r>
            <a:r>
              <a:rPr lang="en-GB" sz="1600" dirty="0"/>
              <a:t> MES, duke e </a:t>
            </a:r>
            <a:r>
              <a:rPr lang="en-GB" sz="1600" dirty="0" err="1"/>
              <a:t>bërë</a:t>
            </a:r>
            <a:r>
              <a:rPr lang="en-GB" sz="1600" dirty="0"/>
              <a:t> </a:t>
            </a:r>
            <a:r>
              <a:rPr lang="en-GB" sz="1600" dirty="0" err="1"/>
              <a:t>adoptimin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qëndrueshëm</a:t>
            </a:r>
            <a:r>
              <a:rPr lang="en-GB" sz="1600" dirty="0"/>
              <a:t> </a:t>
            </a:r>
            <a:r>
              <a:rPr lang="en-GB" sz="1600" dirty="0" err="1"/>
              <a:t>dhe</a:t>
            </a:r>
            <a:r>
              <a:rPr lang="en-GB" sz="1600" dirty="0"/>
              <a:t> gradual </a:t>
            </a:r>
            <a:r>
              <a:rPr lang="en-GB" sz="1600" dirty="0" err="1"/>
              <a:t>për</a:t>
            </a:r>
            <a:r>
              <a:rPr lang="en-GB" sz="1600" dirty="0"/>
              <a:t> </a:t>
            </a:r>
            <a:r>
              <a:rPr lang="en-GB" sz="1600" dirty="0" err="1"/>
              <a:t>industrinë</a:t>
            </a:r>
            <a:r>
              <a:rPr lang="en-GB" sz="1600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9041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A665-2ECC-85D1-9602-A2F4BEC2F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587"/>
          </a:xfrm>
        </p:spPr>
        <p:txBody>
          <a:bodyPr>
            <a:normAutofit/>
          </a:bodyPr>
          <a:lstStyle/>
          <a:p>
            <a:r>
              <a:rPr lang="en-GB" sz="4000" dirty="0" err="1"/>
              <a:t>Reflektimi</a:t>
            </a:r>
            <a:r>
              <a:rPr lang="en-GB" sz="4000" dirty="0"/>
              <a:t> </a:t>
            </a:r>
            <a:r>
              <a:rPr lang="en-GB" sz="4000" dirty="0" err="1"/>
              <a:t>mbi</a:t>
            </a:r>
            <a:r>
              <a:rPr lang="en-GB" sz="4000" dirty="0"/>
              <a:t> </a:t>
            </a:r>
            <a:r>
              <a:rPr lang="en-GB" sz="4000" dirty="0" err="1"/>
              <a:t>procesin</a:t>
            </a:r>
            <a:r>
              <a:rPr lang="en-GB" sz="4000" dirty="0"/>
              <a:t> </a:t>
            </a:r>
            <a:r>
              <a:rPr lang="en-GB" sz="4000" dirty="0" err="1"/>
              <a:t>kërkimor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7E953-9043-0AE8-FF59-879D22B07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12"/>
            <a:ext cx="10515600" cy="5052251"/>
          </a:xfrm>
        </p:spPr>
        <p:txBody>
          <a:bodyPr/>
          <a:lstStyle/>
          <a:p>
            <a:r>
              <a:rPr lang="en-GB" sz="1600" dirty="0"/>
              <a:t>Nga </a:t>
            </a:r>
            <a:r>
              <a:rPr lang="en-GB" sz="1600" dirty="0" err="1"/>
              <a:t>analiza</a:t>
            </a:r>
            <a:r>
              <a:rPr lang="en-GB" sz="1600" dirty="0"/>
              <a:t> e </a:t>
            </a:r>
            <a:r>
              <a:rPr lang="en-GB" sz="1600" dirty="0" err="1"/>
              <a:t>këtij</a:t>
            </a:r>
            <a:r>
              <a:rPr lang="en-GB" sz="1600" dirty="0"/>
              <a:t> </a:t>
            </a:r>
            <a:r>
              <a:rPr lang="en-GB" sz="1600" dirty="0" err="1"/>
              <a:t>punimi</a:t>
            </a:r>
            <a:r>
              <a:rPr lang="en-GB" sz="1600" dirty="0"/>
              <a:t> </a:t>
            </a:r>
            <a:r>
              <a:rPr lang="en-GB" sz="1600" dirty="0" err="1"/>
              <a:t>kam</a:t>
            </a:r>
            <a:r>
              <a:rPr lang="en-GB" sz="1600" dirty="0"/>
              <a:t> </a:t>
            </a:r>
            <a:r>
              <a:rPr lang="en-GB" sz="1600" dirty="0" err="1"/>
              <a:t>kuptuar</a:t>
            </a:r>
            <a:r>
              <a:rPr lang="en-GB" sz="1600" dirty="0"/>
              <a:t> </a:t>
            </a:r>
            <a:r>
              <a:rPr lang="en-GB" sz="1600" dirty="0" err="1"/>
              <a:t>rëndësinë</a:t>
            </a:r>
            <a:r>
              <a:rPr lang="en-GB" sz="1600" dirty="0"/>
              <a:t> 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 err="1"/>
              <a:t>verifikimit</a:t>
            </a:r>
            <a:r>
              <a:rPr lang="en-GB" sz="1600" b="1" dirty="0"/>
              <a:t> </a:t>
            </a:r>
            <a:r>
              <a:rPr lang="en-GB" sz="1600" b="1" dirty="0" err="1"/>
              <a:t>kritik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zgjidhjeve</a:t>
            </a:r>
            <a:r>
              <a:rPr lang="en-GB" sz="1600" dirty="0"/>
              <a:t> </a:t>
            </a:r>
            <a:r>
              <a:rPr lang="en-GB" sz="1600" dirty="0" err="1"/>
              <a:t>teknologjike</a:t>
            </a:r>
            <a:r>
              <a:rPr lang="en-GB" sz="1600" dirty="0"/>
              <a:t>, jo </a:t>
            </a:r>
            <a:r>
              <a:rPr lang="en-GB" sz="1600" dirty="0" err="1"/>
              <a:t>vetëm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asaj</a:t>
            </a:r>
            <a:r>
              <a:rPr lang="en-GB" sz="1600" dirty="0"/>
              <a:t> </a:t>
            </a:r>
            <a:r>
              <a:rPr lang="en-GB" sz="1600" dirty="0" err="1"/>
              <a:t>që</a:t>
            </a:r>
            <a:r>
              <a:rPr lang="en-GB" sz="1600" dirty="0"/>
              <a:t> </a:t>
            </a:r>
            <a:r>
              <a:rPr lang="en-GB" sz="1600" dirty="0" err="1"/>
              <a:t>propozohet</a:t>
            </a:r>
            <a:endParaRPr lang="en-GB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b="1" dirty="0" err="1"/>
              <a:t>vlerësimit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praktikueshmërisë</a:t>
            </a:r>
            <a:r>
              <a:rPr lang="en-GB" sz="1600" dirty="0"/>
              <a:t> para </a:t>
            </a:r>
            <a:r>
              <a:rPr lang="en-GB" sz="1600" dirty="0" err="1"/>
              <a:t>adoptimit</a:t>
            </a:r>
            <a:r>
              <a:rPr lang="en-GB" sz="1600" dirty="0"/>
              <a:t> industrial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rëndësinë</a:t>
            </a:r>
            <a:r>
              <a:rPr lang="en-GB" sz="1600" dirty="0"/>
              <a:t> e </a:t>
            </a:r>
            <a:r>
              <a:rPr lang="en-GB" sz="1600" b="1" dirty="0" err="1"/>
              <a:t>modeleve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standardizuara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të</a:t>
            </a:r>
            <a:r>
              <a:rPr lang="en-GB" sz="1600" b="1" dirty="0"/>
              <a:t> </a:t>
            </a:r>
            <a:r>
              <a:rPr lang="en-GB" sz="1600" b="1" dirty="0" err="1"/>
              <a:t>dhënave</a:t>
            </a:r>
            <a:r>
              <a:rPr lang="en-GB" sz="1600" dirty="0"/>
              <a:t> (</a:t>
            </a:r>
            <a:r>
              <a:rPr lang="en-GB" sz="1600" dirty="0" err="1"/>
              <a:t>si</a:t>
            </a:r>
            <a:r>
              <a:rPr lang="en-GB" sz="1600" dirty="0"/>
              <a:t> DAR/TAR)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1600" dirty="0" err="1"/>
              <a:t>dokumentimit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dirty="0" err="1"/>
              <a:t>qartë</a:t>
            </a:r>
            <a:r>
              <a:rPr lang="en-GB" sz="1600" dirty="0"/>
              <a:t> </a:t>
            </a:r>
            <a:r>
              <a:rPr lang="en-GB" sz="1600" dirty="0" err="1"/>
              <a:t>të</a:t>
            </a:r>
            <a:r>
              <a:rPr lang="en-GB" sz="1600" dirty="0"/>
              <a:t> </a:t>
            </a:r>
            <a:r>
              <a:rPr lang="en-GB" sz="1600" b="1" dirty="0" err="1"/>
              <a:t>metodologjisë</a:t>
            </a:r>
            <a:r>
              <a:rPr lang="en-GB" sz="1600" b="1" dirty="0"/>
              <a:t> </a:t>
            </a:r>
            <a:r>
              <a:rPr lang="en-GB" sz="1600" b="1" dirty="0" err="1"/>
              <a:t>dhe</a:t>
            </a:r>
            <a:r>
              <a:rPr lang="en-GB" sz="1600" b="1" dirty="0"/>
              <a:t> </a:t>
            </a:r>
            <a:r>
              <a:rPr lang="en-GB" sz="1600" b="1" dirty="0" err="1"/>
              <a:t>vëmendjes</a:t>
            </a:r>
            <a:r>
              <a:rPr lang="en-GB" sz="1600" b="1" dirty="0"/>
              <a:t> </a:t>
            </a:r>
            <a:r>
              <a:rPr lang="en-GB" sz="1600" b="1" dirty="0" err="1"/>
              <a:t>ndaj</a:t>
            </a:r>
            <a:r>
              <a:rPr lang="en-GB" sz="1600" b="1" dirty="0"/>
              <a:t> </a:t>
            </a:r>
            <a:r>
              <a:rPr lang="en-GB" sz="1600" b="1" dirty="0" err="1"/>
              <a:t>kufizimeve</a:t>
            </a:r>
            <a:endParaRPr lang="en-GB" sz="1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50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1031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Të dhënat e punimit kryesor</vt:lpstr>
      <vt:lpstr>Abstrakt</vt:lpstr>
      <vt:lpstr>Përmbjatja</vt:lpstr>
      <vt:lpstr>Distributed ledger technology (DLT) </vt:lpstr>
      <vt:lpstr>Blockchain</vt:lpstr>
      <vt:lpstr>Asset-centric computing </vt:lpstr>
      <vt:lpstr>Rendesia dhe objektivat</vt:lpstr>
      <vt:lpstr>Studimi i literaturës</vt:lpstr>
      <vt:lpstr>Analiza </vt:lpstr>
      <vt:lpstr>Analiza</vt:lpstr>
      <vt:lpstr>Analiza</vt:lpstr>
      <vt:lpstr>Konkluzioni</vt:lpstr>
      <vt:lpstr>Future Work</vt:lpstr>
      <vt:lpstr>Mendimi Kritik</vt:lpstr>
      <vt:lpstr>Përmirësimet e mundshme</vt:lpstr>
      <vt:lpstr>Krahasimi me punimin tjetër</vt:lpstr>
      <vt:lpstr>Reflektimi mbi procesin kërkimor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Shefket Bylygbashi</dc:creator>
  <cp:lastModifiedBy>Shefket Bylygbashi</cp:lastModifiedBy>
  <cp:revision>31</cp:revision>
  <dcterms:created xsi:type="dcterms:W3CDTF">2025-11-30T14:27:58Z</dcterms:created>
  <dcterms:modified xsi:type="dcterms:W3CDTF">2025-12-12T07:08:46Z</dcterms:modified>
</cp:coreProperties>
</file>