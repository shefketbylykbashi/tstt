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3" r:id="rId2"/>
    <p:sldId id="262" r:id="rId3"/>
    <p:sldId id="265" r:id="rId4"/>
    <p:sldId id="267" r:id="rId5"/>
    <p:sldId id="270" r:id="rId6"/>
    <p:sldId id="278" r:id="rId7"/>
    <p:sldId id="274" r:id="rId8"/>
    <p:sldId id="277" r:id="rId9"/>
    <p:sldId id="280" r:id="rId10"/>
    <p:sldId id="284" r:id="rId11"/>
    <p:sldId id="289" r:id="rId12"/>
    <p:sldId id="313" r:id="rId13"/>
    <p:sldId id="293" r:id="rId14"/>
    <p:sldId id="297" r:id="rId15"/>
    <p:sldId id="301" r:id="rId16"/>
    <p:sldId id="304" r:id="rId17"/>
    <p:sldId id="318" r:id="rId18"/>
    <p:sldId id="320" r:id="rId19"/>
    <p:sldId id="306" r:id="rId20"/>
    <p:sldId id="308" r:id="rId21"/>
    <p:sldId id="311" r:id="rId22"/>
  </p:sldIdLst>
  <p:sldSz cx="12192000" cy="6858000"/>
  <p:notesSz cx="6858000" cy="9144000"/>
  <p:defaultTextStyle>
    <a:defPPr>
      <a:defRPr lang="sq-A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E6EDF3"/>
                </a:solidFill>
              </a:defRPr>
            </a:pPr>
            <a:r>
              <a:rPr lang="sq-AL" sz="1600" b="1">
                <a:solidFill>
                  <a:srgbClr val="E6EDF3"/>
                </a:solidFill>
              </a:rPr>
              <a:t>R² për gjashtë objektivat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R²</c:v>
          </c:tx>
          <c:invertIfNegative val="1"/>
          <c:dPt>
            <c:idx val="0"/>
            <c:invertIfNegative val="0"/>
            <c:bubble3D val="0"/>
            <c:spPr>
              <a:solidFill>
                <a:srgbClr val="22D3E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6F7-41C6-959F-88CC0F0A98FE}"/>
              </c:ext>
            </c:extLst>
          </c:dPt>
          <c:dPt>
            <c:idx val="1"/>
            <c:invertIfNegative val="0"/>
            <c:bubble3D val="0"/>
            <c:spPr>
              <a:solidFill>
                <a:srgbClr val="A78BF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6F7-41C6-959F-88CC0F0A98FE}"/>
              </c:ext>
            </c:extLst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86F7-41C6-959F-88CC0F0A98FE}"/>
              </c:ext>
            </c:extLst>
          </c:dPt>
          <c:dPt>
            <c:idx val="3"/>
            <c:invertIfNegative val="0"/>
            <c:bubble3D val="0"/>
            <c:spPr>
              <a:solidFill>
                <a:srgbClr val="60A5F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86F7-41C6-959F-88CC0F0A98FE}"/>
              </c:ext>
            </c:extLst>
          </c:dPt>
          <c:dPt>
            <c:idx val="4"/>
            <c:invertIfNegative val="0"/>
            <c:bubble3D val="0"/>
            <c:spPr>
              <a:solidFill>
                <a:srgbClr val="F472B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86F7-41C6-959F-88CC0F0A98FE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86F7-41C6-959F-88CC0F0A98FE}"/>
              </c:ext>
            </c:extLst>
          </c:dPt>
          <c:dLbls>
            <c:numFmt formatCode="0.000" sourceLinked="0"/>
            <c:spPr>
              <a:noFill/>
            </c:spPr>
            <c:txPr>
              <a:bodyPr/>
              <a:lstStyle/>
              <a:p>
                <a:pPr>
                  <a:defRPr sz="1300" b="1">
                    <a:solidFill>
                      <a:srgbClr val="E6EDF3"/>
                    </a:solidFill>
                  </a:defRPr>
                </a:pPr>
                <a:endParaRPr lang="sq-A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Likes</c:v>
              </c:pt>
              <c:pt idx="1">
                <c:v>Comments</c:v>
              </c:pt>
              <c:pt idx="2">
                <c:v>Shares</c:v>
              </c:pt>
              <c:pt idx="3">
                <c:v>Impres.</c:v>
              </c:pt>
              <c:pt idx="4">
                <c:v>Reach</c:v>
              </c:pt>
              <c:pt idx="5">
                <c:v>Eng.Rate</c:v>
              </c:pt>
            </c:strLit>
          </c:cat>
          <c:val>
            <c:numLit>
              <c:formatCode>General</c:formatCode>
              <c:ptCount val="6"/>
              <c:pt idx="0">
                <c:v>0.86</c:v>
              </c:pt>
              <c:pt idx="1">
                <c:v>0.88</c:v>
              </c:pt>
              <c:pt idx="2">
                <c:v>0.83499999999999996</c:v>
              </c:pt>
              <c:pt idx="3">
                <c:v>0.86299999999999999</c:v>
              </c:pt>
              <c:pt idx="4">
                <c:v>0.85099999999999998</c:v>
              </c:pt>
              <c:pt idx="5">
                <c:v>0.84</c:v>
              </c:pt>
            </c:numLit>
          </c:val>
          <c:extLst>
            <c:ext xmlns:c16="http://schemas.microsoft.com/office/drawing/2014/chart" uri="{C3380CC4-5D6E-409C-BE32-E72D297353CC}">
              <c16:uniqueId val="{0000000C-86F7-41C6-959F-88CC0F0A98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300">
                <a:solidFill>
                  <a:srgbClr val="C9D1D9"/>
                </a:solidFill>
              </a:defRPr>
            </a:pPr>
            <a:endParaRPr lang="sq-AL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1"/>
          <c:min val="0.7"/>
        </c:scaling>
        <c:delete val="0"/>
        <c:axPos val="l"/>
        <c:majorGridlines>
          <c:spPr>
            <a:ln w="6350">
              <a:solidFill>
                <a:srgbClr val="30363D"/>
              </a:solidFill>
            </a:ln>
          </c:spPr>
        </c:majorGridlines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C9D1D9"/>
                </a:solidFill>
              </a:defRPr>
            </a:pPr>
            <a:endParaRPr lang="sq-AL"/>
          </a:p>
        </c:txPr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E6EDF3"/>
                </a:solidFill>
              </a:defRPr>
            </a:pPr>
            <a:r>
              <a:rPr lang="sq-AL" sz="1600" b="1">
                <a:solidFill>
                  <a:srgbClr val="E6EDF3"/>
                </a:solidFill>
              </a:rPr>
              <a:t>Progresi i performancës sipas modelit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R²</c:v>
          </c:tx>
          <c:invertIfNegative val="1"/>
          <c:dPt>
            <c:idx val="0"/>
            <c:invertIfNegative val="0"/>
            <c:bubble3D val="0"/>
            <c:spPr>
              <a:solidFill>
                <a:srgbClr val="8B949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086-4AE4-88B9-39B4633C2A2B}"/>
              </c:ext>
            </c:extLst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086-4AE4-88B9-39B4633C2A2B}"/>
              </c:ext>
            </c:extLst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A086-4AE4-88B9-39B4633C2A2B}"/>
              </c:ext>
            </c:extLst>
          </c:dPt>
          <c:dPt>
            <c:idx val="3"/>
            <c:invertIfNegative val="0"/>
            <c:bubble3D val="0"/>
            <c:spPr>
              <a:solidFill>
                <a:srgbClr val="22D3E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A086-4AE4-88B9-39B4633C2A2B}"/>
              </c:ext>
            </c:extLst>
          </c:dPt>
          <c:dPt>
            <c:idx val="4"/>
            <c:invertIfNegative val="0"/>
            <c:bubble3D val="0"/>
            <c:spPr>
              <a:solidFill>
                <a:srgbClr val="F472B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A086-4AE4-88B9-39B4633C2A2B}"/>
              </c:ext>
            </c:extLst>
          </c:dPt>
          <c:dPt>
            <c:idx val="5"/>
            <c:invertIfNegative val="0"/>
            <c:bubble3D val="0"/>
            <c:spPr>
              <a:solidFill>
                <a:srgbClr val="34D39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A086-4AE4-88B9-39B4633C2A2B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FFFFFF"/>
                    </a:solidFill>
                  </a:defRPr>
                </a:pPr>
                <a:endParaRPr lang="sq-A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Ridge</c:v>
              </c:pt>
              <c:pt idx="1">
                <c:v>SVR</c:v>
              </c:pt>
              <c:pt idx="2">
                <c:v>RandomForest</c:v>
              </c:pt>
              <c:pt idx="3">
                <c:v>XGBoost</c:v>
              </c:pt>
              <c:pt idx="4">
                <c:v>LightGBM</c:v>
              </c:pt>
              <c:pt idx="5">
                <c:v>CatBoost</c:v>
              </c:pt>
            </c:strLit>
          </c:cat>
          <c:val>
            <c:numLit>
              <c:formatCode>General</c:formatCode>
              <c:ptCount val="6"/>
              <c:pt idx="0">
                <c:v>0.64500000000000002</c:v>
              </c:pt>
              <c:pt idx="1">
                <c:v>0.748</c:v>
              </c:pt>
              <c:pt idx="2">
                <c:v>0.79200000000000004</c:v>
              </c:pt>
              <c:pt idx="3">
                <c:v>0.84199999999999997</c:v>
              </c:pt>
              <c:pt idx="4">
                <c:v>0.84599999999999997</c:v>
              </c:pt>
              <c:pt idx="5">
                <c:v>0.86</c:v>
              </c:pt>
            </c:numLit>
          </c:val>
          <c:extLst>
            <c:ext xmlns:c16="http://schemas.microsoft.com/office/drawing/2014/chart" uri="{C3380CC4-5D6E-409C-BE32-E72D297353CC}">
              <c16:uniqueId val="{0000000C-A086-4AE4-88B9-39B4633C2A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30363D"/>
            </a:solidFill>
          </a:ln>
        </c:spPr>
        <c:txPr>
          <a:bodyPr/>
          <a:lstStyle/>
          <a:p>
            <a:pPr>
              <a:defRPr sz="1400">
                <a:solidFill>
                  <a:srgbClr val="C9D1D9"/>
                </a:solidFill>
              </a:defRPr>
            </a:pPr>
            <a:endParaRPr lang="sq-AL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.6"/>
        </c:scaling>
        <c:delete val="0"/>
        <c:axPos val="t"/>
        <c:majorGridlines>
          <c:spPr>
            <a:ln>
              <a:solidFill>
                <a:srgbClr val="30363D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30363D"/>
            </a:solidFill>
          </a:ln>
        </c:spPr>
        <c:txPr>
          <a:bodyPr/>
          <a:lstStyle/>
          <a:p>
            <a:pPr>
              <a:defRPr sz="1300">
                <a:solidFill>
                  <a:srgbClr val="C9D1D9"/>
                </a:solidFill>
              </a:defRPr>
            </a:pPr>
            <a:endParaRPr lang="sq-AL"/>
          </a:p>
        </c:txPr>
        <c:crossAx val="1"/>
        <c:crosses val="autoZero"/>
        <c:crossBetween val="between"/>
        <c:majorUnit val="0.1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E6EDF3"/>
                </a:solidFill>
              </a:defRPr>
            </a:pPr>
            <a:r>
              <a:rPr lang="sq-AL" sz="1600" b="1">
                <a:solidFill>
                  <a:srgbClr val="E6EDF3"/>
                </a:solidFill>
              </a:rPr>
              <a:t>ROC-AUC sipas objektivit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ROC-AUC</c:v>
          </c:tx>
          <c:invertIfNegative val="1"/>
          <c:dPt>
            <c:idx val="0"/>
            <c:invertIfNegative val="0"/>
            <c:bubble3D val="0"/>
            <c:spPr>
              <a:solidFill>
                <a:srgbClr val="22D3EE"/>
              </a:solidFill>
            </c:spPr>
            <c:extLst>
              <c:ext xmlns:c16="http://schemas.microsoft.com/office/drawing/2014/chart" uri="{C3380CC4-5D6E-409C-BE32-E72D297353CC}">
                <c16:uniqueId val="{00000001-E380-439C-A3CD-2F6822A4865E}"/>
              </c:ext>
            </c:extLst>
          </c:dPt>
          <c:dPt>
            <c:idx val="1"/>
            <c:invertIfNegative val="0"/>
            <c:bubble3D val="0"/>
            <c:spPr>
              <a:solidFill>
                <a:srgbClr val="A78BFA"/>
              </a:solidFill>
            </c:spPr>
            <c:extLst>
              <c:ext xmlns:c16="http://schemas.microsoft.com/office/drawing/2014/chart" uri="{C3380CC4-5D6E-409C-BE32-E72D297353CC}">
                <c16:uniqueId val="{00000003-E380-439C-A3CD-2F6822A4865E}"/>
              </c:ext>
            </c:extLst>
          </c:dPt>
          <c:dPt>
            <c:idx val="2"/>
            <c:invertIfNegative val="0"/>
            <c:bubble3D val="0"/>
            <c:spPr>
              <a:solidFill>
                <a:srgbClr val="34D399"/>
              </a:solidFill>
            </c:spPr>
            <c:extLst>
              <c:ext xmlns:c16="http://schemas.microsoft.com/office/drawing/2014/chart" uri="{C3380CC4-5D6E-409C-BE32-E72D297353CC}">
                <c16:uniqueId val="{00000005-E380-439C-A3CD-2F6822A4865E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FFFFFF"/>
                    </a:solidFill>
                  </a:defRPr>
                </a:pPr>
                <a:endParaRPr lang="sq-A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Viral</c:v>
              </c:pt>
              <c:pt idx="1">
                <c:v>Angazhim i lartë</c:v>
              </c:pt>
              <c:pt idx="2">
                <c:v>Sentiment</c:v>
              </c:pt>
            </c:strLit>
          </c:cat>
          <c:val>
            <c:numLit>
              <c:formatCode>General</c:formatCode>
              <c:ptCount val="3"/>
              <c:pt idx="0">
                <c:v>0.91200000000000003</c:v>
              </c:pt>
              <c:pt idx="1">
                <c:v>0.93300000000000005</c:v>
              </c:pt>
              <c:pt idx="2">
                <c:v>0.86</c:v>
              </c:pt>
            </c:numLit>
          </c:val>
          <c:extLst>
            <c:ext xmlns:c16="http://schemas.microsoft.com/office/drawing/2014/chart" uri="{C3380CC4-5D6E-409C-BE32-E72D297353CC}">
              <c16:uniqueId val="{00000006-E380-439C-A3CD-2F6822A486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30363D"/>
            </a:solidFill>
          </a:ln>
        </c:spPr>
        <c:txPr>
          <a:bodyPr/>
          <a:lstStyle/>
          <a:p>
            <a:pPr>
              <a:defRPr sz="1300">
                <a:solidFill>
                  <a:srgbClr val="C9D1D9"/>
                </a:solidFill>
              </a:defRPr>
            </a:pPr>
            <a:endParaRPr lang="sq-AL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1"/>
          <c:min val="0.7"/>
        </c:scaling>
        <c:delete val="0"/>
        <c:axPos val="l"/>
        <c:majorGridlines>
          <c:spPr>
            <a:ln>
              <a:solidFill>
                <a:srgbClr val="30363D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C9D1D9"/>
                </a:solidFill>
              </a:defRPr>
            </a:pPr>
            <a:endParaRPr lang="sq-AL"/>
          </a:p>
        </c:txPr>
        <c:crossAx val="111"/>
        <c:crosses val="autoZero"/>
        <c:crossBetween val="between"/>
        <c:majorUnit val="0.1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E6EDF3"/>
                </a:solidFill>
              </a:defRPr>
            </a:pPr>
            <a:r>
              <a:rPr lang="sq-AL" sz="1600" b="1">
                <a:solidFill>
                  <a:srgbClr val="E6EDF3"/>
                </a:solidFill>
              </a:rPr>
              <a:t>Top-8 veçoritë sipas SHAP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SHAP</c:v>
          </c:tx>
          <c:invertIfNegative val="1"/>
          <c:dPt>
            <c:idx val="0"/>
            <c:invertIfNegative val="0"/>
            <c:bubble3D val="0"/>
            <c:spPr>
              <a:solidFill>
                <a:srgbClr val="22D3E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044-49CA-8E66-6D4F0376FD75}"/>
              </c:ext>
            </c:extLst>
          </c:dPt>
          <c:dPt>
            <c:idx val="1"/>
            <c:invertIfNegative val="0"/>
            <c:bubble3D val="0"/>
            <c:spPr>
              <a:solidFill>
                <a:srgbClr val="A78BF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044-49CA-8E66-6D4F0376FD75}"/>
              </c:ext>
            </c:extLst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6044-49CA-8E66-6D4F0376FD75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6044-49CA-8E66-6D4F0376FD75}"/>
              </c:ext>
            </c:extLst>
          </c:dPt>
          <c:dPt>
            <c:idx val="4"/>
            <c:invertIfNegative val="0"/>
            <c:bubble3D val="0"/>
            <c:spPr>
              <a:solidFill>
                <a:srgbClr val="F472B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6044-49CA-8E66-6D4F0376FD75}"/>
              </c:ext>
            </c:extLst>
          </c:dPt>
          <c:dPt>
            <c:idx val="5"/>
            <c:invertIfNegative val="0"/>
            <c:bubble3D val="0"/>
            <c:spPr>
              <a:solidFill>
                <a:srgbClr val="60A5F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6044-49CA-8E66-6D4F0376FD75}"/>
              </c:ext>
            </c:extLst>
          </c:dPt>
          <c:dPt>
            <c:idx val="6"/>
            <c:invertIfNegative val="0"/>
            <c:bubble3D val="0"/>
            <c:spPr>
              <a:solidFill>
                <a:srgbClr val="22D3E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6044-49CA-8E66-6D4F0376FD75}"/>
              </c:ext>
            </c:extLst>
          </c:dPt>
          <c:dPt>
            <c:idx val="7"/>
            <c:invertIfNegative val="0"/>
            <c:bubble3D val="0"/>
            <c:spPr>
              <a:solidFill>
                <a:srgbClr val="A78BF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6044-49CA-8E66-6D4F0376FD75}"/>
              </c:ext>
            </c:extLst>
          </c:dPt>
          <c:dLbls>
            <c:numFmt formatCode="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E6EDF3"/>
                    </a:solidFill>
                  </a:defRPr>
                </a:pPr>
                <a:endParaRPr lang="sq-A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Sentiment</c:v>
              </c:pt>
              <c:pt idx="1">
                <c:v>Gjatësia</c:v>
              </c:pt>
              <c:pt idx="2">
                <c:v>Hashtag</c:v>
              </c:pt>
              <c:pt idx="3">
                <c:v>Emoji</c:v>
              </c:pt>
              <c:pt idx="4">
                <c:v>Pyetje</c:v>
              </c:pt>
              <c:pt idx="5">
                <c:v>Word count</c:v>
              </c:pt>
              <c:pt idx="6">
                <c:v>TF-IDF</c:v>
              </c:pt>
              <c:pt idx="7">
                <c:v>Ora</c:v>
              </c:pt>
            </c:strLit>
          </c:cat>
          <c:val>
            <c:numLit>
              <c:formatCode>General</c:formatCode>
              <c:ptCount val="8"/>
              <c:pt idx="0">
                <c:v>18.399999999999999</c:v>
              </c:pt>
              <c:pt idx="1">
                <c:v>14.6</c:v>
              </c:pt>
              <c:pt idx="2">
                <c:v>11.2</c:v>
              </c:pt>
              <c:pt idx="3">
                <c:v>8.6999999999999993</c:v>
              </c:pt>
              <c:pt idx="4">
                <c:v>7.1</c:v>
              </c:pt>
              <c:pt idx="5">
                <c:v>6.3</c:v>
              </c:pt>
              <c:pt idx="6">
                <c:v>5.4</c:v>
              </c:pt>
              <c:pt idx="7">
                <c:v>4.2</c:v>
              </c:pt>
            </c:numLit>
          </c:val>
          <c:extLst>
            <c:ext xmlns:c16="http://schemas.microsoft.com/office/drawing/2014/chart" uri="{C3380CC4-5D6E-409C-BE32-E72D297353CC}">
              <c16:uniqueId val="{00000010-6044-49CA-8E66-6D4F0376FD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"/>
        <c:axId val="222"/>
      </c:barChart>
      <c:catAx>
        <c:axId val="11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300">
                <a:solidFill>
                  <a:srgbClr val="C9D1D9"/>
                </a:solidFill>
              </a:defRPr>
            </a:pPr>
            <a:endParaRPr lang="sq-AL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20"/>
          <c:min val="0"/>
        </c:scaling>
        <c:delete val="0"/>
        <c:axPos val="t"/>
        <c:majorGridlines>
          <c:spPr>
            <a:ln w="9525">
              <a:solidFill>
                <a:srgbClr val="30363D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C9D1D9"/>
                </a:solidFill>
              </a:defRPr>
            </a:pPr>
            <a:endParaRPr lang="sq-AL"/>
          </a:p>
        </c:txPr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0923D-04E3-DC55-E5D1-125AA8A7ED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3C9BE-0A13-7454-309C-1F64A7A59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q-A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F6E27-E8D5-B82C-5BAC-489B8E801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6C57-39ED-440E-A7EF-21A9F8EDBD4F}" type="datetimeFigureOut">
              <a:rPr lang="sq-AL" smtClean="0"/>
              <a:t>29.5.2026</a:t>
            </a:fld>
            <a:endParaRPr lang="sq-A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B7EBA-37DE-5CB8-6E25-52081285E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AEDC0-DF8C-CB68-1AD1-494A9043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F15C0-9098-4BEE-BE33-5EACDF160392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13486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2C57A-A0F1-E298-4494-EDFF6551A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95F5-CBE3-02EF-8957-0C1CBF3EA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A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F331E-06CC-E182-B614-8BA924A01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6C57-39ED-440E-A7EF-21A9F8EDBD4F}" type="datetimeFigureOut">
              <a:rPr lang="sq-AL" smtClean="0"/>
              <a:t>29.5.2026</a:t>
            </a:fld>
            <a:endParaRPr lang="sq-A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14871-D064-AC78-1104-A2AE60B8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0197A-6766-9822-61E6-253D0C06C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F15C0-9098-4BEE-BE33-5EACDF160392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178591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9A1C5-543C-3BD7-5E6D-D904FD6D1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F1617-5929-851F-CA92-010A90C05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D139D-5480-9E0A-421F-150FD7AD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6C57-39ED-440E-A7EF-21A9F8EDBD4F}" type="datetimeFigureOut">
              <a:rPr lang="sq-AL" smtClean="0"/>
              <a:t>29.5.2026</a:t>
            </a:fld>
            <a:endParaRPr lang="sq-A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BA7EF-E744-188A-9223-294BCE264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0E950-602D-BEAD-7062-2890BF179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F15C0-9098-4BEE-BE33-5EACDF160392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2954017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DED8B-37FA-3321-6FFC-358E3D1FA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59E43-3ED1-9463-A94D-936D2ABCB9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A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40A966-97B0-912A-8C4F-B360EDDE6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A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10CCB-F844-1BEA-0747-B7D70AB38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6C57-39ED-440E-A7EF-21A9F8EDBD4F}" type="datetimeFigureOut">
              <a:rPr lang="sq-AL" smtClean="0"/>
              <a:t>29.5.2026</a:t>
            </a:fld>
            <a:endParaRPr lang="sq-A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4C994-0F0E-B920-B695-6DBFED9E8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924AA-FF5A-1A5F-1740-4471A3A53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F15C0-9098-4BEE-BE33-5EACDF160392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2251047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0F7F5-1F9C-CCD4-DF1E-2936BCB20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B2EBE-D5F5-7FE7-2AFF-42D56B9C5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F54437-C48E-2427-05C7-2097447CB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A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BE610C-59CE-CBFE-83FA-E96998F88A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A1554C-7D60-8C7F-3165-7C68E6DDCB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A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5B639-4DD1-E056-F6C0-C7D6B58BE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6C57-39ED-440E-A7EF-21A9F8EDBD4F}" type="datetimeFigureOut">
              <a:rPr lang="sq-AL" smtClean="0"/>
              <a:t>29.5.2026</a:t>
            </a:fld>
            <a:endParaRPr lang="sq-A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5CD178-C486-E3CF-A0F6-A1CB71B4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61C3A1-F791-C229-85E2-36831626D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F15C0-9098-4BEE-BE33-5EACDF160392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3001764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4A44E-EE3B-148F-5E25-A3D47D540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9E337D-5992-8C62-487E-9884E896B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6C57-39ED-440E-A7EF-21A9F8EDBD4F}" type="datetimeFigureOut">
              <a:rPr lang="sq-AL" smtClean="0"/>
              <a:t>29.5.2026</a:t>
            </a:fld>
            <a:endParaRPr lang="sq-A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C2B518-4DF7-B786-1289-607090355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1FCD0-7C59-5D74-71F8-2FCDAC201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F15C0-9098-4BEE-BE33-5EACDF160392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503374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B4104A-D40A-EE0C-5A8F-9C8346FF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6C57-39ED-440E-A7EF-21A9F8EDBD4F}" type="datetimeFigureOut">
              <a:rPr lang="sq-AL" smtClean="0"/>
              <a:t>29.5.2026</a:t>
            </a:fld>
            <a:endParaRPr lang="sq-A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9FCA8-39F4-02BE-66E6-8002E21AF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3F23C-ACED-427B-24C9-E406AD309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F15C0-9098-4BEE-BE33-5EACDF160392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168999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11AE7-6E28-31AB-EF8F-D4AE7DCAE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698E2-8D30-B903-FD02-CEB91E603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A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529ED-FE87-F398-2D98-F760B859F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A7004-535F-F669-7E46-FE997069C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6C57-39ED-440E-A7EF-21A9F8EDBD4F}" type="datetimeFigureOut">
              <a:rPr lang="sq-AL" smtClean="0"/>
              <a:t>29.5.2026</a:t>
            </a:fld>
            <a:endParaRPr lang="sq-A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906C2-C71B-F91C-0B13-D687F7A1D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E6873-B0F8-D898-9D1E-B9282D205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F15C0-9098-4BEE-BE33-5EACDF160392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319893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FE4FA-B8BC-6C73-2FB3-434B73644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F5ABA2-D278-20B3-2A9D-B55C6D8441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q-A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AE14A-4333-DC1F-9E50-C5E5850CB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E2C5D-FEC5-9A22-6CA5-C16BCDA4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6C57-39ED-440E-A7EF-21A9F8EDBD4F}" type="datetimeFigureOut">
              <a:rPr lang="sq-AL" smtClean="0"/>
              <a:t>29.5.2026</a:t>
            </a:fld>
            <a:endParaRPr lang="sq-A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D405B-11BE-8CB0-989E-31B4F5D6F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C11B6-C31E-368E-CCC4-8017DDCD9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F15C0-9098-4BEE-BE33-5EACDF160392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1289490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31115-3DF8-6212-D6F3-A6EFD5F8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96976-D25E-88EA-BE11-123590B29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A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7E817-93C9-A547-B999-6DEFC5D4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6C57-39ED-440E-A7EF-21A9F8EDBD4F}" type="datetimeFigureOut">
              <a:rPr lang="sq-AL" smtClean="0"/>
              <a:t>29.5.2026</a:t>
            </a:fld>
            <a:endParaRPr lang="sq-A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7BF59-85FA-B462-FBC2-1A11F733B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AFE0C-E8E6-7417-D3AD-C2B9CE061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F15C0-9098-4BEE-BE33-5EACDF160392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217815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7508BA-4513-3937-6FB2-0057C7BB64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11030-A7A7-549E-08FA-45B8A92FA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A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BF6FE-B6FA-20A1-E687-6624F9574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6C57-39ED-440E-A7EF-21A9F8EDBD4F}" type="datetimeFigureOut">
              <a:rPr lang="sq-AL" smtClean="0"/>
              <a:t>29.5.2026</a:t>
            </a:fld>
            <a:endParaRPr lang="sq-A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7AB75-023E-92E5-E380-DB8D0D1A0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A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85172-FF88-96A8-5B4E-DA32E556D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F15C0-9098-4BEE-BE33-5EACDF160392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2549281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30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530207-A533-89F9-B842-E6595AC43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q-A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98B53-3B62-AEB1-EA82-E13066BC3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A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9EE82-2CD7-C44B-4EDF-8EDEDE721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26C57-39ED-440E-A7EF-21A9F8EDBD4F}" type="datetimeFigureOut">
              <a:rPr lang="sq-AL" smtClean="0"/>
              <a:t>29.5.2026</a:t>
            </a:fld>
            <a:endParaRPr lang="sq-A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74B2-4C82-8EA1-7D52-55FAE0D66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A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CC189-A493-34F0-8BFA-1DDE7BA1C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F15C0-9098-4BEE-BE33-5EACDF160392}" type="slidenum">
              <a:rPr lang="sq-AL" smtClean="0"/>
              <a:t>‹#›</a:t>
            </a:fld>
            <a:endParaRPr lang="sq-AL"/>
          </a:p>
        </p:txBody>
      </p:sp>
      <p:sp>
        <p:nvSpPr>
          <p:cNvPr id="901" name="AccentBar"/>
          <p:cNvSpPr/>
          <p:nvPr/>
        </p:nvSpPr>
        <p:spPr>
          <a:xfrm>
            <a:off x="0" y="0"/>
            <a:ext cx="2438400" cy="685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CornerTri"/>
          <p:cNvSpPr/>
          <p:nvPr/>
        </p:nvSpPr>
        <p:spPr>
          <a:xfrm flipH="1">
            <a:off x="8077200" y="5638800"/>
            <a:ext cx="1066800" cy="1219200"/>
          </a:xfrm>
          <a:prstGeom prst="rtTriangle">
            <a:avLst/>
          </a:prstGeom>
          <a:solidFill>
            <a:srgbClr val="A78BFA">
              <a:alpha val="2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2672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6EDF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9D1D9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q-A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784DC-19ED-D1FA-4BB3-8B215578E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sq-AL" sz="900" b="1" spc="300" dirty="0">
                <a:solidFill>
                  <a:srgbClr val="22D3EE"/>
                </a:solidFill>
              </a:rPr>
              <a:t>PUNIM SHKENCOR · </a:t>
            </a:r>
            <a:r>
              <a:rPr lang="en-US" sz="900" b="1" spc="300" dirty="0">
                <a:solidFill>
                  <a:srgbClr val="22D3EE"/>
                </a:solidFill>
              </a:rPr>
              <a:t>METODOLOGJI HULUMTUESE</a:t>
            </a:r>
            <a:endParaRPr lang="sq-AL" sz="900" b="1" spc="300" dirty="0">
              <a:solidFill>
                <a:srgbClr val="22D3EE"/>
              </a:solidFill>
            </a:endParaRPr>
          </a:p>
          <a:p>
            <a:pPr algn="l"/>
            <a:r>
              <a:rPr lang="sq-AL" sz="3600" b="1" dirty="0"/>
              <a:t>Analiza e Sentimentit në të Dhënat e Rrjeteve Sociale</a:t>
            </a:r>
          </a:p>
          <a:p>
            <a:pPr algn="l"/>
            <a:r>
              <a:rPr lang="sq-AL" sz="2000" b="0" dirty="0">
                <a:solidFill>
                  <a:srgbClr val="A78BFA"/>
                </a:solidFill>
              </a:rPr>
              <a:t>Parashikimi i Reagimit ndaj Postimeve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04A7B-82AD-1FD7-0851-D615AF8E0F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sq-AL" sz="1500" b="1" dirty="0"/>
              <a:t>Shefket Bylygbashi  ·  Arton Gërguri</a:t>
            </a:r>
          </a:p>
          <a:p>
            <a:pPr algn="l"/>
            <a:r>
              <a:rPr lang="sq-AL" sz="1200" dirty="0">
                <a:solidFill>
                  <a:srgbClr val="8B949E"/>
                </a:solidFill>
              </a:rPr>
              <a:t>Grupi 10 · Inxhinieri Kompjuterike dhe Softuerike</a:t>
            </a:r>
          </a:p>
          <a:p>
            <a:pPr algn="l"/>
            <a:r>
              <a:rPr lang="sq-AL" sz="1200" dirty="0">
                <a:solidFill>
                  <a:srgbClr val="8B949E"/>
                </a:solidFill>
              </a:rPr>
              <a:t>FIEK · Universiteti i Prishtinës</a:t>
            </a:r>
          </a:p>
        </p:txBody>
      </p:sp>
    </p:spTree>
    <p:extLst>
      <p:ext uri="{BB962C8B-B14F-4D97-AF65-F5344CB8AC3E}">
        <p14:creationId xmlns:p14="http://schemas.microsoft.com/office/powerpoint/2010/main" val="2322849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5AF4-7C92-AB66-1197-F8D5DDDC3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2800" b="1" dirty="0"/>
              <a:t>Konteksti dhe Motivimi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9725E-FF4A-5E70-133F-5ACF8C15E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6350000" cy="435610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sq-AL" sz="1600" dirty="0"/>
              <a:t>Rrjetet sociale janë bërë infrastruktura dominante e komunikimit publik, marketingut digjital dhe formësimit të opinionit.</a:t>
            </a:r>
          </a:p>
          <a:p>
            <a:pPr marL="285750" indent="-285750">
              <a:spcBef>
                <a:spcPts val="400"/>
              </a:spcBef>
              <a:buFont typeface="Arial"/>
              <a:buChar char="▸"/>
            </a:pPr>
            <a:r>
              <a:rPr lang="sq-AL" sz="1500" dirty="0"/>
              <a:t>Vendimet redaksionale merren para publikimit — kur ende s'ka metrika reale.</a:t>
            </a:r>
          </a:p>
          <a:p>
            <a:pPr marL="285750" indent="-285750">
              <a:spcBef>
                <a:spcPts val="400"/>
              </a:spcBef>
              <a:buFont typeface="Arial"/>
              <a:buChar char="▸"/>
            </a:pPr>
            <a:r>
              <a:rPr lang="sq-AL" sz="1500" dirty="0"/>
              <a:t>Cikli i jetës së një postimi është i shkurtër — angazhimi i hershëm është kritik.</a:t>
            </a:r>
          </a:p>
          <a:p>
            <a:pPr marL="285750" indent="-285750">
              <a:spcBef>
                <a:spcPts val="400"/>
              </a:spcBef>
              <a:buFont typeface="Arial"/>
              <a:buChar char="▸"/>
            </a:pPr>
            <a:r>
              <a:rPr lang="sq-AL" sz="1500" dirty="0"/>
              <a:t>Nevojitet një mekanizëm para-publikues që parashikon reagimin nga drafti.</a:t>
            </a:r>
          </a:p>
        </p:txBody>
      </p:sp>
      <p:sp>
        <p:nvSpPr>
          <p:cNvPr id="701" name="card701"/>
          <p:cNvSpPr/>
          <p:nvPr/>
        </p:nvSpPr>
        <p:spPr>
          <a:xfrm>
            <a:off x="7620000" y="1905000"/>
            <a:ext cx="3683000" cy="12065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txBody>
          <a:bodyPr lIns="137160" tIns="91440" rIns="137160" bIns="91440" anchor="ctr"/>
          <a:lstStyle/>
          <a:p>
            <a:pPr algn="ctr"/>
            <a:r>
              <a:rPr lang="sq-AL" sz="2800" b="1" dirty="0">
                <a:solidFill>
                  <a:srgbClr val="22D3EE"/>
                </a:solidFill>
              </a:rPr>
              <a:t>4,9 mrd+</a:t>
            </a:r>
          </a:p>
          <a:p>
            <a:pPr algn="ctr"/>
            <a:r>
              <a:rPr lang="sq-AL" sz="1200" b="0" dirty="0">
                <a:solidFill>
                  <a:srgbClr val="8B949E"/>
                </a:solidFill>
              </a:rPr>
              <a:t>përdorues të rrjeteve sociale në botë</a:t>
            </a:r>
          </a:p>
        </p:txBody>
      </p:sp>
      <p:sp>
        <p:nvSpPr>
          <p:cNvPr id="702" name="card702"/>
          <p:cNvSpPr/>
          <p:nvPr/>
        </p:nvSpPr>
        <p:spPr>
          <a:xfrm>
            <a:off x="7620000" y="3327400"/>
            <a:ext cx="3683000" cy="12065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A78BFA"/>
            </a:solidFill>
          </a:ln>
        </p:spPr>
        <p:txBody>
          <a:bodyPr lIns="137160" tIns="91440" rIns="137160" bIns="91440" anchor="ctr"/>
          <a:lstStyle/>
          <a:p>
            <a:pPr algn="ctr"/>
            <a:r>
              <a:rPr lang="sq-AL" sz="2800" b="1" dirty="0">
                <a:solidFill>
                  <a:srgbClr val="A78BFA"/>
                </a:solidFill>
              </a:rPr>
              <a:t>99,847</a:t>
            </a:r>
          </a:p>
          <a:p>
            <a:pPr algn="ctr"/>
            <a:r>
              <a:rPr lang="sq-AL" sz="1200" b="0" dirty="0">
                <a:solidFill>
                  <a:srgbClr val="8B949E"/>
                </a:solidFill>
              </a:rPr>
              <a:t>postime në dataset-in e analizuar</a:t>
            </a:r>
          </a:p>
        </p:txBody>
      </p:sp>
      <p:sp>
        <p:nvSpPr>
          <p:cNvPr id="703" name="card703"/>
          <p:cNvSpPr/>
          <p:nvPr/>
        </p:nvSpPr>
        <p:spPr>
          <a:xfrm>
            <a:off x="7620000" y="4749800"/>
            <a:ext cx="3683000" cy="12065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</p:spPr>
        <p:txBody>
          <a:bodyPr lIns="137160" tIns="91440" rIns="137160" bIns="91440" anchor="ctr"/>
          <a:lstStyle/>
          <a:p>
            <a:pPr algn="ctr"/>
            <a:r>
              <a:rPr lang="sq-AL" sz="2800" b="1" dirty="0">
                <a:solidFill>
                  <a:srgbClr val="34D399"/>
                </a:solidFill>
              </a:rPr>
              <a:t>50+</a:t>
            </a:r>
          </a:p>
          <a:p>
            <a:pPr algn="ctr"/>
            <a:r>
              <a:rPr lang="sq-AL" sz="1200" b="0" dirty="0">
                <a:solidFill>
                  <a:srgbClr val="8B949E"/>
                </a:solidFill>
              </a:rPr>
              <a:t>veçori të inxhinieruara para-publikuese</a:t>
            </a:r>
          </a:p>
        </p:txBody>
      </p:sp>
    </p:spTree>
    <p:extLst>
      <p:ext uri="{BB962C8B-B14F-4D97-AF65-F5344CB8AC3E}">
        <p14:creationId xmlns:p14="http://schemas.microsoft.com/office/powerpoint/2010/main" val="1043800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DD24A-3A74-83AA-945A-328690631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2800" b="1" dirty="0"/>
              <a:t>Problemi dhe Hendeku Kërkimor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88CF5-D91F-3609-0373-B5711A602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8000"/>
            <a:ext cx="10515600" cy="1905000"/>
          </a:xfrm>
        </p:spPr>
        <p:txBody>
          <a:bodyPr/>
          <a:lstStyle/>
          <a:p>
            <a:pPr>
              <a:spcAft>
                <a:spcPts val="300"/>
              </a:spcAft>
            </a:pPr>
            <a:r>
              <a:rPr lang="sq-AL" sz="1100" b="1" spc="200" dirty="0">
                <a:solidFill>
                  <a:srgbClr val="F59E0B"/>
                </a:solidFill>
              </a:rPr>
              <a:t>PROBLEMI QENDROR</a:t>
            </a:r>
          </a:p>
          <a:p>
            <a:r>
              <a:rPr lang="sq-AL" sz="1600" dirty="0"/>
              <a:t>Mungon një mekanizëm i besueshëm </a:t>
            </a:r>
            <a:r>
              <a:rPr lang="sq-AL" sz="1600" b="1" dirty="0">
                <a:solidFill>
                  <a:srgbClr val="22D3EE"/>
                </a:solidFill>
              </a:rPr>
              <a:t>para-publikues</a:t>
            </a:r>
            <a:r>
              <a:rPr lang="sq-AL" sz="1600" dirty="0"/>
              <a:t> që, vetëm nga teksti dhe metadata e një drafti, të prodhojë parashikim sasior dhe të interpretueshëm të reagimit.</a:t>
            </a:r>
          </a:p>
        </p:txBody>
      </p:sp>
      <p:sp>
        <p:nvSpPr>
          <p:cNvPr id="711" name="card711"/>
          <p:cNvSpPr/>
          <p:nvPr/>
        </p:nvSpPr>
        <p:spPr>
          <a:xfrm>
            <a:off x="838200" y="3810000"/>
            <a:ext cx="3251200" cy="2222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F472B6"/>
            </a:solidFill>
          </a:ln>
        </p:spPr>
        <p:txBody>
          <a:bodyPr lIns="118872" tIns="91440" rIns="118872" bIns="91440" anchor="t"/>
          <a:lstStyle/>
          <a:p>
            <a:r>
              <a:rPr lang="sq-AL" sz="1400" b="1" dirty="0">
                <a:solidFill>
                  <a:srgbClr val="F472B6"/>
                </a:solidFill>
              </a:rPr>
              <a:t>Hendeku 1</a:t>
            </a:r>
          </a:p>
          <a:p>
            <a:pPr>
              <a:spcBef>
                <a:spcPts val="400"/>
              </a:spcBef>
            </a:pPr>
            <a:r>
              <a:rPr lang="sq-AL" sz="1300" dirty="0">
                <a:solidFill>
                  <a:srgbClr val="C9D1D9"/>
                </a:solidFill>
              </a:rPr>
              <a:t>Shumica e modeleve janë post-hoc — parashikojnë vetëm pasi postimi ka grumbulluar metrika fillestare.</a:t>
            </a:r>
          </a:p>
        </p:txBody>
      </p:sp>
      <p:sp>
        <p:nvSpPr>
          <p:cNvPr id="712" name="card712"/>
          <p:cNvSpPr/>
          <p:nvPr/>
        </p:nvSpPr>
        <p:spPr>
          <a:xfrm>
            <a:off x="4470400" y="3810000"/>
            <a:ext cx="3251200" cy="2222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A78BFA"/>
            </a:solidFill>
          </a:ln>
        </p:spPr>
        <p:txBody>
          <a:bodyPr lIns="118872" tIns="91440" rIns="118872" bIns="91440" anchor="t"/>
          <a:lstStyle/>
          <a:p>
            <a:r>
              <a:rPr lang="sq-AL" sz="1400" b="1" dirty="0">
                <a:solidFill>
                  <a:srgbClr val="A78BFA"/>
                </a:solidFill>
              </a:rPr>
              <a:t>Hendeku 2</a:t>
            </a:r>
          </a:p>
          <a:p>
            <a:pPr>
              <a:spcBef>
                <a:spcPts val="400"/>
              </a:spcBef>
            </a:pPr>
            <a:r>
              <a:rPr lang="sq-AL" sz="1300" dirty="0">
                <a:solidFill>
                  <a:srgbClr val="C9D1D9"/>
                </a:solidFill>
              </a:rPr>
              <a:t>Integrimi i njëkohshëm i veçorive tekstuale, kontekstuale dhe demografike në një kornizë të vetme është i rrallë.</a:t>
            </a:r>
          </a:p>
        </p:txBody>
      </p:sp>
      <p:sp>
        <p:nvSpPr>
          <p:cNvPr id="713" name="card713"/>
          <p:cNvSpPr/>
          <p:nvPr/>
        </p:nvSpPr>
        <p:spPr>
          <a:xfrm>
            <a:off x="8102600" y="3810000"/>
            <a:ext cx="3251200" cy="2222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txBody>
          <a:bodyPr lIns="118872" tIns="91440" rIns="118872" bIns="91440" anchor="t"/>
          <a:lstStyle/>
          <a:p>
            <a:r>
              <a:rPr lang="sq-AL" sz="1400" b="1" dirty="0">
                <a:solidFill>
                  <a:srgbClr val="22D3EE"/>
                </a:solidFill>
              </a:rPr>
              <a:t>Hendeku 3</a:t>
            </a:r>
          </a:p>
          <a:p>
            <a:pPr>
              <a:spcBef>
                <a:spcPts val="400"/>
              </a:spcBef>
            </a:pPr>
            <a:r>
              <a:rPr lang="sq-AL" sz="1300" dirty="0">
                <a:solidFill>
                  <a:srgbClr val="C9D1D9"/>
                </a:solidFill>
              </a:rPr>
              <a:t>Interpretueshmëria me SHAP/LIME aplikohet rrallë sistematikisht në parashikimin e angazhimit.</a:t>
            </a:r>
          </a:p>
        </p:txBody>
      </p:sp>
    </p:spTree>
    <p:extLst>
      <p:ext uri="{BB962C8B-B14F-4D97-AF65-F5344CB8AC3E}">
        <p14:creationId xmlns:p14="http://schemas.microsoft.com/office/powerpoint/2010/main" val="3501231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D1B94-4DE6-3F0A-3230-82CA3D726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2800" b="1" dirty="0"/>
              <a:t>Pyetjet Kërkimore</a:t>
            </a:r>
          </a:p>
        </p:txBody>
      </p:sp>
      <p:sp>
        <p:nvSpPr>
          <p:cNvPr id="721" name="pk721"/>
          <p:cNvSpPr/>
          <p:nvPr/>
        </p:nvSpPr>
        <p:spPr>
          <a:xfrm>
            <a:off x="838200" y="1905000"/>
            <a:ext cx="5130800" cy="2032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txBody>
          <a:bodyPr lIns="137160" tIns="100584" rIns="137160" bIns="100584" anchor="ctr"/>
          <a:lstStyle/>
          <a:p>
            <a:r>
              <a:rPr lang="sq-AL" sz="2000" b="1" dirty="0">
                <a:solidFill>
                  <a:srgbClr val="22D3EE"/>
                </a:solidFill>
              </a:rPr>
              <a:t>PK1</a:t>
            </a:r>
          </a:p>
          <a:p>
            <a:pPr>
              <a:spcBef>
                <a:spcPts val="500"/>
              </a:spcBef>
            </a:pPr>
            <a:r>
              <a:rPr lang="sq-AL" sz="1400" dirty="0">
                <a:solidFill>
                  <a:srgbClr val="C9D1D9"/>
                </a:solidFill>
              </a:rPr>
              <a:t>Si ndikojnë veçoritë përmbajtësore (gjatësia, sentimenti, hashtag, emoji) dhe ato strukturore (media, profili) në angazhim?</a:t>
            </a:r>
          </a:p>
        </p:txBody>
      </p:sp>
      <p:sp>
        <p:nvSpPr>
          <p:cNvPr id="722" name="pk722"/>
          <p:cNvSpPr/>
          <p:nvPr/>
        </p:nvSpPr>
        <p:spPr>
          <a:xfrm>
            <a:off x="6223000" y="1905000"/>
            <a:ext cx="5130800" cy="2032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A78BFA"/>
            </a:solidFill>
          </a:ln>
        </p:spPr>
        <p:txBody>
          <a:bodyPr lIns="137160" tIns="100584" rIns="137160" bIns="100584" anchor="ctr"/>
          <a:lstStyle/>
          <a:p>
            <a:r>
              <a:rPr lang="sq-AL" sz="2000" b="1" dirty="0">
                <a:solidFill>
                  <a:srgbClr val="A78BFA"/>
                </a:solidFill>
              </a:rPr>
              <a:t>PK2</a:t>
            </a:r>
          </a:p>
          <a:p>
            <a:pPr>
              <a:spcBef>
                <a:spcPts val="500"/>
              </a:spcBef>
            </a:pPr>
            <a:r>
              <a:rPr lang="sq-AL" sz="1400" dirty="0">
                <a:solidFill>
                  <a:srgbClr val="C9D1D9"/>
                </a:solidFill>
              </a:rPr>
              <a:t>A mund të parashikojnë CatBoost/SVM, vetëm me të dhëna para-publikuese, reagimin sasior me R² ≥ 0,80?</a:t>
            </a:r>
          </a:p>
        </p:txBody>
      </p:sp>
      <p:sp>
        <p:nvSpPr>
          <p:cNvPr id="723" name="pk723"/>
          <p:cNvSpPr/>
          <p:nvPr/>
        </p:nvSpPr>
        <p:spPr>
          <a:xfrm>
            <a:off x="838200" y="4127500"/>
            <a:ext cx="5130800" cy="2032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</p:spPr>
        <p:txBody>
          <a:bodyPr lIns="137160" tIns="100584" rIns="137160" bIns="100584" anchor="ctr"/>
          <a:lstStyle/>
          <a:p>
            <a:r>
              <a:rPr lang="sq-AL" sz="2000" b="1" dirty="0">
                <a:solidFill>
                  <a:srgbClr val="34D399"/>
                </a:solidFill>
              </a:rPr>
              <a:t>PK3</a:t>
            </a:r>
          </a:p>
          <a:p>
            <a:pPr>
              <a:spcBef>
                <a:spcPts val="500"/>
              </a:spcBef>
            </a:pPr>
            <a:r>
              <a:rPr lang="sq-AL" sz="1400" dirty="0">
                <a:solidFill>
                  <a:srgbClr val="C9D1D9"/>
                </a:solidFill>
              </a:rPr>
              <a:t>Cilat janë tre veçoritë me ndikimin më të madh marxhinal mbi performancën parashikuese?</a:t>
            </a:r>
          </a:p>
        </p:txBody>
      </p:sp>
      <p:sp>
        <p:nvSpPr>
          <p:cNvPr id="724" name="pk724"/>
          <p:cNvSpPr/>
          <p:nvPr/>
        </p:nvSpPr>
        <p:spPr>
          <a:xfrm>
            <a:off x="6223000" y="4127500"/>
            <a:ext cx="5130800" cy="2032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txBody>
          <a:bodyPr lIns="137160" tIns="100584" rIns="137160" bIns="100584" anchor="ctr"/>
          <a:lstStyle/>
          <a:p>
            <a:r>
              <a:rPr lang="sq-AL" sz="2000" b="1" dirty="0">
                <a:solidFill>
                  <a:srgbClr val="F59E0B"/>
                </a:solidFill>
              </a:rPr>
              <a:t>PK4</a:t>
            </a:r>
          </a:p>
          <a:p>
            <a:pPr>
              <a:spcBef>
                <a:spcPts val="500"/>
              </a:spcBef>
            </a:pPr>
            <a:r>
              <a:rPr lang="sq-AL" sz="1400" dirty="0">
                <a:solidFill>
                  <a:srgbClr val="C9D1D9"/>
                </a:solidFill>
              </a:rPr>
              <a:t>A është i parashikueshëm polariteti i reagimit (pozitiv/neutral/negativ) dhe viraliteti me ROC-AUC ≥ 0,85?</a:t>
            </a:r>
          </a:p>
        </p:txBody>
      </p:sp>
    </p:spTree>
    <p:extLst>
      <p:ext uri="{BB962C8B-B14F-4D97-AF65-F5344CB8AC3E}">
        <p14:creationId xmlns:p14="http://schemas.microsoft.com/office/powerpoint/2010/main" val="3352396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C8174-B05F-6611-0263-F6F06DC6B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2800" b="1" dirty="0"/>
              <a:t>Kontributi Shkencor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58A48-92E3-EB66-0BC4-05398EBF5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8000"/>
            <a:ext cx="10515600" cy="508000"/>
          </a:xfrm>
        </p:spPr>
        <p:txBody>
          <a:bodyPr/>
          <a:lstStyle/>
          <a:p>
            <a:r>
              <a:rPr lang="sq-AL" sz="1400" dirty="0">
                <a:solidFill>
                  <a:srgbClr val="8B949E"/>
                </a:solidFill>
              </a:rPr>
              <a:t>Katër drejtime kryesore të kontributit:</a:t>
            </a:r>
          </a:p>
        </p:txBody>
      </p:sp>
      <p:sp>
        <p:nvSpPr>
          <p:cNvPr id="730" name="badge730"/>
          <p:cNvSpPr/>
          <p:nvPr/>
        </p:nvSpPr>
        <p:spPr>
          <a:xfrm>
            <a:off x="838200" y="2603500"/>
            <a:ext cx="584200" cy="584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sq-AL" sz="1800" b="1" dirty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740" name="rt740"/>
          <p:cNvSpPr/>
          <p:nvPr/>
        </p:nvSpPr>
        <p:spPr>
          <a:xfrm>
            <a:off x="1778000" y="2527300"/>
            <a:ext cx="9398000" cy="736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sq-AL" sz="1700" b="1" dirty="0">
                <a:solidFill>
                  <a:srgbClr val="22D3EE"/>
                </a:solidFill>
              </a:rPr>
              <a:t>Kornizë e integruar</a:t>
            </a:r>
          </a:p>
          <a:p>
            <a:pPr>
              <a:spcBef>
                <a:spcPts val="200"/>
              </a:spcBef>
            </a:pPr>
            <a:r>
              <a:rPr lang="sq-AL" sz="1400" dirty="0">
                <a:solidFill>
                  <a:srgbClr val="C9D1D9"/>
                </a:solidFill>
              </a:rPr>
              <a:t>Propozim i një kornize parashikuese para-publikuese me 50+ veçori të inxhinieruara.</a:t>
            </a:r>
          </a:p>
        </p:txBody>
      </p:sp>
      <p:sp>
        <p:nvSpPr>
          <p:cNvPr id="731" name="badge731"/>
          <p:cNvSpPr/>
          <p:nvPr/>
        </p:nvSpPr>
        <p:spPr>
          <a:xfrm>
            <a:off x="838200" y="3517900"/>
            <a:ext cx="584200" cy="584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sq-AL" sz="1800" b="1" dirty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741" name="rt741"/>
          <p:cNvSpPr/>
          <p:nvPr/>
        </p:nvSpPr>
        <p:spPr>
          <a:xfrm>
            <a:off x="1778000" y="3441700"/>
            <a:ext cx="9398000" cy="736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sq-AL" sz="1700" b="1" dirty="0">
                <a:solidFill>
                  <a:srgbClr val="A78BFA"/>
                </a:solidFill>
              </a:rPr>
              <a:t>Krahasim empirik</a:t>
            </a:r>
          </a:p>
          <a:p>
            <a:pPr>
              <a:spcBef>
                <a:spcPts val="200"/>
              </a:spcBef>
            </a:pPr>
            <a:r>
              <a:rPr lang="sq-AL" sz="1400" dirty="0">
                <a:solidFill>
                  <a:srgbClr val="C9D1D9"/>
                </a:solidFill>
              </a:rPr>
              <a:t>Krahasimi statistikor i CatBoost vs SVM dhe katër modeleve të tjera mbi 9 objektiva.</a:t>
            </a:r>
          </a:p>
        </p:txBody>
      </p:sp>
      <p:sp>
        <p:nvSpPr>
          <p:cNvPr id="732" name="badge732"/>
          <p:cNvSpPr/>
          <p:nvPr/>
        </p:nvSpPr>
        <p:spPr>
          <a:xfrm>
            <a:off x="838200" y="4432300"/>
            <a:ext cx="584200" cy="584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sq-AL" sz="1800" b="1" dirty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742" name="rt742"/>
          <p:cNvSpPr/>
          <p:nvPr/>
        </p:nvSpPr>
        <p:spPr>
          <a:xfrm>
            <a:off x="1778000" y="4356100"/>
            <a:ext cx="9398000" cy="736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sq-AL" sz="1700" b="1" dirty="0">
                <a:solidFill>
                  <a:srgbClr val="34D399"/>
                </a:solidFill>
              </a:rPr>
              <a:t>Interpretueshmëri</a:t>
            </a:r>
          </a:p>
          <a:p>
            <a:pPr>
              <a:spcBef>
                <a:spcPts val="200"/>
              </a:spcBef>
            </a:pPr>
            <a:r>
              <a:rPr lang="sq-AL" sz="1400" dirty="0">
                <a:solidFill>
                  <a:srgbClr val="C9D1D9"/>
                </a:solidFill>
              </a:rPr>
              <a:t>Integrimi i SHAP për të identifikuar veçoritë me ndikimin më të madh në angazhim.</a:t>
            </a:r>
          </a:p>
        </p:txBody>
      </p:sp>
      <p:sp>
        <p:nvSpPr>
          <p:cNvPr id="733" name="badge733"/>
          <p:cNvSpPr/>
          <p:nvPr/>
        </p:nvSpPr>
        <p:spPr>
          <a:xfrm>
            <a:off x="838200" y="5346700"/>
            <a:ext cx="584200" cy="584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sq-AL" sz="1800" b="1" dirty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743" name="rt743"/>
          <p:cNvSpPr/>
          <p:nvPr/>
        </p:nvSpPr>
        <p:spPr>
          <a:xfrm>
            <a:off x="1778000" y="5270500"/>
            <a:ext cx="9398000" cy="736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sq-AL" sz="1700" b="1" dirty="0">
                <a:solidFill>
                  <a:srgbClr val="F59E0B"/>
                </a:solidFill>
              </a:rPr>
              <a:t>Riprodhueshmëri</a:t>
            </a:r>
          </a:p>
          <a:p>
            <a:pPr>
              <a:spcBef>
                <a:spcPts val="200"/>
              </a:spcBef>
            </a:pPr>
            <a:r>
              <a:rPr lang="sq-AL" sz="1400" dirty="0">
                <a:solidFill>
                  <a:srgbClr val="C9D1D9"/>
                </a:solidFill>
              </a:rPr>
              <a:t>Pipeline i plotë i hapur me repository publik dhe protokoll të riprodhueshëm.</a:t>
            </a:r>
          </a:p>
        </p:txBody>
      </p:sp>
    </p:spTree>
    <p:extLst>
      <p:ext uri="{BB962C8B-B14F-4D97-AF65-F5344CB8AC3E}">
        <p14:creationId xmlns:p14="http://schemas.microsoft.com/office/powerpoint/2010/main" val="2048216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A3BE6-E954-1472-2D35-32A0BA7C4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2800" b="1" dirty="0"/>
              <a:t>Puna e Ndërlidhur</a:t>
            </a:r>
          </a:p>
        </p:txBody>
      </p:sp>
      <p:sp>
        <p:nvSpPr>
          <p:cNvPr id="751" name="col751"/>
          <p:cNvSpPr/>
          <p:nvPr/>
        </p:nvSpPr>
        <p:spPr>
          <a:xfrm>
            <a:off x="838200" y="1905000"/>
            <a:ext cx="3479800" cy="4191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txBody>
          <a:bodyPr lIns="118872" tIns="100584" rIns="118872" bIns="100584" anchor="t"/>
          <a:lstStyle/>
          <a:p>
            <a:r>
              <a:rPr lang="sq-AL" sz="1500" b="1" dirty="0">
                <a:solidFill>
                  <a:srgbClr val="22D3EE"/>
                </a:solidFill>
              </a:rPr>
              <a:t>Analiza e sentimentit</a:t>
            </a:r>
          </a:p>
          <a:p>
            <a:pPr marL="200025" indent="-200025">
              <a:spcBef>
                <a:spcPts val="400"/>
              </a:spcBef>
              <a:buFont typeface="Arial"/>
              <a:buChar char="•"/>
            </a:pPr>
            <a:r>
              <a:rPr lang="sq-AL" sz="1300" dirty="0">
                <a:solidFill>
                  <a:srgbClr val="C9D1D9"/>
                </a:solidFill>
              </a:rPr>
              <a:t>Nxjerrja e polaritetit emocional nga tekste të shkurtra.</a:t>
            </a:r>
          </a:p>
          <a:p>
            <a:pPr marL="200025" indent="-200025">
              <a:spcBef>
                <a:spcPts val="400"/>
              </a:spcBef>
              <a:buFont typeface="Arial"/>
              <a:buChar char="•"/>
            </a:pPr>
            <a:r>
              <a:rPr lang="sq-AL" sz="1300" dirty="0">
                <a:solidFill>
                  <a:srgbClr val="C9D1D9"/>
                </a:solidFill>
              </a:rPr>
              <a:t>Nga leksikone (VADER) te modele të mëdha (BERT/RoBERTa).</a:t>
            </a:r>
          </a:p>
          <a:p>
            <a:pPr marL="200025" indent="-200025">
              <a:spcBef>
                <a:spcPts val="400"/>
              </a:spcBef>
              <a:buFont typeface="Arial"/>
              <a:buChar char="•"/>
            </a:pPr>
            <a:r>
              <a:rPr lang="sq-AL" sz="1300" dirty="0">
                <a:solidFill>
                  <a:srgbClr val="C9D1D9"/>
                </a:solidFill>
              </a:rPr>
              <a:t>Bazat teorike të analizës së opinionit.</a:t>
            </a:r>
          </a:p>
          <a:p>
            <a:pPr>
              <a:spcBef>
                <a:spcPts val="500"/>
              </a:spcBef>
            </a:pPr>
            <a:r>
              <a:rPr lang="sq-AL" sz="1100" i="1" dirty="0">
                <a:solidFill>
                  <a:srgbClr val="8B949E"/>
                </a:solidFill>
              </a:rPr>
              <a:t>Liu [3] · Cambria [8] · Devlin [6]</a:t>
            </a:r>
          </a:p>
        </p:txBody>
      </p:sp>
      <p:sp>
        <p:nvSpPr>
          <p:cNvPr id="752" name="col752"/>
          <p:cNvSpPr/>
          <p:nvPr/>
        </p:nvSpPr>
        <p:spPr>
          <a:xfrm>
            <a:off x="4356100" y="1905000"/>
            <a:ext cx="3479800" cy="4191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A78BFA"/>
            </a:solidFill>
          </a:ln>
        </p:spPr>
        <p:txBody>
          <a:bodyPr lIns="118872" tIns="100584" rIns="118872" bIns="100584" anchor="t"/>
          <a:lstStyle/>
          <a:p>
            <a:r>
              <a:rPr lang="sq-AL" sz="1500" b="1" dirty="0">
                <a:solidFill>
                  <a:srgbClr val="A78BFA"/>
                </a:solidFill>
              </a:rPr>
              <a:t>Parashikimi i angazhimit</a:t>
            </a:r>
          </a:p>
          <a:p>
            <a:pPr marL="200025" indent="-200025">
              <a:spcBef>
                <a:spcPts val="400"/>
              </a:spcBef>
              <a:buFont typeface="Arial"/>
              <a:buChar char="•"/>
            </a:pPr>
            <a:r>
              <a:rPr lang="sq-AL" sz="1300" dirty="0">
                <a:solidFill>
                  <a:srgbClr val="C9D1D9"/>
                </a:solidFill>
              </a:rPr>
              <a:t>Lidhja midis përmbajtjes, kohës dhe tipit të medias.</a:t>
            </a:r>
          </a:p>
          <a:p>
            <a:pPr marL="200025" indent="-200025">
              <a:spcBef>
                <a:spcPts val="400"/>
              </a:spcBef>
              <a:buFont typeface="Arial"/>
              <a:buChar char="•"/>
            </a:pPr>
            <a:r>
              <a:rPr lang="sq-AL" sz="1300" dirty="0">
                <a:solidFill>
                  <a:srgbClr val="C9D1D9"/>
                </a:solidFill>
              </a:rPr>
              <a:t>Veçori multimodale për parashikim viraliteti.</a:t>
            </a:r>
          </a:p>
          <a:p>
            <a:pPr marL="200025" indent="-200025">
              <a:spcBef>
                <a:spcPts val="400"/>
              </a:spcBef>
              <a:buFont typeface="Arial"/>
              <a:buChar char="•"/>
            </a:pPr>
            <a:r>
              <a:rPr lang="sq-AL" sz="1300" dirty="0">
                <a:solidFill>
                  <a:srgbClr val="C9D1D9"/>
                </a:solidFill>
              </a:rPr>
              <a:t>Dinamikat kohore të viralitetit.</a:t>
            </a:r>
          </a:p>
          <a:p>
            <a:pPr>
              <a:spcBef>
                <a:spcPts val="500"/>
              </a:spcBef>
            </a:pPr>
            <a:r>
              <a:rPr lang="sq-AL" sz="1100" i="1" dirty="0">
                <a:solidFill>
                  <a:srgbClr val="8B949E"/>
                </a:solidFill>
              </a:rPr>
              <a:t>Zhang [9] · He [10] · Kong [12]</a:t>
            </a:r>
          </a:p>
        </p:txBody>
      </p:sp>
      <p:sp>
        <p:nvSpPr>
          <p:cNvPr id="753" name="col753"/>
          <p:cNvSpPr/>
          <p:nvPr/>
        </p:nvSpPr>
        <p:spPr>
          <a:xfrm>
            <a:off x="7874000" y="1905000"/>
            <a:ext cx="3479800" cy="4191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</p:spPr>
        <p:txBody>
          <a:bodyPr lIns="118872" tIns="100584" rIns="118872" bIns="100584" anchor="t"/>
          <a:lstStyle/>
          <a:p>
            <a:r>
              <a:rPr lang="sq-AL" sz="1500" b="1" dirty="0">
                <a:solidFill>
                  <a:srgbClr val="34D399"/>
                </a:solidFill>
              </a:rPr>
              <a:t>Interpretueshmëria</a:t>
            </a:r>
          </a:p>
          <a:p>
            <a:pPr marL="200025" indent="-200025">
              <a:spcBef>
                <a:spcPts val="400"/>
              </a:spcBef>
              <a:buFont typeface="Arial"/>
              <a:buChar char="•"/>
            </a:pPr>
            <a:r>
              <a:rPr lang="sq-AL" sz="1300" dirty="0">
                <a:solidFill>
                  <a:srgbClr val="C9D1D9"/>
                </a:solidFill>
              </a:rPr>
              <a:t>SHAP &amp; LIME për të shpjeguar parashikimet.</a:t>
            </a:r>
          </a:p>
          <a:p>
            <a:pPr marL="200025" indent="-200025">
              <a:spcBef>
                <a:spcPts val="400"/>
              </a:spcBef>
              <a:buFont typeface="Arial"/>
              <a:buChar char="•"/>
            </a:pPr>
            <a:r>
              <a:rPr lang="sq-AL" sz="1300" dirty="0">
                <a:solidFill>
                  <a:srgbClr val="C9D1D9"/>
                </a:solidFill>
              </a:rPr>
              <a:t>Kritike për marketing dhe vendimmarrje redaksionale.</a:t>
            </a:r>
          </a:p>
          <a:p>
            <a:pPr marL="200025" indent="-200025">
              <a:spcBef>
                <a:spcPts val="400"/>
              </a:spcBef>
              <a:buFont typeface="Arial"/>
              <a:buChar char="•"/>
            </a:pPr>
            <a:r>
              <a:rPr lang="sq-AL" sz="1300" dirty="0">
                <a:solidFill>
                  <a:srgbClr val="C9D1D9"/>
                </a:solidFill>
              </a:rPr>
              <a:t>Përdoret rrallë në parashikim angazhimi.</a:t>
            </a:r>
          </a:p>
          <a:p>
            <a:pPr>
              <a:spcBef>
                <a:spcPts val="500"/>
              </a:spcBef>
            </a:pPr>
            <a:r>
              <a:rPr lang="sq-AL" sz="1100" i="1" dirty="0">
                <a:solidFill>
                  <a:srgbClr val="8B949E"/>
                </a:solidFill>
              </a:rPr>
              <a:t>Lundberg [13] · Ribeiro [23]</a:t>
            </a:r>
          </a:p>
        </p:txBody>
      </p:sp>
    </p:spTree>
    <p:extLst>
      <p:ext uri="{BB962C8B-B14F-4D97-AF65-F5344CB8AC3E}">
        <p14:creationId xmlns:p14="http://schemas.microsoft.com/office/powerpoint/2010/main" val="317580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FCE95-1149-17DE-B4B2-901FE1900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900" b="1" spc="400" dirty="0">
                <a:solidFill>
                  <a:srgbClr val="22D3EE"/>
                </a:solidFill>
              </a:rPr>
              <a:t>PJESA KRYESORE</a:t>
            </a:r>
          </a:p>
          <a:p>
            <a:r>
              <a:rPr lang="sq-AL" sz="4000" b="1" dirty="0"/>
              <a:t>Metodologjia dhe Pipeline-i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AB196-9CC6-B1F1-9E84-575A1F2FE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q-AL" sz="1600" dirty="0">
                <a:solidFill>
                  <a:srgbClr val="8B949E"/>
                </a:solidFill>
              </a:rPr>
              <a:t>Formulimi i problemit · Dataset-i · Inxhinieria e veçorive · Pipeline-i CatBoost+SVM · Arkitektura · Hipotezat</a:t>
            </a:r>
          </a:p>
        </p:txBody>
      </p:sp>
      <p:sp>
        <p:nvSpPr>
          <p:cNvPr id="760" name="bignum"/>
          <p:cNvSpPr/>
          <p:nvPr/>
        </p:nvSpPr>
        <p:spPr>
          <a:xfrm>
            <a:off x="838200" y="1524000"/>
            <a:ext cx="3810000" cy="228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sq-AL" sz="12000" b="1" dirty="0">
                <a:solidFill>
                  <a:srgbClr val="22D3EE">
                    <a:alpha val="22000"/>
                  </a:srgbClr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4358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593A7-2C36-D99D-786C-D5ED6E8CB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2800" b="1" dirty="0"/>
              <a:t>Formulimi i Problemit dhe Dataset-i</a:t>
            </a:r>
          </a:p>
        </p:txBody>
      </p:sp>
      <p:sp>
        <p:nvSpPr>
          <p:cNvPr id="771" name="pan771"/>
          <p:cNvSpPr/>
          <p:nvPr/>
        </p:nvSpPr>
        <p:spPr>
          <a:xfrm>
            <a:off x="838200" y="1905000"/>
            <a:ext cx="5207000" cy="3810000"/>
          </a:xfrm>
          <a:prstGeom prst="roundRect">
            <a:avLst>
              <a:gd name="adj" fmla="val 3500"/>
            </a:avLst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txBody>
          <a:bodyPr lIns="118872" tIns="100584" rIns="118872" bIns="100584" anchor="t"/>
          <a:lstStyle/>
          <a:p>
            <a:r>
              <a:rPr lang="sq-AL" sz="1500" b="1" dirty="0">
                <a:solidFill>
                  <a:srgbClr val="22D3EE"/>
                </a:solidFill>
              </a:rPr>
              <a:t>Formulimi</a:t>
            </a:r>
          </a:p>
          <a:p>
            <a:pPr>
              <a:spcBef>
                <a:spcPts val="300"/>
              </a:spcBef>
            </a:pPr>
            <a:r>
              <a:rPr lang="sq-AL" sz="1300" dirty="0">
                <a:solidFill>
                  <a:srgbClr val="C9D1D9"/>
                </a:solidFill>
              </a:rPr>
              <a:t>Le të jetë x_i përfaqësimi para-publikues i postimit. Mësohet funksioni:</a:t>
            </a:r>
          </a:p>
          <a:p>
            <a:pPr algn="ctr">
              <a:spcBef>
                <a:spcPts val="600"/>
              </a:spcBef>
            </a:pPr>
            <a:r>
              <a:rPr lang="sq-AL" sz="1700" b="1" dirty="0">
                <a:solidFill>
                  <a:srgbClr val="22D3EE"/>
                </a:solidFill>
                <a:latin typeface="Consolas"/>
              </a:rPr>
              <a:t>ŷ = f(x)   →   regresion</a:t>
            </a:r>
          </a:p>
          <a:p>
            <a:pPr algn="ctr"/>
            <a:r>
              <a:rPr lang="sq-AL" sz="1100" dirty="0">
                <a:solidFill>
                  <a:srgbClr val="8B949E"/>
                </a:solidFill>
              </a:rPr>
              <a:t>likes · comments · shares · impressions · reach</a:t>
            </a:r>
          </a:p>
          <a:p>
            <a:pPr algn="ctr">
              <a:spcBef>
                <a:spcPts val="600"/>
              </a:spcBef>
            </a:pPr>
            <a:r>
              <a:rPr lang="sq-AL" sz="1700" b="1" dirty="0">
                <a:solidFill>
                  <a:srgbClr val="A78BFA"/>
                </a:solidFill>
                <a:latin typeface="Consolas"/>
              </a:rPr>
              <a:t>ĉ = g(x)   →   klasifikim</a:t>
            </a:r>
          </a:p>
          <a:p>
            <a:pPr algn="ctr"/>
            <a:r>
              <a:rPr lang="sq-AL" sz="1100" dirty="0">
                <a:solidFill>
                  <a:srgbClr val="8B949E"/>
                </a:solidFill>
              </a:rPr>
              <a:t>viral · high_engagement · sentiment_class</a:t>
            </a:r>
          </a:p>
          <a:p>
            <a:pPr>
              <a:spcBef>
                <a:spcPts val="600"/>
              </a:spcBef>
            </a:pPr>
            <a:r>
              <a:rPr lang="sq-AL" sz="1200" i="1" dirty="0">
                <a:solidFill>
                  <a:srgbClr val="34D399"/>
                </a:solidFill>
              </a:rPr>
              <a:t>Pa sinjale të mbledhura pas publikimit → asnjë rrjedhje të dhënash.</a:t>
            </a:r>
          </a:p>
        </p:txBody>
      </p:sp>
      <p:sp>
        <p:nvSpPr>
          <p:cNvPr id="772" name="pan772"/>
          <p:cNvSpPr/>
          <p:nvPr/>
        </p:nvSpPr>
        <p:spPr>
          <a:xfrm>
            <a:off x="6350000" y="1905000"/>
            <a:ext cx="5003800" cy="3810000"/>
          </a:xfrm>
          <a:prstGeom prst="roundRect">
            <a:avLst>
              <a:gd name="adj" fmla="val 3500"/>
            </a:avLst>
          </a:prstGeom>
          <a:solidFill>
            <a:srgbClr val="161B22"/>
          </a:solidFill>
          <a:ln w="12700">
            <a:solidFill>
              <a:srgbClr val="A78BFA"/>
            </a:solidFill>
          </a:ln>
        </p:spPr>
        <p:txBody>
          <a:bodyPr lIns="118872" tIns="100584" rIns="118872" bIns="100584" anchor="t"/>
          <a:lstStyle/>
          <a:p>
            <a:r>
              <a:rPr lang="sq-AL" sz="1500" b="1" dirty="0">
                <a:solidFill>
                  <a:srgbClr val="A78BFA"/>
                </a:solidFill>
              </a:rPr>
              <a:t>Dataset-i</a:t>
            </a:r>
          </a:p>
          <a:p>
            <a:pPr>
              <a:spcBef>
                <a:spcPts val="600"/>
              </a:spcBef>
            </a:pPr>
            <a:r>
              <a:rPr lang="sq-AL" sz="1600" b="1" dirty="0">
                <a:solidFill>
                  <a:srgbClr val="22D3EE"/>
                </a:solidFill>
              </a:rPr>
              <a:t>99,847  </a:t>
            </a:r>
            <a:r>
              <a:rPr lang="sq-AL" sz="1300" dirty="0">
                <a:solidFill>
                  <a:srgbClr val="C9D1D9"/>
                </a:solidFill>
              </a:rPr>
              <a:t>postime publike (Twitter &amp; Instagram API)</a:t>
            </a:r>
          </a:p>
          <a:p>
            <a:pPr>
              <a:spcBef>
                <a:spcPts val="600"/>
              </a:spcBef>
            </a:pPr>
            <a:r>
              <a:rPr lang="sq-AL" sz="1600" b="1" dirty="0">
                <a:solidFill>
                  <a:srgbClr val="A78BFA"/>
                </a:solidFill>
              </a:rPr>
              <a:t>Jan 2023 – Mar 2026  </a:t>
            </a:r>
            <a:r>
              <a:rPr lang="sq-AL" sz="1300" dirty="0">
                <a:solidFill>
                  <a:srgbClr val="C9D1D9"/>
                </a:solidFill>
              </a:rPr>
              <a:t>periudhë mbledhjeje</a:t>
            </a:r>
          </a:p>
          <a:p>
            <a:pPr>
              <a:spcBef>
                <a:spcPts val="600"/>
              </a:spcBef>
            </a:pPr>
            <a:r>
              <a:rPr lang="sq-AL" sz="1600" b="1" dirty="0">
                <a:solidFill>
                  <a:srgbClr val="34D399"/>
                </a:solidFill>
              </a:rPr>
              <a:t>70/15/15  </a:t>
            </a:r>
            <a:r>
              <a:rPr lang="sq-AL" sz="1300" dirty="0">
                <a:solidFill>
                  <a:srgbClr val="C9D1D9"/>
                </a:solidFill>
              </a:rPr>
              <a:t>ndarje train / valid / test</a:t>
            </a:r>
          </a:p>
          <a:p>
            <a:pPr>
              <a:spcBef>
                <a:spcPts val="600"/>
              </a:spcBef>
            </a:pPr>
            <a:r>
              <a:rPr lang="sq-AL" sz="1600" b="1" dirty="0">
                <a:solidFill>
                  <a:srgbClr val="F59E0B"/>
                </a:solidFill>
              </a:rPr>
              <a:t>50+  </a:t>
            </a:r>
            <a:r>
              <a:rPr lang="sq-AL" sz="1300" dirty="0">
                <a:solidFill>
                  <a:srgbClr val="C9D1D9"/>
                </a:solidFill>
              </a:rPr>
              <a:t>veçori të inxhinieruara</a:t>
            </a:r>
          </a:p>
          <a:p>
            <a:pPr>
              <a:spcBef>
                <a:spcPts val="600"/>
              </a:spcBef>
            </a:pPr>
            <a:r>
              <a:rPr lang="sq-AL" sz="1600" b="1" dirty="0">
                <a:solidFill>
                  <a:srgbClr val="F472B6"/>
                </a:solidFill>
              </a:rPr>
              <a:t>5-fold  </a:t>
            </a:r>
            <a:r>
              <a:rPr lang="sq-AL" sz="1300" dirty="0">
                <a:solidFill>
                  <a:srgbClr val="C9D1D9"/>
                </a:solidFill>
              </a:rPr>
              <a:t>validim kryq stratified</a:t>
            </a:r>
          </a:p>
          <a:p>
            <a:pPr>
              <a:spcBef>
                <a:spcPts val="600"/>
              </a:spcBef>
            </a:pPr>
            <a:r>
              <a:rPr lang="sq-AL" sz="1100" i="1" dirty="0">
                <a:solidFill>
                  <a:srgbClr val="8B949E"/>
                </a:solidFill>
              </a:rPr>
              <a:t>Parapërpunim: pastrim NaN, heqje duplikatësh, largim metrikash post-publikuese.</a:t>
            </a:r>
          </a:p>
        </p:txBody>
      </p:sp>
    </p:spTree>
    <p:extLst>
      <p:ext uri="{BB962C8B-B14F-4D97-AF65-F5344CB8AC3E}">
        <p14:creationId xmlns:p14="http://schemas.microsoft.com/office/powerpoint/2010/main" val="1944327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EC3A4-3AEB-CB11-F9CE-674B71D7C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2800" b="1" dirty="0"/>
              <a:t>Inxhinieria e Veçorive</a:t>
            </a:r>
          </a:p>
        </p:txBody>
      </p:sp>
      <p:sp>
        <p:nvSpPr>
          <p:cNvPr id="799" name="sub"/>
          <p:cNvSpPr/>
          <p:nvPr/>
        </p:nvSpPr>
        <p:spPr>
          <a:xfrm>
            <a:off x="838200" y="1498600"/>
            <a:ext cx="10160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sq-AL" sz="1400" dirty="0">
                <a:solidFill>
                  <a:srgbClr val="8B949E"/>
                </a:solidFill>
              </a:rPr>
              <a:t>50+ veçori para-publikuese të organizuara në gjashtë familje:</a:t>
            </a:r>
          </a:p>
        </p:txBody>
      </p:sp>
      <p:sp>
        <p:nvSpPr>
          <p:cNvPr id="781" name="fc781"/>
          <p:cNvSpPr/>
          <p:nvPr/>
        </p:nvSpPr>
        <p:spPr>
          <a:xfrm>
            <a:off x="838200" y="2032000"/>
            <a:ext cx="3479800" cy="1524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txBody>
          <a:bodyPr lIns="109728" tIns="82296" rIns="109728" bIns="82296" anchor="ctr"/>
          <a:lstStyle/>
          <a:p>
            <a:r>
              <a:rPr lang="sq-AL" sz="1100" b="1" spc="200" dirty="0">
                <a:solidFill>
                  <a:srgbClr val="22D3EE"/>
                </a:solidFill>
              </a:rPr>
              <a:t>1  TEKSTUALE</a:t>
            </a:r>
          </a:p>
          <a:p>
            <a:pPr>
              <a:spcBef>
                <a:spcPts val="300"/>
              </a:spcBef>
            </a:pPr>
            <a:r>
              <a:rPr lang="sq-AL" sz="1250" dirty="0">
                <a:solidFill>
                  <a:srgbClr val="C9D1D9"/>
                </a:solidFill>
              </a:rPr>
              <a:t>Gjatësi, fjalë, fjali, raport shkronjash të mëdha</a:t>
            </a:r>
          </a:p>
        </p:txBody>
      </p:sp>
      <p:sp>
        <p:nvSpPr>
          <p:cNvPr id="782" name="fc782"/>
          <p:cNvSpPr/>
          <p:nvPr/>
        </p:nvSpPr>
        <p:spPr>
          <a:xfrm>
            <a:off x="4368800" y="2032000"/>
            <a:ext cx="3479800" cy="1524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A78BFA"/>
            </a:solidFill>
          </a:ln>
        </p:spPr>
        <p:txBody>
          <a:bodyPr lIns="109728" tIns="82296" rIns="109728" bIns="82296" anchor="ctr"/>
          <a:lstStyle/>
          <a:p>
            <a:r>
              <a:rPr lang="sq-AL" sz="1100" b="1" spc="200" dirty="0">
                <a:solidFill>
                  <a:srgbClr val="A78BFA"/>
                </a:solidFill>
              </a:rPr>
              <a:t>2  SENTIMENTI</a:t>
            </a:r>
          </a:p>
          <a:p>
            <a:pPr>
              <a:spcBef>
                <a:spcPts val="300"/>
              </a:spcBef>
            </a:pPr>
            <a:r>
              <a:rPr lang="sq-AL" sz="1250" dirty="0">
                <a:solidFill>
                  <a:srgbClr val="C9D1D9"/>
                </a:solidFill>
              </a:rPr>
              <a:t>Polaritet me VADER dhe TextBlob</a:t>
            </a:r>
          </a:p>
        </p:txBody>
      </p:sp>
      <p:sp>
        <p:nvSpPr>
          <p:cNvPr id="783" name="fc783"/>
          <p:cNvSpPr/>
          <p:nvPr/>
        </p:nvSpPr>
        <p:spPr>
          <a:xfrm>
            <a:off x="7899400" y="2032000"/>
            <a:ext cx="3479800" cy="1524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</p:spPr>
        <p:txBody>
          <a:bodyPr lIns="109728" tIns="82296" rIns="109728" bIns="82296" anchor="ctr"/>
          <a:lstStyle/>
          <a:p>
            <a:r>
              <a:rPr lang="sq-AL" sz="1100" b="1" spc="200" dirty="0">
                <a:solidFill>
                  <a:srgbClr val="34D399"/>
                </a:solidFill>
              </a:rPr>
              <a:t>3  TF-IDF</a:t>
            </a:r>
          </a:p>
          <a:p>
            <a:pPr>
              <a:spcBef>
                <a:spcPts val="300"/>
              </a:spcBef>
            </a:pPr>
            <a:r>
              <a:rPr lang="sq-AL" sz="1250" dirty="0">
                <a:solidFill>
                  <a:srgbClr val="C9D1D9"/>
                </a:solidFill>
              </a:rPr>
              <a:t>500 fjalë kyçe top si vektor numerik</a:t>
            </a:r>
          </a:p>
        </p:txBody>
      </p:sp>
      <p:sp>
        <p:nvSpPr>
          <p:cNvPr id="784" name="fc784"/>
          <p:cNvSpPr/>
          <p:nvPr/>
        </p:nvSpPr>
        <p:spPr>
          <a:xfrm>
            <a:off x="838200" y="3683000"/>
            <a:ext cx="3479800" cy="1524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txBody>
          <a:bodyPr lIns="109728" tIns="82296" rIns="109728" bIns="82296" anchor="ctr"/>
          <a:lstStyle/>
          <a:p>
            <a:r>
              <a:rPr lang="sq-AL" sz="1100" b="1" spc="200" dirty="0">
                <a:solidFill>
                  <a:srgbClr val="F59E0B"/>
                </a:solidFill>
              </a:rPr>
              <a:t>4  KOHORE</a:t>
            </a:r>
          </a:p>
          <a:p>
            <a:pPr>
              <a:spcBef>
                <a:spcPts val="300"/>
              </a:spcBef>
            </a:pPr>
            <a:r>
              <a:rPr lang="sq-AL" sz="1250" dirty="0">
                <a:solidFill>
                  <a:srgbClr val="C9D1D9"/>
                </a:solidFill>
              </a:rPr>
              <a:t>Orë, ditë, javë, fundjavë</a:t>
            </a:r>
          </a:p>
        </p:txBody>
      </p:sp>
      <p:sp>
        <p:nvSpPr>
          <p:cNvPr id="785" name="fc785"/>
          <p:cNvSpPr/>
          <p:nvPr/>
        </p:nvSpPr>
        <p:spPr>
          <a:xfrm>
            <a:off x="4368800" y="3683000"/>
            <a:ext cx="3479800" cy="1524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F472B6"/>
            </a:solidFill>
          </a:ln>
        </p:spPr>
        <p:txBody>
          <a:bodyPr lIns="109728" tIns="82296" rIns="109728" bIns="82296" anchor="ctr"/>
          <a:lstStyle/>
          <a:p>
            <a:r>
              <a:rPr lang="sq-AL" sz="1100" b="1" spc="200" dirty="0">
                <a:solidFill>
                  <a:srgbClr val="F472B6"/>
                </a:solidFill>
              </a:rPr>
              <a:t>5  KATEGORIKE</a:t>
            </a:r>
          </a:p>
          <a:p>
            <a:pPr>
              <a:spcBef>
                <a:spcPts val="300"/>
              </a:spcBef>
            </a:pPr>
            <a:r>
              <a:rPr lang="sq-AL" sz="1250" dirty="0">
                <a:solidFill>
                  <a:srgbClr val="C9D1D9"/>
                </a:solidFill>
              </a:rPr>
              <a:t>Platformë, lloj postimi, gjini, vendndodhje</a:t>
            </a:r>
          </a:p>
        </p:txBody>
      </p:sp>
      <p:sp>
        <p:nvSpPr>
          <p:cNvPr id="786" name="fc786"/>
          <p:cNvSpPr/>
          <p:nvPr/>
        </p:nvSpPr>
        <p:spPr>
          <a:xfrm>
            <a:off x="7899400" y="3683000"/>
            <a:ext cx="3479800" cy="1524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60A5FA"/>
            </a:solidFill>
          </a:ln>
        </p:spPr>
        <p:txBody>
          <a:bodyPr lIns="109728" tIns="82296" rIns="109728" bIns="82296" anchor="ctr"/>
          <a:lstStyle/>
          <a:p>
            <a:r>
              <a:rPr lang="sq-AL" sz="1100" b="1" spc="200" dirty="0">
                <a:solidFill>
                  <a:srgbClr val="60A5FA"/>
                </a:solidFill>
              </a:rPr>
              <a:t>6  STRUKTURORE</a:t>
            </a:r>
          </a:p>
          <a:p>
            <a:pPr>
              <a:spcBef>
                <a:spcPts val="300"/>
              </a:spcBef>
            </a:pPr>
            <a:r>
              <a:rPr lang="sq-AL" sz="1250" dirty="0">
                <a:solidFill>
                  <a:srgbClr val="C9D1D9"/>
                </a:solidFill>
              </a:rPr>
              <a:t>Numër hashtag, emoji, pikëpyetjesh, mediash</a:t>
            </a:r>
          </a:p>
        </p:txBody>
      </p:sp>
    </p:spTree>
    <p:extLst>
      <p:ext uri="{BB962C8B-B14F-4D97-AF65-F5344CB8AC3E}">
        <p14:creationId xmlns:p14="http://schemas.microsoft.com/office/powerpoint/2010/main" val="836679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AEDF4-CD24-60B8-6D7F-F1A209589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2800" b="1" dirty="0"/>
              <a:t>Pipeline-i Parashikues</a:t>
            </a:r>
          </a:p>
        </p:txBody>
      </p:sp>
      <p:sp>
        <p:nvSpPr>
          <p:cNvPr id="810" name="b810"/>
          <p:cNvSpPr/>
          <p:nvPr/>
        </p:nvSpPr>
        <p:spPr>
          <a:xfrm>
            <a:off x="838200" y="2095500"/>
            <a:ext cx="2349500" cy="1524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22D3EE"/>
            </a:solidFill>
          </a:ln>
        </p:spPr>
        <p:txBody>
          <a:bodyPr lIns="82296" tIns="64008" rIns="82296" bIns="64008" anchor="ctr"/>
          <a:lstStyle/>
          <a:p>
            <a:pPr algn="ctr"/>
            <a:r>
              <a:rPr lang="sq-AL" sz="1100" b="1" dirty="0">
                <a:solidFill>
                  <a:srgbClr val="22D3EE"/>
                </a:solidFill>
              </a:rPr>
              <a:t>HAPI 1</a:t>
            </a:r>
          </a:p>
          <a:p>
            <a:pPr algn="ctr"/>
            <a:r>
              <a:rPr lang="sq-AL" sz="1300" b="1" dirty="0">
                <a:solidFill>
                  <a:srgbClr val="E6EDF3"/>
                </a:solidFill>
              </a:rPr>
              <a:t>Pastrimi</a:t>
            </a:r>
          </a:p>
          <a:p>
            <a:pPr algn="ctr"/>
            <a:r>
              <a:rPr lang="sq-AL" sz="1050" dirty="0">
                <a:solidFill>
                  <a:srgbClr val="8B949E"/>
                </a:solidFill>
              </a:rPr>
              <a:t>NaN, duplikatë, valuta</a:t>
            </a:r>
          </a:p>
        </p:txBody>
      </p:sp>
      <p:sp>
        <p:nvSpPr>
          <p:cNvPr id="811" name="ar811"/>
          <p:cNvSpPr/>
          <p:nvPr/>
        </p:nvSpPr>
        <p:spPr>
          <a:xfrm>
            <a:off x="3200400" y="2717800"/>
            <a:ext cx="279400" cy="27940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2" name="b812"/>
          <p:cNvSpPr/>
          <p:nvPr/>
        </p:nvSpPr>
        <p:spPr>
          <a:xfrm>
            <a:off x="3467100" y="2095500"/>
            <a:ext cx="2349500" cy="1524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A78BFA"/>
            </a:solidFill>
          </a:ln>
        </p:spPr>
        <p:txBody>
          <a:bodyPr lIns="82296" tIns="64008" rIns="82296" bIns="64008" anchor="ctr"/>
          <a:lstStyle/>
          <a:p>
            <a:pPr algn="ctr"/>
            <a:r>
              <a:rPr lang="sq-AL" sz="1100" b="1" dirty="0">
                <a:solidFill>
                  <a:srgbClr val="A78BFA"/>
                </a:solidFill>
              </a:rPr>
              <a:t>HAPI 2</a:t>
            </a:r>
          </a:p>
          <a:p>
            <a:pPr algn="ctr"/>
            <a:r>
              <a:rPr lang="sq-AL" sz="1300" b="1" dirty="0">
                <a:solidFill>
                  <a:srgbClr val="E6EDF3"/>
                </a:solidFill>
              </a:rPr>
              <a:t>Inxhinieria</a:t>
            </a:r>
          </a:p>
          <a:p>
            <a:pPr algn="ctr"/>
            <a:r>
              <a:rPr lang="sq-AL" sz="1050" dirty="0">
                <a:solidFill>
                  <a:srgbClr val="8B949E"/>
                </a:solidFill>
              </a:rPr>
              <a:t>50+ veçori</a:t>
            </a:r>
          </a:p>
        </p:txBody>
      </p:sp>
      <p:sp>
        <p:nvSpPr>
          <p:cNvPr id="813" name="ar813"/>
          <p:cNvSpPr/>
          <p:nvPr/>
        </p:nvSpPr>
        <p:spPr>
          <a:xfrm>
            <a:off x="5829300" y="2717800"/>
            <a:ext cx="279400" cy="27940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4" name="b814"/>
          <p:cNvSpPr/>
          <p:nvPr/>
        </p:nvSpPr>
        <p:spPr>
          <a:xfrm>
            <a:off x="6096000" y="2095500"/>
            <a:ext cx="2349500" cy="1524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4D399"/>
            </a:solidFill>
          </a:ln>
        </p:spPr>
        <p:txBody>
          <a:bodyPr lIns="82296" tIns="64008" rIns="82296" bIns="64008" anchor="ctr"/>
          <a:lstStyle/>
          <a:p>
            <a:pPr algn="ctr"/>
            <a:r>
              <a:rPr lang="sq-AL" sz="1100" b="1" dirty="0">
                <a:solidFill>
                  <a:srgbClr val="34D399"/>
                </a:solidFill>
              </a:rPr>
              <a:t>HAPI 3</a:t>
            </a:r>
          </a:p>
          <a:p>
            <a:pPr algn="ctr"/>
            <a:r>
              <a:rPr lang="sq-AL" sz="1300" b="1" dirty="0">
                <a:solidFill>
                  <a:srgbClr val="E6EDF3"/>
                </a:solidFill>
              </a:rPr>
              <a:t>Ndarja</a:t>
            </a:r>
          </a:p>
          <a:p>
            <a:pPr algn="ctr"/>
            <a:r>
              <a:rPr lang="sq-AL" sz="1050" dirty="0">
                <a:solidFill>
                  <a:srgbClr val="8B949E"/>
                </a:solidFill>
              </a:rPr>
              <a:t>70 / 15 / 15</a:t>
            </a:r>
          </a:p>
        </p:txBody>
      </p:sp>
      <p:sp>
        <p:nvSpPr>
          <p:cNvPr id="815" name="ar815"/>
          <p:cNvSpPr/>
          <p:nvPr/>
        </p:nvSpPr>
        <p:spPr>
          <a:xfrm>
            <a:off x="8458200" y="2717800"/>
            <a:ext cx="279400" cy="27940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6" name="b816"/>
          <p:cNvSpPr/>
          <p:nvPr/>
        </p:nvSpPr>
        <p:spPr>
          <a:xfrm>
            <a:off x="8724900" y="2095500"/>
            <a:ext cx="2349500" cy="1524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F59E0B"/>
            </a:solidFill>
          </a:ln>
        </p:spPr>
        <p:txBody>
          <a:bodyPr lIns="82296" tIns="64008" rIns="82296" bIns="64008" anchor="ctr"/>
          <a:lstStyle/>
          <a:p>
            <a:pPr algn="ctr"/>
            <a:r>
              <a:rPr lang="sq-AL" sz="1100" b="1" dirty="0">
                <a:solidFill>
                  <a:srgbClr val="F59E0B"/>
                </a:solidFill>
              </a:rPr>
              <a:t>HAPI 4</a:t>
            </a:r>
          </a:p>
          <a:p>
            <a:pPr algn="ctr"/>
            <a:r>
              <a:rPr lang="sq-AL" sz="1300" b="1" dirty="0">
                <a:solidFill>
                  <a:srgbClr val="E6EDF3"/>
                </a:solidFill>
              </a:rPr>
              <a:t>Optimizimi</a:t>
            </a:r>
          </a:p>
          <a:p>
            <a:pPr algn="ctr"/>
            <a:r>
              <a:rPr lang="sq-AL" sz="1050" dirty="0">
                <a:solidFill>
                  <a:srgbClr val="8B949E"/>
                </a:solidFill>
              </a:rPr>
              <a:t>Optuna · 50 prova</a:t>
            </a:r>
          </a:p>
        </p:txBody>
      </p:sp>
      <p:sp>
        <p:nvSpPr>
          <p:cNvPr id="817" name="b817"/>
          <p:cNvSpPr/>
          <p:nvPr/>
        </p:nvSpPr>
        <p:spPr>
          <a:xfrm>
            <a:off x="838200" y="4508500"/>
            <a:ext cx="3048000" cy="1524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F472B6"/>
            </a:solidFill>
          </a:ln>
        </p:spPr>
        <p:txBody>
          <a:bodyPr lIns="82296" tIns="64008" rIns="82296" bIns="64008" anchor="ctr"/>
          <a:lstStyle/>
          <a:p>
            <a:pPr algn="ctr"/>
            <a:r>
              <a:rPr lang="sq-AL" sz="1100" b="1" dirty="0">
                <a:solidFill>
                  <a:srgbClr val="F472B6"/>
                </a:solidFill>
              </a:rPr>
              <a:t>HAPI 5</a:t>
            </a:r>
          </a:p>
          <a:p>
            <a:pPr algn="ctr"/>
            <a:r>
              <a:rPr lang="sq-AL" sz="1300" b="1" dirty="0">
                <a:solidFill>
                  <a:srgbClr val="E6EDF3"/>
                </a:solidFill>
              </a:rPr>
              <a:t>Trajnimi + 5-Fold CV</a:t>
            </a:r>
          </a:p>
          <a:p>
            <a:pPr algn="ctr"/>
            <a:r>
              <a:rPr lang="sq-AL" sz="1050" dirty="0">
                <a:solidFill>
                  <a:srgbClr val="8B949E"/>
                </a:solidFill>
              </a:rPr>
              <a:t>CatBoost · SVM · Ridge · RF · XGB · LGBM</a:t>
            </a:r>
          </a:p>
        </p:txBody>
      </p:sp>
      <p:sp>
        <p:nvSpPr>
          <p:cNvPr id="818" name="ar818"/>
          <p:cNvSpPr/>
          <p:nvPr/>
        </p:nvSpPr>
        <p:spPr>
          <a:xfrm>
            <a:off x="3924300" y="5130800"/>
            <a:ext cx="279400" cy="27940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9" name="b819"/>
          <p:cNvSpPr/>
          <p:nvPr/>
        </p:nvSpPr>
        <p:spPr>
          <a:xfrm>
            <a:off x="4267200" y="4508500"/>
            <a:ext cx="3048000" cy="1524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60A5FA"/>
            </a:solidFill>
          </a:ln>
        </p:spPr>
        <p:txBody>
          <a:bodyPr lIns="82296" tIns="64008" rIns="82296" bIns="64008" anchor="ctr"/>
          <a:lstStyle/>
          <a:p>
            <a:pPr algn="ctr"/>
            <a:r>
              <a:rPr lang="sq-AL" sz="1100" b="1" dirty="0">
                <a:solidFill>
                  <a:srgbClr val="60A5FA"/>
                </a:solidFill>
              </a:rPr>
              <a:t>HAPI 6</a:t>
            </a:r>
          </a:p>
          <a:p>
            <a:pPr algn="ctr"/>
            <a:r>
              <a:rPr lang="sq-AL" sz="1300" b="1" dirty="0">
                <a:solidFill>
                  <a:srgbClr val="E6EDF3"/>
                </a:solidFill>
              </a:rPr>
              <a:t>Përzgjedhja</a:t>
            </a:r>
          </a:p>
          <a:p>
            <a:pPr algn="ctr"/>
            <a:r>
              <a:rPr lang="sq-AL" sz="1050" dirty="0">
                <a:solidFill>
                  <a:srgbClr val="8B949E"/>
                </a:solidFill>
              </a:rPr>
              <a:t>arg max me t-test (p &lt; 0,05)</a:t>
            </a:r>
          </a:p>
        </p:txBody>
      </p:sp>
      <p:sp>
        <p:nvSpPr>
          <p:cNvPr id="820" name="ar820"/>
          <p:cNvSpPr/>
          <p:nvPr/>
        </p:nvSpPr>
        <p:spPr>
          <a:xfrm>
            <a:off x="7353300" y="5130800"/>
            <a:ext cx="279400" cy="27940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1" name="b821"/>
          <p:cNvSpPr/>
          <p:nvPr/>
        </p:nvSpPr>
        <p:spPr>
          <a:xfrm>
            <a:off x="7696200" y="4508500"/>
            <a:ext cx="3048000" cy="1524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22D3EE"/>
            </a:solidFill>
          </a:ln>
        </p:spPr>
        <p:txBody>
          <a:bodyPr lIns="82296" tIns="64008" rIns="82296" bIns="64008" anchor="ctr"/>
          <a:lstStyle/>
          <a:p>
            <a:pPr algn="ctr"/>
            <a:r>
              <a:rPr lang="sq-AL" sz="1100" b="1" dirty="0">
                <a:solidFill>
                  <a:srgbClr val="22D3EE"/>
                </a:solidFill>
              </a:rPr>
              <a:t>HAPI 7</a:t>
            </a:r>
          </a:p>
          <a:p>
            <a:pPr algn="ctr"/>
            <a:r>
              <a:rPr lang="sq-AL" sz="1300" b="1" dirty="0">
                <a:solidFill>
                  <a:srgbClr val="E6EDF3"/>
                </a:solidFill>
              </a:rPr>
              <a:t>Interpretimi SHAP</a:t>
            </a:r>
          </a:p>
          <a:p>
            <a:pPr algn="ctr"/>
            <a:r>
              <a:rPr lang="sq-AL" sz="1050" dirty="0">
                <a:solidFill>
                  <a:srgbClr val="8B949E"/>
                </a:solidFill>
              </a:rPr>
              <a:t>Rëndësia e veçorive</a:t>
            </a:r>
          </a:p>
        </p:txBody>
      </p:sp>
      <p:sp>
        <p:nvSpPr>
          <p:cNvPr id="860" name="ds"/>
          <p:cNvSpPr/>
          <p:nvPr/>
        </p:nvSpPr>
        <p:spPr>
          <a:xfrm>
            <a:off x="838200" y="1498600"/>
            <a:ext cx="10160000" cy="330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sq-AL" sz="1400" dirty="0">
                <a:solidFill>
                  <a:srgbClr val="8B949E"/>
                </a:solidFill>
              </a:rPr>
              <a:t>Algorithm 1 — Pipeline para-publikues (CatBoost + SVM), N = 99,847</a:t>
            </a:r>
          </a:p>
        </p:txBody>
      </p:sp>
      <p:cxnSp>
        <p:nvCxnSpPr>
          <p:cNvPr id="871" name="wrapconn"/>
          <p:cNvCxnSpPr/>
          <p:nvPr/>
        </p:nvCxnSpPr>
        <p:spPr>
          <a:xfrm flipH="1">
            <a:off x="2362200" y="3619500"/>
            <a:ext cx="7537450" cy="889000"/>
          </a:xfrm>
          <a:prstGeom prst="bentConnector3">
            <a:avLst>
              <a:gd name="adj1" fmla="val 50000"/>
            </a:avLst>
          </a:prstGeom>
          <a:ln w="28575">
            <a:solidFill>
              <a:srgbClr val="A78BFA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862914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A4DE-F0C4-DE82-D7C9-AFB3F570B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2800" b="1" dirty="0"/>
              <a:t>Arkitektura e Sistemit</a:t>
            </a:r>
          </a:p>
        </p:txBody>
      </p:sp>
      <p:sp>
        <p:nvSpPr>
          <p:cNvPr id="801" name="b801"/>
          <p:cNvSpPr/>
          <p:nvPr/>
        </p:nvSpPr>
        <p:spPr>
          <a:xfrm>
            <a:off x="2286000" y="2032000"/>
            <a:ext cx="5334000" cy="660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60A5FA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q-AL" sz="1500" b="1" dirty="0">
                <a:solidFill>
                  <a:srgbClr val="60A5FA"/>
                </a:solidFill>
              </a:rPr>
              <a:t>Hyrja e të dhënave</a:t>
            </a:r>
          </a:p>
          <a:p>
            <a:pPr algn="ctr"/>
            <a:r>
              <a:rPr lang="sq-AL" sz="1100" dirty="0">
                <a:solidFill>
                  <a:srgbClr val="8B949E"/>
                </a:solidFill>
              </a:rPr>
              <a:t>Twitter API v2 · Instagram Graph API</a:t>
            </a:r>
          </a:p>
        </p:txBody>
      </p:sp>
      <p:sp>
        <p:nvSpPr>
          <p:cNvPr id="802" name="b802"/>
          <p:cNvSpPr/>
          <p:nvPr/>
        </p:nvSpPr>
        <p:spPr>
          <a:xfrm>
            <a:off x="2286000" y="3048000"/>
            <a:ext cx="5334000" cy="660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22D3EE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q-AL" sz="1500" b="1" dirty="0">
                <a:solidFill>
                  <a:srgbClr val="22D3EE"/>
                </a:solidFill>
              </a:rPr>
              <a:t>Parapërpunimi</a:t>
            </a:r>
          </a:p>
          <a:p>
            <a:pPr algn="ctr"/>
            <a:r>
              <a:rPr lang="sq-AL" sz="1100" dirty="0">
                <a:solidFill>
                  <a:srgbClr val="8B949E"/>
                </a:solidFill>
              </a:rPr>
              <a:t>Pastrim · largim metrikash post-publikuese</a:t>
            </a:r>
          </a:p>
        </p:txBody>
      </p:sp>
      <p:sp>
        <p:nvSpPr>
          <p:cNvPr id="803" name="b803"/>
          <p:cNvSpPr/>
          <p:nvPr/>
        </p:nvSpPr>
        <p:spPr>
          <a:xfrm>
            <a:off x="2286000" y="4064000"/>
            <a:ext cx="5334000" cy="660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A78BFA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q-AL" sz="1500" b="1" dirty="0">
                <a:solidFill>
                  <a:srgbClr val="A78BFA"/>
                </a:solidFill>
              </a:rPr>
              <a:t>Inxhinieria e veçorive</a:t>
            </a:r>
          </a:p>
          <a:p>
            <a:pPr algn="ctr"/>
            <a:r>
              <a:rPr lang="sq-AL" sz="1100" dirty="0">
                <a:solidFill>
                  <a:srgbClr val="8B949E"/>
                </a:solidFill>
              </a:rPr>
              <a:t>50+ veçori · 6 familje · TF-IDF 500</a:t>
            </a:r>
          </a:p>
        </p:txBody>
      </p:sp>
      <p:sp>
        <p:nvSpPr>
          <p:cNvPr id="804" name="b804"/>
          <p:cNvSpPr/>
          <p:nvPr/>
        </p:nvSpPr>
        <p:spPr>
          <a:xfrm>
            <a:off x="2286000" y="5080000"/>
            <a:ext cx="5334000" cy="660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4D399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q-AL" sz="1500" b="1" dirty="0">
                <a:solidFill>
                  <a:srgbClr val="34D399"/>
                </a:solidFill>
              </a:rPr>
              <a:t>Modelet &amp; dalja REST</a:t>
            </a:r>
          </a:p>
          <a:p>
            <a:pPr algn="ctr"/>
            <a:r>
              <a:rPr lang="sq-AL" sz="1100" dirty="0">
                <a:solidFill>
                  <a:srgbClr val="8B949E"/>
                </a:solidFill>
              </a:rPr>
              <a:t>CatBoost / SVM · regresion + klasifikim</a:t>
            </a:r>
          </a:p>
        </p:txBody>
      </p:sp>
      <p:sp>
        <p:nvSpPr>
          <p:cNvPr id="811" name="a811"/>
          <p:cNvSpPr/>
          <p:nvPr/>
        </p:nvSpPr>
        <p:spPr>
          <a:xfrm>
            <a:off x="4838700" y="2717800"/>
            <a:ext cx="228600" cy="279400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2" name="a812"/>
          <p:cNvSpPr/>
          <p:nvPr/>
        </p:nvSpPr>
        <p:spPr>
          <a:xfrm>
            <a:off x="4838700" y="3733800"/>
            <a:ext cx="228600" cy="279400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3" name="a813"/>
          <p:cNvSpPr/>
          <p:nvPr/>
        </p:nvSpPr>
        <p:spPr>
          <a:xfrm>
            <a:off x="4838700" y="4749800"/>
            <a:ext cx="228600" cy="279400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0" name="shap"/>
          <p:cNvSpPr/>
          <p:nvPr/>
        </p:nvSpPr>
        <p:spPr>
          <a:xfrm>
            <a:off x="8255000" y="2032000"/>
            <a:ext cx="3098800" cy="3708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txBody>
          <a:bodyPr lIns="118872" tIns="100584" rIns="118872" bIns="100584" anchor="t"/>
          <a:lstStyle/>
          <a:p>
            <a:r>
              <a:rPr lang="sq-AL" sz="1500" b="1" dirty="0">
                <a:solidFill>
                  <a:srgbClr val="F59E0B"/>
                </a:solidFill>
              </a:rPr>
              <a:t>Interpretueshmëria</a:t>
            </a:r>
          </a:p>
          <a:p>
            <a:pPr>
              <a:spcBef>
                <a:spcPts val="400"/>
              </a:spcBef>
            </a:pPr>
            <a:r>
              <a:rPr lang="sq-AL" sz="1300" dirty="0">
                <a:solidFill>
                  <a:srgbClr val="C9D1D9"/>
                </a:solidFill>
              </a:rPr>
              <a:t>Shtresa SHAP analizon çdo model të trajnuar dhe nxjerr kontributin e secilës veçori në parashikim.</a:t>
            </a:r>
          </a:p>
          <a:p>
            <a:pPr marL="200025" indent="-200025">
              <a:spcBef>
                <a:spcPts val="400"/>
              </a:spcBef>
              <a:buFont typeface="Arial"/>
              <a:buChar char="•"/>
            </a:pPr>
            <a:r>
              <a:rPr lang="sq-AL" sz="1200" dirty="0">
                <a:solidFill>
                  <a:srgbClr val="C9D1D9"/>
                </a:solidFill>
              </a:rPr>
              <a:t>Arkitekturë moduloze me ndërfaqe REST.</a:t>
            </a:r>
          </a:p>
          <a:p>
            <a:pPr marL="200025" indent="-200025">
              <a:spcBef>
                <a:spcPts val="300"/>
              </a:spcBef>
              <a:buFont typeface="Arial"/>
              <a:buChar char="•"/>
            </a:pPr>
            <a:r>
              <a:rPr lang="sq-AL" sz="1200" dirty="0">
                <a:solidFill>
                  <a:srgbClr val="C9D1D9"/>
                </a:solidFill>
              </a:rPr>
              <a:t>Optuna për akordimin e hiper-parametrave.</a:t>
            </a:r>
          </a:p>
        </p:txBody>
      </p:sp>
      <p:sp>
        <p:nvSpPr>
          <p:cNvPr id="814" name="a814"/>
          <p:cNvSpPr/>
          <p:nvPr/>
        </p:nvSpPr>
        <p:spPr>
          <a:xfrm>
            <a:off x="4838700" y="4749800"/>
            <a:ext cx="228600" cy="279400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8325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3EC10-A002-F65E-5C8F-66D9AB721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2800" b="1" dirty="0"/>
              <a:t>Hipotezat dhe Validimi</a:t>
            </a:r>
          </a:p>
        </p:txBody>
      </p:sp>
      <p:sp>
        <p:nvSpPr>
          <p:cNvPr id="831" name="h831"/>
          <p:cNvSpPr/>
          <p:nvPr/>
        </p:nvSpPr>
        <p:spPr>
          <a:xfrm>
            <a:off x="838200" y="1905000"/>
            <a:ext cx="8128000" cy="58420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lIns="118872" tIns="22860" rIns="91440" bIns="22860" anchor="ctr"/>
          <a:lstStyle/>
          <a:p>
            <a:r>
              <a:rPr lang="sq-AL" sz="1400" b="1" dirty="0">
                <a:solidFill>
                  <a:srgbClr val="22D3EE"/>
                </a:solidFill>
              </a:rPr>
              <a:t>H1  </a:t>
            </a:r>
            <a:r>
              <a:rPr lang="sq-AL" sz="1300" dirty="0">
                <a:solidFill>
                  <a:srgbClr val="C9D1D9"/>
                </a:solidFill>
              </a:rPr>
              <a:t>Veçoritë përmbajtësore ndikojnë domethënës (p &lt; 0,05).</a:t>
            </a:r>
          </a:p>
        </p:txBody>
      </p:sp>
      <p:sp>
        <p:nvSpPr>
          <p:cNvPr id="881" name="p831"/>
          <p:cNvSpPr/>
          <p:nvPr/>
        </p:nvSpPr>
        <p:spPr>
          <a:xfrm>
            <a:off x="9169400" y="1905000"/>
            <a:ext cx="2184400" cy="5842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lIns="45720" tIns="0" rIns="45720" bIns="0" anchor="ctr"/>
          <a:lstStyle/>
          <a:p>
            <a:pPr algn="ctr"/>
            <a:r>
              <a:rPr lang="sq-AL" sz="1200" b="1" dirty="0">
                <a:solidFill>
                  <a:srgbClr val="0D1117"/>
                </a:solidFill>
              </a:rPr>
              <a:t>E PRANUAR  ✓</a:t>
            </a:r>
          </a:p>
        </p:txBody>
      </p:sp>
      <p:sp>
        <p:nvSpPr>
          <p:cNvPr id="832" name="h832"/>
          <p:cNvSpPr/>
          <p:nvPr/>
        </p:nvSpPr>
        <p:spPr>
          <a:xfrm>
            <a:off x="838200" y="2552700"/>
            <a:ext cx="8128000" cy="58420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lIns="118872" tIns="22860" rIns="91440" bIns="22860" anchor="ctr"/>
          <a:lstStyle/>
          <a:p>
            <a:r>
              <a:rPr lang="sq-AL" sz="1400" b="1" dirty="0">
                <a:solidFill>
                  <a:srgbClr val="22D3EE"/>
                </a:solidFill>
              </a:rPr>
              <a:t>H2  </a:t>
            </a:r>
            <a:r>
              <a:rPr lang="sq-AL" sz="1300" dirty="0">
                <a:solidFill>
                  <a:srgbClr val="C9D1D9"/>
                </a:solidFill>
              </a:rPr>
              <a:t>Konteksti i publikimit shpjegon ≥ 5% të variancës (ΔR² = +0,053).</a:t>
            </a:r>
          </a:p>
        </p:txBody>
      </p:sp>
      <p:sp>
        <p:nvSpPr>
          <p:cNvPr id="882" name="p832"/>
          <p:cNvSpPr/>
          <p:nvPr/>
        </p:nvSpPr>
        <p:spPr>
          <a:xfrm>
            <a:off x="9169400" y="2552700"/>
            <a:ext cx="2184400" cy="5842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lIns="45720" tIns="0" rIns="45720" bIns="0" anchor="ctr"/>
          <a:lstStyle/>
          <a:p>
            <a:pPr algn="ctr"/>
            <a:r>
              <a:rPr lang="sq-AL" sz="1200" b="1" dirty="0">
                <a:solidFill>
                  <a:srgbClr val="0D1117"/>
                </a:solidFill>
              </a:rPr>
              <a:t>E PRANUAR  ✓</a:t>
            </a:r>
          </a:p>
        </p:txBody>
      </p:sp>
      <p:sp>
        <p:nvSpPr>
          <p:cNvPr id="833" name="h833"/>
          <p:cNvSpPr/>
          <p:nvPr/>
        </p:nvSpPr>
        <p:spPr>
          <a:xfrm>
            <a:off x="838200" y="3200400"/>
            <a:ext cx="8128000" cy="58420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lIns="118872" tIns="22860" rIns="91440" bIns="22860" anchor="ctr"/>
          <a:lstStyle/>
          <a:p>
            <a:r>
              <a:rPr lang="sq-AL" sz="1400" b="1" dirty="0">
                <a:solidFill>
                  <a:srgbClr val="22D3EE"/>
                </a:solidFill>
              </a:rPr>
              <a:t>H3  </a:t>
            </a:r>
            <a:r>
              <a:rPr lang="sq-AL" sz="1300" dirty="0">
                <a:solidFill>
                  <a:srgbClr val="C9D1D9"/>
                </a:solidFill>
              </a:rPr>
              <a:t>Postimet multimediale: +34% impressions (≥ 30%).</a:t>
            </a:r>
          </a:p>
        </p:txBody>
      </p:sp>
      <p:sp>
        <p:nvSpPr>
          <p:cNvPr id="883" name="p833"/>
          <p:cNvSpPr/>
          <p:nvPr/>
        </p:nvSpPr>
        <p:spPr>
          <a:xfrm>
            <a:off x="9169400" y="3200400"/>
            <a:ext cx="2184400" cy="5842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lIns="45720" tIns="0" rIns="45720" bIns="0" anchor="ctr"/>
          <a:lstStyle/>
          <a:p>
            <a:pPr algn="ctr"/>
            <a:r>
              <a:rPr lang="sq-AL" sz="1200" b="1" dirty="0">
                <a:solidFill>
                  <a:srgbClr val="0D1117"/>
                </a:solidFill>
              </a:rPr>
              <a:t>E PRANUAR  ✓</a:t>
            </a:r>
          </a:p>
        </p:txBody>
      </p:sp>
      <p:sp>
        <p:nvSpPr>
          <p:cNvPr id="834" name="h834"/>
          <p:cNvSpPr/>
          <p:nvPr/>
        </p:nvSpPr>
        <p:spPr>
          <a:xfrm>
            <a:off x="838200" y="3848100"/>
            <a:ext cx="8128000" cy="58420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lIns="118872" tIns="22860" rIns="91440" bIns="22860" anchor="ctr"/>
          <a:lstStyle/>
          <a:p>
            <a:r>
              <a:rPr lang="sq-AL" sz="1400" b="1" dirty="0">
                <a:solidFill>
                  <a:srgbClr val="22D3EE"/>
                </a:solidFill>
              </a:rPr>
              <a:t>H4  </a:t>
            </a:r>
            <a:r>
              <a:rPr lang="sq-AL" sz="1300" dirty="0">
                <a:solidFill>
                  <a:srgbClr val="C9D1D9"/>
                </a:solidFill>
              </a:rPr>
              <a:t>Modelet AI arrijnë R² ≥ 0,80 (mesatar = 0,853).</a:t>
            </a:r>
          </a:p>
        </p:txBody>
      </p:sp>
      <p:sp>
        <p:nvSpPr>
          <p:cNvPr id="884" name="p834"/>
          <p:cNvSpPr/>
          <p:nvPr/>
        </p:nvSpPr>
        <p:spPr>
          <a:xfrm>
            <a:off x="9169400" y="3848100"/>
            <a:ext cx="2184400" cy="5842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lIns="45720" tIns="0" rIns="45720" bIns="0" anchor="ctr"/>
          <a:lstStyle/>
          <a:p>
            <a:pPr algn="ctr"/>
            <a:r>
              <a:rPr lang="sq-AL" sz="1200" b="1" dirty="0">
                <a:solidFill>
                  <a:srgbClr val="0D1117"/>
                </a:solidFill>
              </a:rPr>
              <a:t>E PRANUAR  ✓</a:t>
            </a:r>
          </a:p>
        </p:txBody>
      </p:sp>
      <p:sp>
        <p:nvSpPr>
          <p:cNvPr id="835" name="h835"/>
          <p:cNvSpPr/>
          <p:nvPr/>
        </p:nvSpPr>
        <p:spPr>
          <a:xfrm>
            <a:off x="838200" y="4495800"/>
            <a:ext cx="8128000" cy="58420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lIns="118872" tIns="22860" rIns="91440" bIns="22860" anchor="ctr"/>
          <a:lstStyle/>
          <a:p>
            <a:r>
              <a:rPr lang="sq-AL" sz="1400" b="1" dirty="0">
                <a:solidFill>
                  <a:srgbClr val="22D3EE"/>
                </a:solidFill>
              </a:rPr>
              <a:t>H5  </a:t>
            </a:r>
            <a:r>
              <a:rPr lang="sq-AL" sz="1300" dirty="0">
                <a:solidFill>
                  <a:srgbClr val="C9D1D9"/>
                </a:solidFill>
              </a:rPr>
              <a:t>Polariteti parashikohet me ROC-AUC ≥ 0,85 (= 0,860).</a:t>
            </a:r>
          </a:p>
        </p:txBody>
      </p:sp>
      <p:sp>
        <p:nvSpPr>
          <p:cNvPr id="885" name="p835"/>
          <p:cNvSpPr/>
          <p:nvPr/>
        </p:nvSpPr>
        <p:spPr>
          <a:xfrm>
            <a:off x="9169400" y="4495800"/>
            <a:ext cx="2184400" cy="5842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lIns="45720" tIns="0" rIns="45720" bIns="0" anchor="ctr"/>
          <a:lstStyle/>
          <a:p>
            <a:pPr algn="ctr"/>
            <a:r>
              <a:rPr lang="sq-AL" sz="1200" b="1" dirty="0">
                <a:solidFill>
                  <a:srgbClr val="0D1117"/>
                </a:solidFill>
              </a:rPr>
              <a:t>E PRANUAR  ✓</a:t>
            </a:r>
          </a:p>
        </p:txBody>
      </p:sp>
      <p:sp>
        <p:nvSpPr>
          <p:cNvPr id="836" name="h836"/>
          <p:cNvSpPr/>
          <p:nvPr/>
        </p:nvSpPr>
        <p:spPr>
          <a:xfrm>
            <a:off x="838200" y="5143500"/>
            <a:ext cx="8128000" cy="58420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lIns="118872" tIns="22860" rIns="91440" bIns="22860" anchor="ctr"/>
          <a:lstStyle/>
          <a:p>
            <a:r>
              <a:rPr lang="sq-AL" sz="1400" b="1" dirty="0">
                <a:solidFill>
                  <a:srgbClr val="8B949E"/>
                </a:solidFill>
              </a:rPr>
              <a:t>H01  </a:t>
            </a:r>
            <a:r>
              <a:rPr lang="sq-AL" sz="1300" dirty="0">
                <a:solidFill>
                  <a:srgbClr val="C9D1D9"/>
                </a:solidFill>
              </a:rPr>
              <a:t>Veçoritë nuk kanë ndikim domethënës (β = 0).</a:t>
            </a:r>
          </a:p>
        </p:txBody>
      </p:sp>
      <p:sp>
        <p:nvSpPr>
          <p:cNvPr id="886" name="p836"/>
          <p:cNvSpPr/>
          <p:nvPr/>
        </p:nvSpPr>
        <p:spPr>
          <a:xfrm>
            <a:off x="9169400" y="5143500"/>
            <a:ext cx="2184400" cy="58420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 w="12700">
            <a:solidFill>
              <a:srgbClr val="F472B6"/>
            </a:solidFill>
          </a:ln>
        </p:spPr>
        <p:txBody>
          <a:bodyPr lIns="45720" tIns="0" rIns="45720" bIns="0" anchor="ctr"/>
          <a:lstStyle/>
          <a:p>
            <a:pPr algn="ctr"/>
            <a:r>
              <a:rPr lang="sq-AL" sz="1200" b="1" dirty="0">
                <a:solidFill>
                  <a:srgbClr val="0D1117"/>
                </a:solidFill>
              </a:rPr>
              <a:t>E REFUZUAR  ✗</a:t>
            </a:r>
          </a:p>
        </p:txBody>
      </p:sp>
      <p:sp>
        <p:nvSpPr>
          <p:cNvPr id="837" name="h837"/>
          <p:cNvSpPr/>
          <p:nvPr/>
        </p:nvSpPr>
        <p:spPr>
          <a:xfrm>
            <a:off x="838200" y="5791200"/>
            <a:ext cx="8128000" cy="58420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lIns="118872" tIns="22860" rIns="91440" bIns="22860" anchor="ctr"/>
          <a:lstStyle/>
          <a:p>
            <a:r>
              <a:rPr lang="sq-AL" sz="1400" b="1" dirty="0">
                <a:solidFill>
                  <a:srgbClr val="8B949E"/>
                </a:solidFill>
              </a:rPr>
              <a:t>H02  </a:t>
            </a:r>
            <a:r>
              <a:rPr lang="sq-AL" sz="1300" dirty="0">
                <a:solidFill>
                  <a:srgbClr val="C9D1D9"/>
                </a:solidFill>
              </a:rPr>
              <a:t>Modelet s'e tejkalojnë baseline-in mesatar.</a:t>
            </a:r>
          </a:p>
        </p:txBody>
      </p:sp>
      <p:sp>
        <p:nvSpPr>
          <p:cNvPr id="887" name="p837"/>
          <p:cNvSpPr/>
          <p:nvPr/>
        </p:nvSpPr>
        <p:spPr>
          <a:xfrm>
            <a:off x="9169400" y="5791200"/>
            <a:ext cx="2184400" cy="58420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 w="12700">
            <a:solidFill>
              <a:srgbClr val="F472B6"/>
            </a:solidFill>
          </a:ln>
        </p:spPr>
        <p:txBody>
          <a:bodyPr lIns="45720" tIns="0" rIns="45720" bIns="0" anchor="ctr"/>
          <a:lstStyle/>
          <a:p>
            <a:pPr algn="ctr"/>
            <a:r>
              <a:rPr lang="sq-AL" sz="1200" b="1" dirty="0">
                <a:solidFill>
                  <a:srgbClr val="0D1117"/>
                </a:solidFill>
              </a:rPr>
              <a:t>E REFUZUAR  ✗</a:t>
            </a:r>
          </a:p>
        </p:txBody>
      </p:sp>
    </p:spTree>
    <p:extLst>
      <p:ext uri="{BB962C8B-B14F-4D97-AF65-F5344CB8AC3E}">
        <p14:creationId xmlns:p14="http://schemas.microsoft.com/office/powerpoint/2010/main" val="2755665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37642-5082-B4D4-40FF-E60D8EF6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2800" b="1" dirty="0"/>
              <a:t>Rezultatet e Regresionit · CatBoost</a:t>
            </a:r>
          </a:p>
        </p:txBody>
      </p:sp>
      <p:sp>
        <p:nvSpPr>
          <p:cNvPr id="831" name="c831"/>
          <p:cNvSpPr/>
          <p:nvPr/>
        </p:nvSpPr>
        <p:spPr>
          <a:xfrm>
            <a:off x="8229600" y="2006600"/>
            <a:ext cx="3124200" cy="1244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txBody>
          <a:bodyPr lIns="91440" tIns="68580" rIns="91440" bIns="68580" anchor="ctr"/>
          <a:lstStyle/>
          <a:p>
            <a:pPr algn="ctr"/>
            <a:r>
              <a:rPr lang="sq-AL" sz="3200" b="1" dirty="0">
                <a:solidFill>
                  <a:srgbClr val="22D3EE"/>
                </a:solidFill>
              </a:rPr>
              <a:t>0,853</a:t>
            </a:r>
          </a:p>
          <a:p>
            <a:pPr algn="ctr"/>
            <a:r>
              <a:rPr lang="sq-AL" sz="1200" dirty="0">
                <a:solidFill>
                  <a:srgbClr val="8B949E"/>
                </a:solidFill>
              </a:rPr>
              <a:t>R² mesatare (6 objektiva)</a:t>
            </a:r>
          </a:p>
        </p:txBody>
      </p:sp>
      <p:sp>
        <p:nvSpPr>
          <p:cNvPr id="832" name="c832"/>
          <p:cNvSpPr/>
          <p:nvPr/>
        </p:nvSpPr>
        <p:spPr>
          <a:xfrm>
            <a:off x="8229600" y="3403600"/>
            <a:ext cx="3124200" cy="1244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</p:spPr>
        <p:txBody>
          <a:bodyPr lIns="91440" tIns="68580" rIns="91440" bIns="68580" anchor="ctr"/>
          <a:lstStyle/>
          <a:p>
            <a:pPr algn="ctr"/>
            <a:r>
              <a:rPr lang="sq-AL" sz="3200" b="1" dirty="0">
                <a:solidFill>
                  <a:srgbClr val="34D399"/>
                </a:solidFill>
              </a:rPr>
              <a:t>7,0%</a:t>
            </a:r>
          </a:p>
          <a:p>
            <a:pPr algn="ctr"/>
            <a:r>
              <a:rPr lang="sq-AL" sz="1200" dirty="0">
                <a:solidFill>
                  <a:srgbClr val="8B949E"/>
                </a:solidFill>
              </a:rPr>
              <a:t>MAPE mesatare</a:t>
            </a:r>
          </a:p>
        </p:txBody>
      </p:sp>
      <p:sp>
        <p:nvSpPr>
          <p:cNvPr id="833" name="c833"/>
          <p:cNvSpPr/>
          <p:nvPr/>
        </p:nvSpPr>
        <p:spPr>
          <a:xfrm>
            <a:off x="8229600" y="4800600"/>
            <a:ext cx="3124200" cy="1244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A78BFA"/>
            </a:solidFill>
          </a:ln>
        </p:spPr>
        <p:txBody>
          <a:bodyPr lIns="91440" tIns="68580" rIns="91440" bIns="68580" anchor="ctr"/>
          <a:lstStyle/>
          <a:p>
            <a:pPr algn="ctr"/>
            <a:r>
              <a:rPr lang="sq-AL" sz="3200" b="1" dirty="0">
                <a:solidFill>
                  <a:srgbClr val="A78BFA"/>
                </a:solidFill>
              </a:rPr>
              <a:t>0,880</a:t>
            </a:r>
          </a:p>
          <a:p>
            <a:pPr algn="ctr"/>
            <a:r>
              <a:rPr lang="sq-AL" sz="1200" dirty="0">
                <a:solidFill>
                  <a:srgbClr val="8B949E"/>
                </a:solidFill>
              </a:rPr>
              <a:t>R² maksimal (Comments)</a:t>
            </a:r>
          </a:p>
        </p:txBody>
      </p:sp>
      <p:graphicFrame>
        <p:nvGraphicFramePr>
          <p:cNvPr id="151" name="Chart 1"/>
          <p:cNvGraphicFramePr/>
          <p:nvPr/>
        </p:nvGraphicFramePr>
        <p:xfrm>
          <a:off x="762000" y="1905000"/>
          <a:ext cx="7112000" cy="438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98442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C4B55-6F9B-4DEA-6BF5-9BBE876AF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2800" b="1" dirty="0"/>
              <a:t>Krahasimi i Modeleve (R² · Likes)</a:t>
            </a:r>
          </a:p>
        </p:txBody>
      </p:sp>
      <p:sp>
        <p:nvSpPr>
          <p:cNvPr id="841" name="c841"/>
          <p:cNvSpPr/>
          <p:nvPr/>
        </p:nvSpPr>
        <p:spPr>
          <a:xfrm>
            <a:off x="8229600" y="2032000"/>
            <a:ext cx="312420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</p:spPr>
        <p:txBody>
          <a:bodyPr lIns="109728" tIns="73152" rIns="109728" bIns="73152" anchor="ctr"/>
          <a:lstStyle/>
          <a:p>
            <a:pPr algn="ctr"/>
            <a:r>
              <a:rPr lang="sq-AL" sz="2400" b="1" dirty="0">
                <a:solidFill>
                  <a:srgbClr val="34D399"/>
                </a:solidFill>
              </a:rPr>
              <a:t>CatBoost</a:t>
            </a:r>
          </a:p>
          <a:p>
            <a:pPr algn="ctr"/>
            <a:r>
              <a:rPr lang="sq-AL" sz="1200" dirty="0">
                <a:solidFill>
                  <a:srgbClr val="8B949E"/>
                </a:solidFill>
              </a:rPr>
              <a:t>modeli fitues</a:t>
            </a:r>
          </a:p>
        </p:txBody>
      </p:sp>
      <p:sp>
        <p:nvSpPr>
          <p:cNvPr id="842" name="c842"/>
          <p:cNvSpPr/>
          <p:nvPr/>
        </p:nvSpPr>
        <p:spPr>
          <a:xfrm>
            <a:off x="8229600" y="3327400"/>
            <a:ext cx="312420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txBody>
          <a:bodyPr lIns="109728" tIns="73152" rIns="109728" bIns="73152" anchor="ctr"/>
          <a:lstStyle/>
          <a:p>
            <a:pPr algn="ctr"/>
            <a:r>
              <a:rPr lang="sq-AL" sz="2400" b="1" dirty="0">
                <a:solidFill>
                  <a:srgbClr val="22D3EE"/>
                </a:solidFill>
              </a:rPr>
              <a:t>+0,215 R²</a:t>
            </a:r>
          </a:p>
          <a:p>
            <a:pPr algn="ctr"/>
            <a:r>
              <a:rPr lang="sq-AL" sz="1200" dirty="0">
                <a:solidFill>
                  <a:srgbClr val="8B949E"/>
                </a:solidFill>
              </a:rPr>
              <a:t>vs Ridge baseline</a:t>
            </a:r>
          </a:p>
        </p:txBody>
      </p:sp>
      <p:sp>
        <p:nvSpPr>
          <p:cNvPr id="843" name="c843"/>
          <p:cNvSpPr/>
          <p:nvPr/>
        </p:nvSpPr>
        <p:spPr>
          <a:xfrm>
            <a:off x="8229600" y="4622800"/>
            <a:ext cx="312420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A78BFA"/>
            </a:solidFill>
          </a:ln>
        </p:spPr>
        <p:txBody>
          <a:bodyPr lIns="109728" tIns="73152" rIns="109728" bIns="73152" anchor="ctr"/>
          <a:lstStyle/>
          <a:p>
            <a:pPr algn="ctr"/>
            <a:r>
              <a:rPr lang="sq-AL" sz="2400" b="1" dirty="0">
                <a:solidFill>
                  <a:srgbClr val="A78BFA"/>
                </a:solidFill>
              </a:rPr>
              <a:t>6 familje</a:t>
            </a:r>
          </a:p>
          <a:p>
            <a:pPr algn="ctr"/>
            <a:r>
              <a:rPr lang="sq-AL" sz="1200" dirty="0">
                <a:solidFill>
                  <a:srgbClr val="8B949E"/>
                </a:solidFill>
              </a:rPr>
              <a:t>modelesh të krahasuara</a:t>
            </a:r>
          </a:p>
        </p:txBody>
      </p:sp>
      <p:graphicFrame>
        <p:nvGraphicFramePr>
          <p:cNvPr id="201" name="Chart 1"/>
          <p:cNvGraphicFramePr/>
          <p:nvPr/>
        </p:nvGraphicFramePr>
        <p:xfrm>
          <a:off x="609600" y="1905000"/>
          <a:ext cx="73660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91359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97EDE-2B09-F87B-1A04-C0B540E9A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2800" b="1" dirty="0"/>
              <a:t>Performanca e Klasifikimit</a:t>
            </a:r>
          </a:p>
        </p:txBody>
      </p:sp>
      <p:sp>
        <p:nvSpPr>
          <p:cNvPr id="840" name="c840"/>
          <p:cNvSpPr/>
          <p:nvPr/>
        </p:nvSpPr>
        <p:spPr>
          <a:xfrm>
            <a:off x="7620000" y="2032000"/>
            <a:ext cx="3683000" cy="10922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q-AL" sz="2400" b="1" dirty="0">
                <a:solidFill>
                  <a:srgbClr val="22D3EE"/>
                </a:solidFill>
              </a:rPr>
              <a:t>0,912</a:t>
            </a:r>
          </a:p>
          <a:p>
            <a:pPr algn="ctr"/>
            <a:r>
              <a:rPr lang="sq-AL" sz="1200" dirty="0">
                <a:solidFill>
                  <a:srgbClr val="8B949E"/>
                </a:solidFill>
              </a:rPr>
              <a:t>Viral (&gt;P75) · ROC-AUC</a:t>
            </a:r>
          </a:p>
        </p:txBody>
      </p:sp>
      <p:sp>
        <p:nvSpPr>
          <p:cNvPr id="841" name="c841"/>
          <p:cNvSpPr/>
          <p:nvPr/>
        </p:nvSpPr>
        <p:spPr>
          <a:xfrm>
            <a:off x="7620000" y="3251200"/>
            <a:ext cx="3683000" cy="10922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A78BFA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q-AL" sz="2400" b="1" dirty="0">
                <a:solidFill>
                  <a:srgbClr val="A78BFA"/>
                </a:solidFill>
              </a:rPr>
              <a:t>0,933</a:t>
            </a:r>
          </a:p>
          <a:p>
            <a:pPr algn="ctr"/>
            <a:r>
              <a:rPr lang="sq-AL" sz="1200" dirty="0">
                <a:solidFill>
                  <a:srgbClr val="8B949E"/>
                </a:solidFill>
              </a:rPr>
              <a:t>Angazhim i lartë (&gt;P50) · ROC-AUC</a:t>
            </a:r>
          </a:p>
        </p:txBody>
      </p:sp>
      <p:sp>
        <p:nvSpPr>
          <p:cNvPr id="842" name="c842"/>
          <p:cNvSpPr/>
          <p:nvPr/>
        </p:nvSpPr>
        <p:spPr>
          <a:xfrm>
            <a:off x="7620000" y="4470400"/>
            <a:ext cx="3683000" cy="10922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q-AL" sz="2400" b="1" dirty="0">
                <a:solidFill>
                  <a:srgbClr val="34D399"/>
                </a:solidFill>
              </a:rPr>
              <a:t>0,860</a:t>
            </a:r>
          </a:p>
          <a:p>
            <a:pPr algn="ctr"/>
            <a:r>
              <a:rPr lang="sq-AL" sz="1200" dirty="0">
                <a:solidFill>
                  <a:srgbClr val="8B949E"/>
                </a:solidFill>
              </a:rPr>
              <a:t>Sentiment 3-klasësh · ROC-AUC</a:t>
            </a:r>
          </a:p>
        </p:txBody>
      </p:sp>
      <p:sp>
        <p:nvSpPr>
          <p:cNvPr id="843" name="c843"/>
          <p:cNvSpPr/>
          <p:nvPr/>
        </p:nvSpPr>
        <p:spPr>
          <a:xfrm>
            <a:off x="7620000" y="5689600"/>
            <a:ext cx="3683000" cy="508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sq-AL" sz="1500" b="1" dirty="0">
                <a:solidFill>
                  <a:srgbClr val="F59E0B"/>
                </a:solidFill>
              </a:rPr>
              <a:t>AUC mesatare = 0,902</a:t>
            </a:r>
          </a:p>
        </p:txBody>
      </p:sp>
      <p:graphicFrame>
        <p:nvGraphicFramePr>
          <p:cNvPr id="151" name="ChartC"/>
          <p:cNvGraphicFramePr/>
          <p:nvPr/>
        </p:nvGraphicFramePr>
        <p:xfrm>
          <a:off x="762000" y="1905000"/>
          <a:ext cx="6477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75315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FB15D-0188-5AB0-422D-A7D583F6A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2800" b="1" dirty="0"/>
              <a:t>Rëndësia e Veçorive (SHAP)</a:t>
            </a:r>
          </a:p>
        </p:txBody>
      </p:sp>
      <p:sp>
        <p:nvSpPr>
          <p:cNvPr id="840" name="c840"/>
          <p:cNvSpPr/>
          <p:nvPr/>
        </p:nvSpPr>
        <p:spPr>
          <a:xfrm>
            <a:off x="6350000" y="1905000"/>
            <a:ext cx="5003800" cy="1498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txBody>
          <a:bodyPr lIns="118872" tIns="100584" rIns="118872" bIns="100584" anchor="ctr"/>
          <a:lstStyle/>
          <a:p>
            <a:pPr algn="l">
              <a:spcBef>
                <a:spcPts val="0"/>
              </a:spcBef>
            </a:pPr>
            <a:r>
              <a:rPr lang="sq-AL" sz="1000" b="1" dirty="0">
                <a:solidFill>
                  <a:srgbClr val="F59E0B"/>
                </a:solidFill>
              </a:rPr>
              <a:t>GJETJA KYÇE</a:t>
            </a:r>
          </a:p>
          <a:p>
            <a:pPr algn="l">
              <a:spcBef>
                <a:spcPts val="300"/>
              </a:spcBef>
            </a:pPr>
            <a:r>
              <a:rPr lang="sq-AL" sz="1500" b="1" dirty="0">
                <a:solidFill>
                  <a:srgbClr val="E6EDF3"/>
                </a:solidFill>
              </a:rPr>
              <a:t>Sentimenti + teksti shpjegojnë 68% të fuqisë totale parashikuese.</a:t>
            </a:r>
          </a:p>
          <a:p>
            <a:pPr algn="l">
              <a:spcBef>
                <a:spcPts val="300"/>
              </a:spcBef>
            </a:pPr>
            <a:r>
              <a:rPr lang="sq-AL" sz="1200" b="0" dirty="0">
                <a:solidFill>
                  <a:srgbClr val="C9D1D9"/>
                </a:solidFill>
              </a:rPr>
              <a:t>Redaktimi i përmbajtjes para publikimit është faktori më i ndikueshëm.</a:t>
            </a:r>
          </a:p>
        </p:txBody>
      </p:sp>
      <p:sp>
        <p:nvSpPr>
          <p:cNvPr id="841" name="c841"/>
          <p:cNvSpPr/>
          <p:nvPr/>
        </p:nvSpPr>
        <p:spPr>
          <a:xfrm>
            <a:off x="6350000" y="3683000"/>
            <a:ext cx="157480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txBody>
          <a:bodyPr lIns="118872" tIns="100584" rIns="118872" bIns="100584" anchor="ctr"/>
          <a:lstStyle/>
          <a:p>
            <a:pPr algn="ctr">
              <a:spcBef>
                <a:spcPts val="0"/>
              </a:spcBef>
            </a:pPr>
            <a:r>
              <a:rPr lang="sq-AL" sz="2400" b="1" dirty="0">
                <a:solidFill>
                  <a:srgbClr val="22D3EE"/>
                </a:solidFill>
              </a:rPr>
              <a:t>18,4%</a:t>
            </a:r>
          </a:p>
          <a:p>
            <a:pPr algn="ctr">
              <a:spcBef>
                <a:spcPts val="0"/>
              </a:spcBef>
            </a:pPr>
            <a:r>
              <a:rPr lang="sq-AL" sz="1100" b="0" dirty="0">
                <a:solidFill>
                  <a:srgbClr val="8B949E"/>
                </a:solidFill>
              </a:rPr>
              <a:t>Sentimenti</a:t>
            </a:r>
          </a:p>
        </p:txBody>
      </p:sp>
      <p:sp>
        <p:nvSpPr>
          <p:cNvPr id="842" name="c842"/>
          <p:cNvSpPr/>
          <p:nvPr/>
        </p:nvSpPr>
        <p:spPr>
          <a:xfrm>
            <a:off x="8064500" y="3683000"/>
            <a:ext cx="157480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A78BFA"/>
            </a:solidFill>
          </a:ln>
        </p:spPr>
        <p:txBody>
          <a:bodyPr lIns="118872" tIns="100584" rIns="118872" bIns="100584" anchor="ctr"/>
          <a:lstStyle/>
          <a:p>
            <a:pPr algn="ctr">
              <a:spcBef>
                <a:spcPts val="0"/>
              </a:spcBef>
            </a:pPr>
            <a:r>
              <a:rPr lang="sq-AL" sz="2400" b="1" dirty="0">
                <a:solidFill>
                  <a:srgbClr val="A78BFA"/>
                </a:solidFill>
              </a:rPr>
              <a:t>14,6%</a:t>
            </a:r>
          </a:p>
          <a:p>
            <a:pPr algn="ctr">
              <a:spcBef>
                <a:spcPts val="0"/>
              </a:spcBef>
            </a:pPr>
            <a:r>
              <a:rPr lang="sq-AL" sz="1100" b="0" dirty="0">
                <a:solidFill>
                  <a:srgbClr val="8B949E"/>
                </a:solidFill>
              </a:rPr>
              <a:t>Gjatësia e tekstit</a:t>
            </a:r>
          </a:p>
        </p:txBody>
      </p:sp>
      <p:sp>
        <p:nvSpPr>
          <p:cNvPr id="843" name="c843"/>
          <p:cNvSpPr/>
          <p:nvPr/>
        </p:nvSpPr>
        <p:spPr>
          <a:xfrm>
            <a:off x="9779000" y="3683000"/>
            <a:ext cx="157480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</p:spPr>
        <p:txBody>
          <a:bodyPr lIns="118872" tIns="100584" rIns="118872" bIns="100584" anchor="ctr"/>
          <a:lstStyle/>
          <a:p>
            <a:pPr algn="ctr">
              <a:spcBef>
                <a:spcPts val="0"/>
              </a:spcBef>
            </a:pPr>
            <a:r>
              <a:rPr lang="sq-AL" sz="2400" b="1" dirty="0">
                <a:solidFill>
                  <a:srgbClr val="34D399"/>
                </a:solidFill>
              </a:rPr>
              <a:t>#3</a:t>
            </a:r>
          </a:p>
          <a:p>
            <a:pPr algn="ctr">
              <a:spcBef>
                <a:spcPts val="0"/>
              </a:spcBef>
            </a:pPr>
            <a:r>
              <a:rPr lang="sq-AL" sz="1100" b="0" dirty="0">
                <a:solidFill>
                  <a:srgbClr val="8B949E"/>
                </a:solidFill>
              </a:rPr>
              <a:t>Hashtag-ët</a:t>
            </a:r>
          </a:p>
        </p:txBody>
      </p:sp>
      <p:sp>
        <p:nvSpPr>
          <p:cNvPr id="844" name="c844"/>
          <p:cNvSpPr/>
          <p:nvPr/>
        </p:nvSpPr>
        <p:spPr>
          <a:xfrm>
            <a:off x="6350000" y="4978400"/>
            <a:ext cx="5003800" cy="1270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60A5FA"/>
            </a:solidFill>
          </a:ln>
        </p:spPr>
        <p:txBody>
          <a:bodyPr lIns="118872" tIns="100584" rIns="118872" bIns="100584" anchor="ctr"/>
          <a:lstStyle/>
          <a:p>
            <a:pPr algn="l">
              <a:spcBef>
                <a:spcPts val="0"/>
              </a:spcBef>
            </a:pPr>
            <a:r>
              <a:rPr lang="sq-AL" sz="1300" b="1" dirty="0">
                <a:solidFill>
                  <a:srgbClr val="60A5FA"/>
                </a:solidFill>
              </a:rPr>
              <a:t>Kontributi sipas kategorive</a:t>
            </a:r>
          </a:p>
          <a:p>
            <a:pPr algn="l">
              <a:spcBef>
                <a:spcPts val="300"/>
              </a:spcBef>
            </a:pPr>
            <a:r>
              <a:rPr lang="sq-AL" sz="1200" b="0" dirty="0">
                <a:solidFill>
                  <a:srgbClr val="C9D1D9"/>
                </a:solidFill>
              </a:rPr>
              <a:t>Sentiment+Tekst 68% · Kohor · Strukturë · Kategorike · Të tjera</a:t>
            </a:r>
          </a:p>
        </p:txBody>
      </p:sp>
      <p:graphicFrame>
        <p:nvGraphicFramePr>
          <p:cNvPr id="151" name="Chart 1"/>
          <p:cNvGraphicFramePr/>
          <p:nvPr/>
        </p:nvGraphicFramePr>
        <p:xfrm>
          <a:off x="762000" y="1905000"/>
          <a:ext cx="5334000" cy="438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82349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124B4-2D21-DE58-3247-95E470D6F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/>
              <a:t>Performanca sipas Platformës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DA89BE-EEFB-4AF2-AA7A-4F8F5449BAF4}"/>
              </a:ext>
            </a:extLst>
          </p:cNvPr>
          <p:cNvSpPr txBox="1"/>
          <p:nvPr/>
        </p:nvSpPr>
        <p:spPr>
          <a:xfrm>
            <a:off x="838200" y="1778000"/>
            <a:ext cx="10515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40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Pëlqime të parashikuara mesatare dhe shkalla virale për katër platformat kryesore.</a:t>
            </a:r>
          </a:p>
        </p:txBody>
      </p:sp>
      <p:sp>
        <p:nvSpPr>
          <p:cNvPr id="4" name="pcard0">
            <a:extLst>
              <a:ext uri="{FF2B5EF4-FFF2-40B4-BE49-F238E27FC236}">
                <a16:creationId xmlns:a16="http://schemas.microsoft.com/office/drawing/2014/main" id="{8E07A038-E870-4BCA-86DB-651E2BFBF217}"/>
              </a:ext>
            </a:extLst>
          </p:cNvPr>
          <p:cNvSpPr/>
          <p:nvPr/>
        </p:nvSpPr>
        <p:spPr>
          <a:xfrm>
            <a:off x="838200" y="2438400"/>
            <a:ext cx="2438400" cy="3810000"/>
          </a:xfrm>
          <a:prstGeom prst="roundRect">
            <a:avLst/>
          </a:prstGeom>
          <a:solidFill>
            <a:srgbClr val="161B22"/>
          </a:solidFill>
          <a:ln w="15875" cap="flat" cmpd="sng" algn="ctr">
            <a:solidFill>
              <a:srgbClr val="E1306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5" name="pstrip0">
            <a:extLst>
              <a:ext uri="{FF2B5EF4-FFF2-40B4-BE49-F238E27FC236}">
                <a16:creationId xmlns:a16="http://schemas.microsoft.com/office/drawing/2014/main" id="{A50C8A33-02C0-4169-A3B8-44426F4E4D34}"/>
              </a:ext>
            </a:extLst>
          </p:cNvPr>
          <p:cNvSpPr/>
          <p:nvPr/>
        </p:nvSpPr>
        <p:spPr>
          <a:xfrm>
            <a:off x="838200" y="2438400"/>
            <a:ext cx="2438400" cy="101600"/>
          </a:xfrm>
          <a:prstGeom prst="rect">
            <a:avLst/>
          </a:prstGeom>
          <a:solidFill>
            <a:srgbClr val="E1306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6" name="pcard1">
            <a:extLst>
              <a:ext uri="{FF2B5EF4-FFF2-40B4-BE49-F238E27FC236}">
                <a16:creationId xmlns:a16="http://schemas.microsoft.com/office/drawing/2014/main" id="{48A2AB93-D04E-482C-B72F-46D19F4032AA}"/>
              </a:ext>
            </a:extLst>
          </p:cNvPr>
          <p:cNvSpPr/>
          <p:nvPr/>
        </p:nvSpPr>
        <p:spPr>
          <a:xfrm>
            <a:off x="3581400" y="2438400"/>
            <a:ext cx="2438400" cy="3810000"/>
          </a:xfrm>
          <a:prstGeom prst="roundRect">
            <a:avLst/>
          </a:prstGeom>
          <a:solidFill>
            <a:srgbClr val="161B22"/>
          </a:solidFill>
          <a:ln w="15875" cap="flat" cmpd="sng" algn="ctr">
            <a:solidFill>
              <a:srgbClr val="0A66C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7" name="pstrip1">
            <a:extLst>
              <a:ext uri="{FF2B5EF4-FFF2-40B4-BE49-F238E27FC236}">
                <a16:creationId xmlns:a16="http://schemas.microsoft.com/office/drawing/2014/main" id="{B0BFA594-296A-4025-AC9E-0C6BE7C14E33}"/>
              </a:ext>
            </a:extLst>
          </p:cNvPr>
          <p:cNvSpPr/>
          <p:nvPr/>
        </p:nvSpPr>
        <p:spPr>
          <a:xfrm>
            <a:off x="3581400" y="2438400"/>
            <a:ext cx="2438400" cy="101600"/>
          </a:xfrm>
          <a:prstGeom prst="rect">
            <a:avLst/>
          </a:prstGeom>
          <a:solidFill>
            <a:srgbClr val="0A66C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8" name="pcard2">
            <a:extLst>
              <a:ext uri="{FF2B5EF4-FFF2-40B4-BE49-F238E27FC236}">
                <a16:creationId xmlns:a16="http://schemas.microsoft.com/office/drawing/2014/main" id="{7EC9BD96-F700-489A-B4CF-74E6F93D169C}"/>
              </a:ext>
            </a:extLst>
          </p:cNvPr>
          <p:cNvSpPr/>
          <p:nvPr/>
        </p:nvSpPr>
        <p:spPr>
          <a:xfrm>
            <a:off x="6324600" y="2438400"/>
            <a:ext cx="2438400" cy="3810000"/>
          </a:xfrm>
          <a:prstGeom prst="roundRect">
            <a:avLst/>
          </a:prstGeom>
          <a:solidFill>
            <a:srgbClr val="161B22"/>
          </a:solidFill>
          <a:ln w="15875" cap="flat" cmpd="sng" algn="ctr">
            <a:solidFill>
              <a:srgbClr val="1877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9" name="pstrip2">
            <a:extLst>
              <a:ext uri="{FF2B5EF4-FFF2-40B4-BE49-F238E27FC236}">
                <a16:creationId xmlns:a16="http://schemas.microsoft.com/office/drawing/2014/main" id="{DA6D7168-B3FA-4BAB-93C2-66A76D737CA7}"/>
              </a:ext>
            </a:extLst>
          </p:cNvPr>
          <p:cNvSpPr/>
          <p:nvPr/>
        </p:nvSpPr>
        <p:spPr>
          <a:xfrm>
            <a:off x="6324600" y="2438400"/>
            <a:ext cx="2438400" cy="101600"/>
          </a:xfrm>
          <a:prstGeom prst="rect">
            <a:avLst/>
          </a:prstGeom>
          <a:solidFill>
            <a:srgbClr val="1877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0" name="pcard3">
            <a:extLst>
              <a:ext uri="{FF2B5EF4-FFF2-40B4-BE49-F238E27FC236}">
                <a16:creationId xmlns:a16="http://schemas.microsoft.com/office/drawing/2014/main" id="{FC10AEFD-D7FC-4163-9EAC-3272631101B4}"/>
              </a:ext>
            </a:extLst>
          </p:cNvPr>
          <p:cNvSpPr/>
          <p:nvPr/>
        </p:nvSpPr>
        <p:spPr>
          <a:xfrm>
            <a:off x="9067800" y="2438400"/>
            <a:ext cx="2438400" cy="3810000"/>
          </a:xfrm>
          <a:prstGeom prst="roundRect">
            <a:avLst/>
          </a:prstGeom>
          <a:solidFill>
            <a:srgbClr val="161B22"/>
          </a:solidFill>
          <a:ln w="15875" cap="flat" cmpd="sng" algn="ctr">
            <a:solidFill>
              <a:srgbClr val="38BDF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1" name="pstrip3">
            <a:extLst>
              <a:ext uri="{FF2B5EF4-FFF2-40B4-BE49-F238E27FC236}">
                <a16:creationId xmlns:a16="http://schemas.microsoft.com/office/drawing/2014/main" id="{8BF3B218-F455-4BA1-9464-43D653FC7DFB}"/>
              </a:ext>
            </a:extLst>
          </p:cNvPr>
          <p:cNvSpPr/>
          <p:nvPr/>
        </p:nvSpPr>
        <p:spPr>
          <a:xfrm>
            <a:off x="9067800" y="2438400"/>
            <a:ext cx="2438400" cy="101600"/>
          </a:xfrm>
          <a:prstGeom prst="rect">
            <a:avLst/>
          </a:prstGeom>
          <a:solidFill>
            <a:srgbClr val="38B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pic>
        <p:nvPicPr>
          <p:cNvPr id="12" name="Graphic 12" descr="Instagram camer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51000" y="2667000"/>
            <a:ext cx="431800" cy="431800"/>
          </a:xfrm>
          <a:prstGeom prst="rect">
            <a:avLst/>
          </a:prstGeom>
        </p:spPr>
      </p:pic>
      <p:pic>
        <p:nvPicPr>
          <p:cNvPr id="13" name="Graphic 13" descr="LinkedIn briefc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4200" y="2667000"/>
            <a:ext cx="431800" cy="431800"/>
          </a:xfrm>
          <a:prstGeom prst="rect">
            <a:avLst/>
          </a:prstGeom>
        </p:spPr>
      </p:pic>
      <p:pic>
        <p:nvPicPr>
          <p:cNvPr id="14" name="Graphic 14" descr="Facebook peop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7400" y="2667000"/>
            <a:ext cx="431800" cy="431800"/>
          </a:xfrm>
          <a:prstGeom prst="rect">
            <a:avLst/>
          </a:prstGeom>
        </p:spPr>
      </p:pic>
      <p:pic>
        <p:nvPicPr>
          <p:cNvPr id="15" name="Graphic 15" descr="Twitter cha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80600" y="2667000"/>
            <a:ext cx="431800" cy="431800"/>
          </a:xfrm>
          <a:prstGeom prst="rect">
            <a:avLst/>
          </a:prstGeom>
        </p:spPr>
      </p:pic>
      <p:sp>
        <p:nvSpPr>
          <p:cNvPr id="16" name="pname0">
            <a:extLst>
              <a:ext uri="{FF2B5EF4-FFF2-40B4-BE49-F238E27FC236}">
                <a16:creationId xmlns:a16="http://schemas.microsoft.com/office/drawing/2014/main" id="{EA18D4A2-1551-490C-8D16-36E1678F6BE4}"/>
              </a:ext>
            </a:extLst>
          </p:cNvPr>
          <p:cNvSpPr txBox="1"/>
          <p:nvPr/>
        </p:nvSpPr>
        <p:spPr>
          <a:xfrm>
            <a:off x="939800" y="3073400"/>
            <a:ext cx="223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700" b="1">
                <a:solidFill>
                  <a:srgbClr val="E1306C"/>
                </a:solidFill>
                <a:latin typeface="Calibri"/>
                <a:ea typeface="Calibri"/>
                <a:cs typeface="Calibri"/>
              </a:rPr>
              <a:t>Instagram</a:t>
            </a:r>
          </a:p>
        </p:txBody>
      </p:sp>
      <p:sp>
        <p:nvSpPr>
          <p:cNvPr id="17" name="plbl0">
            <a:extLst>
              <a:ext uri="{FF2B5EF4-FFF2-40B4-BE49-F238E27FC236}">
                <a16:creationId xmlns:a16="http://schemas.microsoft.com/office/drawing/2014/main" id="{4C344A4E-F8BA-40E3-8B79-BC7820810B74}"/>
              </a:ext>
            </a:extLst>
          </p:cNvPr>
          <p:cNvSpPr txBox="1"/>
          <p:nvPr/>
        </p:nvSpPr>
        <p:spPr>
          <a:xfrm>
            <a:off x="939800" y="3530600"/>
            <a:ext cx="2235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Pëlqime të parashikuara</a:t>
            </a:r>
          </a:p>
        </p:txBody>
      </p:sp>
      <p:sp>
        <p:nvSpPr>
          <p:cNvPr id="18" name="pbig0">
            <a:extLst>
              <a:ext uri="{FF2B5EF4-FFF2-40B4-BE49-F238E27FC236}">
                <a16:creationId xmlns:a16="http://schemas.microsoft.com/office/drawing/2014/main" id="{1CA1E089-539B-4FA7-B7E6-418AFA19E847}"/>
              </a:ext>
            </a:extLst>
          </p:cNvPr>
          <p:cNvSpPr txBox="1"/>
          <p:nvPr/>
        </p:nvSpPr>
        <p:spPr>
          <a:xfrm>
            <a:off x="939800" y="3759200"/>
            <a:ext cx="22352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2600" b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340</a:t>
            </a:r>
          </a:p>
        </p:txBody>
      </p:sp>
      <p:sp>
        <p:nvSpPr>
          <p:cNvPr id="19" name="ptrack0">
            <a:extLst>
              <a:ext uri="{FF2B5EF4-FFF2-40B4-BE49-F238E27FC236}">
                <a16:creationId xmlns:a16="http://schemas.microsoft.com/office/drawing/2014/main" id="{51E5E27D-543A-4436-A4CC-72A3BDFF40B2}"/>
              </a:ext>
            </a:extLst>
          </p:cNvPr>
          <p:cNvSpPr/>
          <p:nvPr/>
        </p:nvSpPr>
        <p:spPr>
          <a:xfrm>
            <a:off x="1041400" y="4318000"/>
            <a:ext cx="2032000" cy="152400"/>
          </a:xfrm>
          <a:prstGeom prst="roundRect">
            <a:avLst/>
          </a:prstGeom>
          <a:solidFill>
            <a:srgbClr val="0D11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0" name="pbar0">
            <a:extLst>
              <a:ext uri="{FF2B5EF4-FFF2-40B4-BE49-F238E27FC236}">
                <a16:creationId xmlns:a16="http://schemas.microsoft.com/office/drawing/2014/main" id="{55E9E4DE-8A71-43A0-8172-569DECFCF57E}"/>
              </a:ext>
            </a:extLst>
          </p:cNvPr>
          <p:cNvSpPr/>
          <p:nvPr/>
        </p:nvSpPr>
        <p:spPr>
          <a:xfrm>
            <a:off x="1041400" y="4318000"/>
            <a:ext cx="2032000" cy="152400"/>
          </a:xfrm>
          <a:prstGeom prst="roundRect">
            <a:avLst/>
          </a:prstGeom>
          <a:solidFill>
            <a:srgbClr val="E1306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1" name="pvlbl0">
            <a:extLst>
              <a:ext uri="{FF2B5EF4-FFF2-40B4-BE49-F238E27FC236}">
                <a16:creationId xmlns:a16="http://schemas.microsoft.com/office/drawing/2014/main" id="{F2A5AC21-3322-4DA8-88BA-CF159DB9B27D}"/>
              </a:ext>
            </a:extLst>
          </p:cNvPr>
          <p:cNvSpPr txBox="1"/>
          <p:nvPr/>
        </p:nvSpPr>
        <p:spPr>
          <a:xfrm>
            <a:off x="939800" y="4673600"/>
            <a:ext cx="2235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Shkalla virale</a:t>
            </a:r>
          </a:p>
        </p:txBody>
      </p:sp>
      <p:sp>
        <p:nvSpPr>
          <p:cNvPr id="22" name="pvnum0">
            <a:extLst>
              <a:ext uri="{FF2B5EF4-FFF2-40B4-BE49-F238E27FC236}">
                <a16:creationId xmlns:a16="http://schemas.microsoft.com/office/drawing/2014/main" id="{A5453B2C-1731-4B24-9762-2A2F52E191A6}"/>
              </a:ext>
            </a:extLst>
          </p:cNvPr>
          <p:cNvSpPr txBox="1"/>
          <p:nvPr/>
        </p:nvSpPr>
        <p:spPr>
          <a:xfrm>
            <a:off x="939800" y="4876800"/>
            <a:ext cx="2235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2200" b="1">
                <a:solidFill>
                  <a:srgbClr val="E1306C"/>
                </a:solidFill>
                <a:latin typeface="Calibri"/>
                <a:ea typeface="Calibri"/>
                <a:cs typeface="Calibri"/>
              </a:rPr>
              <a:t>78%</a:t>
            </a:r>
          </a:p>
        </p:txBody>
      </p:sp>
      <p:sp>
        <p:nvSpPr>
          <p:cNvPr id="23" name="pbf0">
            <a:extLst>
              <a:ext uri="{FF2B5EF4-FFF2-40B4-BE49-F238E27FC236}">
                <a16:creationId xmlns:a16="http://schemas.microsoft.com/office/drawing/2014/main" id="{2911CF07-5827-4915-AB7A-F8EA665588F7}"/>
              </a:ext>
            </a:extLst>
          </p:cNvPr>
          <p:cNvSpPr txBox="1"/>
          <p:nvPr/>
        </p:nvSpPr>
        <p:spPr>
          <a:xfrm>
            <a:off x="965200" y="5359400"/>
            <a:ext cx="2184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Vizuale me emoji &amp; hashtagë</a:t>
            </a:r>
          </a:p>
        </p:txBody>
      </p:sp>
      <p:sp>
        <p:nvSpPr>
          <p:cNvPr id="24" name="pname1">
            <a:extLst>
              <a:ext uri="{FF2B5EF4-FFF2-40B4-BE49-F238E27FC236}">
                <a16:creationId xmlns:a16="http://schemas.microsoft.com/office/drawing/2014/main" id="{F5FD9BAF-7949-4393-8D56-59A927C14211}"/>
              </a:ext>
            </a:extLst>
          </p:cNvPr>
          <p:cNvSpPr txBox="1"/>
          <p:nvPr/>
        </p:nvSpPr>
        <p:spPr>
          <a:xfrm>
            <a:off x="3683000" y="3073400"/>
            <a:ext cx="223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700" b="1">
                <a:solidFill>
                  <a:srgbClr val="0A66C2"/>
                </a:solidFill>
                <a:latin typeface="Calibri"/>
                <a:ea typeface="Calibri"/>
                <a:cs typeface="Calibri"/>
              </a:rPr>
              <a:t>LinkedIn</a:t>
            </a:r>
          </a:p>
        </p:txBody>
      </p:sp>
      <p:sp>
        <p:nvSpPr>
          <p:cNvPr id="25" name="plbl1">
            <a:extLst>
              <a:ext uri="{FF2B5EF4-FFF2-40B4-BE49-F238E27FC236}">
                <a16:creationId xmlns:a16="http://schemas.microsoft.com/office/drawing/2014/main" id="{8B7C0EE8-C68E-4AEC-84CA-15F664C51C04}"/>
              </a:ext>
            </a:extLst>
          </p:cNvPr>
          <p:cNvSpPr txBox="1"/>
          <p:nvPr/>
        </p:nvSpPr>
        <p:spPr>
          <a:xfrm>
            <a:off x="3683000" y="3530600"/>
            <a:ext cx="2235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Pëlqime të parashikuara</a:t>
            </a:r>
          </a:p>
        </p:txBody>
      </p:sp>
      <p:sp>
        <p:nvSpPr>
          <p:cNvPr id="26" name="pbig1">
            <a:extLst>
              <a:ext uri="{FF2B5EF4-FFF2-40B4-BE49-F238E27FC236}">
                <a16:creationId xmlns:a16="http://schemas.microsoft.com/office/drawing/2014/main" id="{509E61BA-E64B-47B8-A372-E21263287CD2}"/>
              </a:ext>
            </a:extLst>
          </p:cNvPr>
          <p:cNvSpPr txBox="1"/>
          <p:nvPr/>
        </p:nvSpPr>
        <p:spPr>
          <a:xfrm>
            <a:off x="3683000" y="3759200"/>
            <a:ext cx="22352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2600" b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240</a:t>
            </a:r>
          </a:p>
        </p:txBody>
      </p:sp>
      <p:sp>
        <p:nvSpPr>
          <p:cNvPr id="27" name="ptrack1">
            <a:extLst>
              <a:ext uri="{FF2B5EF4-FFF2-40B4-BE49-F238E27FC236}">
                <a16:creationId xmlns:a16="http://schemas.microsoft.com/office/drawing/2014/main" id="{32AA91AF-45C8-4EDD-87E8-007284EA5473}"/>
              </a:ext>
            </a:extLst>
          </p:cNvPr>
          <p:cNvSpPr/>
          <p:nvPr/>
        </p:nvSpPr>
        <p:spPr>
          <a:xfrm>
            <a:off x="3784600" y="4318000"/>
            <a:ext cx="2032000" cy="152400"/>
          </a:xfrm>
          <a:prstGeom prst="roundRect">
            <a:avLst/>
          </a:prstGeom>
          <a:solidFill>
            <a:srgbClr val="0D11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8" name="pbar1">
            <a:extLst>
              <a:ext uri="{FF2B5EF4-FFF2-40B4-BE49-F238E27FC236}">
                <a16:creationId xmlns:a16="http://schemas.microsoft.com/office/drawing/2014/main" id="{3B05F5C1-B412-4FEC-A01B-84783BABB3BB}"/>
              </a:ext>
            </a:extLst>
          </p:cNvPr>
          <p:cNvSpPr/>
          <p:nvPr/>
        </p:nvSpPr>
        <p:spPr>
          <a:xfrm>
            <a:off x="3784600" y="4318000"/>
            <a:ext cx="1435100" cy="152400"/>
          </a:xfrm>
          <a:prstGeom prst="roundRect">
            <a:avLst/>
          </a:prstGeom>
          <a:solidFill>
            <a:srgbClr val="0A66C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9" name="pvlbl1">
            <a:extLst>
              <a:ext uri="{FF2B5EF4-FFF2-40B4-BE49-F238E27FC236}">
                <a16:creationId xmlns:a16="http://schemas.microsoft.com/office/drawing/2014/main" id="{CFCC0F47-F95C-4F1B-944F-FDA6265AA702}"/>
              </a:ext>
            </a:extLst>
          </p:cNvPr>
          <p:cNvSpPr txBox="1"/>
          <p:nvPr/>
        </p:nvSpPr>
        <p:spPr>
          <a:xfrm>
            <a:off x="3683000" y="4673600"/>
            <a:ext cx="2235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Shkalla virale</a:t>
            </a:r>
          </a:p>
        </p:txBody>
      </p:sp>
      <p:sp>
        <p:nvSpPr>
          <p:cNvPr id="30" name="pvnum1">
            <a:extLst>
              <a:ext uri="{FF2B5EF4-FFF2-40B4-BE49-F238E27FC236}">
                <a16:creationId xmlns:a16="http://schemas.microsoft.com/office/drawing/2014/main" id="{20ABF02C-1D18-41A6-A3C3-607EB7ECFE3D}"/>
              </a:ext>
            </a:extLst>
          </p:cNvPr>
          <p:cNvSpPr txBox="1"/>
          <p:nvPr/>
        </p:nvSpPr>
        <p:spPr>
          <a:xfrm>
            <a:off x="3683000" y="4876800"/>
            <a:ext cx="2235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2200" b="1">
                <a:solidFill>
                  <a:srgbClr val="0A66C2"/>
                </a:solidFill>
                <a:latin typeface="Calibri"/>
                <a:ea typeface="Calibri"/>
                <a:cs typeface="Calibri"/>
              </a:rPr>
              <a:t>65%</a:t>
            </a:r>
          </a:p>
        </p:txBody>
      </p:sp>
      <p:sp>
        <p:nvSpPr>
          <p:cNvPr id="31" name="pbf1">
            <a:extLst>
              <a:ext uri="{FF2B5EF4-FFF2-40B4-BE49-F238E27FC236}">
                <a16:creationId xmlns:a16="http://schemas.microsoft.com/office/drawing/2014/main" id="{22DEA0D7-2FC7-4A03-BA49-2E18E05ABAAB}"/>
              </a:ext>
            </a:extLst>
          </p:cNvPr>
          <p:cNvSpPr txBox="1"/>
          <p:nvPr/>
        </p:nvSpPr>
        <p:spPr>
          <a:xfrm>
            <a:off x="3708400" y="5359400"/>
            <a:ext cx="2184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Profesionale me fjalë kyçe</a:t>
            </a:r>
          </a:p>
        </p:txBody>
      </p:sp>
      <p:sp>
        <p:nvSpPr>
          <p:cNvPr id="32" name="pname2">
            <a:extLst>
              <a:ext uri="{FF2B5EF4-FFF2-40B4-BE49-F238E27FC236}">
                <a16:creationId xmlns:a16="http://schemas.microsoft.com/office/drawing/2014/main" id="{836EADE8-A347-48D6-A234-F7A442A833C3}"/>
              </a:ext>
            </a:extLst>
          </p:cNvPr>
          <p:cNvSpPr txBox="1"/>
          <p:nvPr/>
        </p:nvSpPr>
        <p:spPr>
          <a:xfrm>
            <a:off x="6426200" y="3073400"/>
            <a:ext cx="223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700" b="1">
                <a:solidFill>
                  <a:srgbClr val="1877F2"/>
                </a:solidFill>
                <a:latin typeface="Calibri"/>
                <a:ea typeface="Calibri"/>
                <a:cs typeface="Calibri"/>
              </a:rPr>
              <a:t>Facebook</a:t>
            </a:r>
          </a:p>
        </p:txBody>
      </p:sp>
      <p:sp>
        <p:nvSpPr>
          <p:cNvPr id="33" name="plbl2">
            <a:extLst>
              <a:ext uri="{FF2B5EF4-FFF2-40B4-BE49-F238E27FC236}">
                <a16:creationId xmlns:a16="http://schemas.microsoft.com/office/drawing/2014/main" id="{39CF2589-C381-4965-AEAF-7DD1FC3F1C0F}"/>
              </a:ext>
            </a:extLst>
          </p:cNvPr>
          <p:cNvSpPr txBox="1"/>
          <p:nvPr/>
        </p:nvSpPr>
        <p:spPr>
          <a:xfrm>
            <a:off x="6426200" y="3530600"/>
            <a:ext cx="2235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Pëlqime të parashikuara</a:t>
            </a:r>
          </a:p>
        </p:txBody>
      </p:sp>
      <p:sp>
        <p:nvSpPr>
          <p:cNvPr id="34" name="pbig2">
            <a:extLst>
              <a:ext uri="{FF2B5EF4-FFF2-40B4-BE49-F238E27FC236}">
                <a16:creationId xmlns:a16="http://schemas.microsoft.com/office/drawing/2014/main" id="{B91750D2-7881-4131-993C-49EC19DABE19}"/>
              </a:ext>
            </a:extLst>
          </p:cNvPr>
          <p:cNvSpPr txBox="1"/>
          <p:nvPr/>
        </p:nvSpPr>
        <p:spPr>
          <a:xfrm>
            <a:off x="6426200" y="3759200"/>
            <a:ext cx="22352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2600" b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280</a:t>
            </a:r>
          </a:p>
        </p:txBody>
      </p:sp>
      <p:sp>
        <p:nvSpPr>
          <p:cNvPr id="35" name="ptrack2">
            <a:extLst>
              <a:ext uri="{FF2B5EF4-FFF2-40B4-BE49-F238E27FC236}">
                <a16:creationId xmlns:a16="http://schemas.microsoft.com/office/drawing/2014/main" id="{48AAB402-4D68-4DA3-9030-45F1728424BF}"/>
              </a:ext>
            </a:extLst>
          </p:cNvPr>
          <p:cNvSpPr/>
          <p:nvPr/>
        </p:nvSpPr>
        <p:spPr>
          <a:xfrm>
            <a:off x="6527800" y="4318000"/>
            <a:ext cx="2032000" cy="152400"/>
          </a:xfrm>
          <a:prstGeom prst="roundRect">
            <a:avLst/>
          </a:prstGeom>
          <a:solidFill>
            <a:srgbClr val="0D11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36" name="pbar2">
            <a:extLst>
              <a:ext uri="{FF2B5EF4-FFF2-40B4-BE49-F238E27FC236}">
                <a16:creationId xmlns:a16="http://schemas.microsoft.com/office/drawing/2014/main" id="{250B55F5-A498-465F-B30C-2E3A159CA152}"/>
              </a:ext>
            </a:extLst>
          </p:cNvPr>
          <p:cNvSpPr/>
          <p:nvPr/>
        </p:nvSpPr>
        <p:spPr>
          <a:xfrm>
            <a:off x="6527800" y="4318000"/>
            <a:ext cx="1676400" cy="152400"/>
          </a:xfrm>
          <a:prstGeom prst="roundRect">
            <a:avLst/>
          </a:prstGeom>
          <a:solidFill>
            <a:srgbClr val="1877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37" name="pvlbl2">
            <a:extLst>
              <a:ext uri="{FF2B5EF4-FFF2-40B4-BE49-F238E27FC236}">
                <a16:creationId xmlns:a16="http://schemas.microsoft.com/office/drawing/2014/main" id="{69808B7C-BAC6-4942-98B0-1F3A48841461}"/>
              </a:ext>
            </a:extLst>
          </p:cNvPr>
          <p:cNvSpPr txBox="1"/>
          <p:nvPr/>
        </p:nvSpPr>
        <p:spPr>
          <a:xfrm>
            <a:off x="6426200" y="4673600"/>
            <a:ext cx="2235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Shkalla virale</a:t>
            </a:r>
          </a:p>
        </p:txBody>
      </p:sp>
      <p:sp>
        <p:nvSpPr>
          <p:cNvPr id="38" name="pvnum2">
            <a:extLst>
              <a:ext uri="{FF2B5EF4-FFF2-40B4-BE49-F238E27FC236}">
                <a16:creationId xmlns:a16="http://schemas.microsoft.com/office/drawing/2014/main" id="{33365259-CF7A-46EF-898A-ED8562ABB7F8}"/>
              </a:ext>
            </a:extLst>
          </p:cNvPr>
          <p:cNvSpPr txBox="1"/>
          <p:nvPr/>
        </p:nvSpPr>
        <p:spPr>
          <a:xfrm>
            <a:off x="6426200" y="4876800"/>
            <a:ext cx="2235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2200" b="1">
                <a:solidFill>
                  <a:srgbClr val="1877F2"/>
                </a:solidFill>
                <a:latin typeface="Calibri"/>
                <a:ea typeface="Calibri"/>
                <a:cs typeface="Calibri"/>
              </a:rPr>
              <a:t>68%</a:t>
            </a:r>
          </a:p>
        </p:txBody>
      </p:sp>
      <p:sp>
        <p:nvSpPr>
          <p:cNvPr id="39" name="pbf2">
            <a:extLst>
              <a:ext uri="{FF2B5EF4-FFF2-40B4-BE49-F238E27FC236}">
                <a16:creationId xmlns:a16="http://schemas.microsoft.com/office/drawing/2014/main" id="{71F0A541-F48F-4DF3-A480-59DBE1287F43}"/>
              </a:ext>
            </a:extLst>
          </p:cNvPr>
          <p:cNvSpPr txBox="1"/>
          <p:nvPr/>
        </p:nvSpPr>
        <p:spPr>
          <a:xfrm>
            <a:off x="6451600" y="5359400"/>
            <a:ext cx="2184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E gjatë me multimedia</a:t>
            </a:r>
          </a:p>
        </p:txBody>
      </p:sp>
      <p:sp>
        <p:nvSpPr>
          <p:cNvPr id="40" name="pname3">
            <a:extLst>
              <a:ext uri="{FF2B5EF4-FFF2-40B4-BE49-F238E27FC236}">
                <a16:creationId xmlns:a16="http://schemas.microsoft.com/office/drawing/2014/main" id="{D3B3BE4B-EE69-4052-9546-A4C2C41E4A6F}"/>
              </a:ext>
            </a:extLst>
          </p:cNvPr>
          <p:cNvSpPr txBox="1"/>
          <p:nvPr/>
        </p:nvSpPr>
        <p:spPr>
          <a:xfrm>
            <a:off x="9169400" y="3073400"/>
            <a:ext cx="223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7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Twitter</a:t>
            </a:r>
          </a:p>
        </p:txBody>
      </p:sp>
      <p:sp>
        <p:nvSpPr>
          <p:cNvPr id="41" name="plbl3">
            <a:extLst>
              <a:ext uri="{FF2B5EF4-FFF2-40B4-BE49-F238E27FC236}">
                <a16:creationId xmlns:a16="http://schemas.microsoft.com/office/drawing/2014/main" id="{592612AC-6F83-4144-857D-12364328C140}"/>
              </a:ext>
            </a:extLst>
          </p:cNvPr>
          <p:cNvSpPr txBox="1"/>
          <p:nvPr/>
        </p:nvSpPr>
        <p:spPr>
          <a:xfrm>
            <a:off x="9169400" y="3530600"/>
            <a:ext cx="2235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Pëlqime të parashikuara</a:t>
            </a:r>
          </a:p>
        </p:txBody>
      </p:sp>
      <p:sp>
        <p:nvSpPr>
          <p:cNvPr id="42" name="pbig3">
            <a:extLst>
              <a:ext uri="{FF2B5EF4-FFF2-40B4-BE49-F238E27FC236}">
                <a16:creationId xmlns:a16="http://schemas.microsoft.com/office/drawing/2014/main" id="{B575D8C0-9867-481C-AFC8-A1C0B6E723E4}"/>
              </a:ext>
            </a:extLst>
          </p:cNvPr>
          <p:cNvSpPr txBox="1"/>
          <p:nvPr/>
        </p:nvSpPr>
        <p:spPr>
          <a:xfrm>
            <a:off x="9169400" y="3759200"/>
            <a:ext cx="22352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2600" b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160</a:t>
            </a:r>
          </a:p>
        </p:txBody>
      </p:sp>
      <p:sp>
        <p:nvSpPr>
          <p:cNvPr id="43" name="ptrack3">
            <a:extLst>
              <a:ext uri="{FF2B5EF4-FFF2-40B4-BE49-F238E27FC236}">
                <a16:creationId xmlns:a16="http://schemas.microsoft.com/office/drawing/2014/main" id="{0956C186-0103-4EE0-8C33-749518E725F7}"/>
              </a:ext>
            </a:extLst>
          </p:cNvPr>
          <p:cNvSpPr/>
          <p:nvPr/>
        </p:nvSpPr>
        <p:spPr>
          <a:xfrm>
            <a:off x="9271000" y="4318000"/>
            <a:ext cx="2032000" cy="152400"/>
          </a:xfrm>
          <a:prstGeom prst="roundRect">
            <a:avLst/>
          </a:prstGeom>
          <a:solidFill>
            <a:srgbClr val="0D11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44" name="pbar3">
            <a:extLst>
              <a:ext uri="{FF2B5EF4-FFF2-40B4-BE49-F238E27FC236}">
                <a16:creationId xmlns:a16="http://schemas.microsoft.com/office/drawing/2014/main" id="{910631AC-FBB6-4D96-9A58-BE2CC1696B2E}"/>
              </a:ext>
            </a:extLst>
          </p:cNvPr>
          <p:cNvSpPr/>
          <p:nvPr/>
        </p:nvSpPr>
        <p:spPr>
          <a:xfrm>
            <a:off x="9271000" y="4318000"/>
            <a:ext cx="952500" cy="152400"/>
          </a:xfrm>
          <a:prstGeom prst="roundRect">
            <a:avLst/>
          </a:prstGeom>
          <a:solidFill>
            <a:srgbClr val="38BD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45" name="pvlbl3">
            <a:extLst>
              <a:ext uri="{FF2B5EF4-FFF2-40B4-BE49-F238E27FC236}">
                <a16:creationId xmlns:a16="http://schemas.microsoft.com/office/drawing/2014/main" id="{E59B25E6-EE44-49E0-AAEA-D5F6B03AE06A}"/>
              </a:ext>
            </a:extLst>
          </p:cNvPr>
          <p:cNvSpPr txBox="1"/>
          <p:nvPr/>
        </p:nvSpPr>
        <p:spPr>
          <a:xfrm>
            <a:off x="9169400" y="4673600"/>
            <a:ext cx="2235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Shkalla virale</a:t>
            </a:r>
          </a:p>
        </p:txBody>
      </p:sp>
      <p:sp>
        <p:nvSpPr>
          <p:cNvPr id="46" name="pvnum3">
            <a:extLst>
              <a:ext uri="{FF2B5EF4-FFF2-40B4-BE49-F238E27FC236}">
                <a16:creationId xmlns:a16="http://schemas.microsoft.com/office/drawing/2014/main" id="{DBADC1BD-70F7-40F7-B1B3-226189F931D9}"/>
              </a:ext>
            </a:extLst>
          </p:cNvPr>
          <p:cNvSpPr txBox="1"/>
          <p:nvPr/>
        </p:nvSpPr>
        <p:spPr>
          <a:xfrm>
            <a:off x="9169400" y="4876800"/>
            <a:ext cx="2235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2200" b="1">
                <a:solidFill>
                  <a:srgbClr val="38BDF8"/>
                </a:solidFill>
                <a:latin typeface="Calibri"/>
                <a:ea typeface="Calibri"/>
                <a:cs typeface="Calibri"/>
              </a:rPr>
              <a:t>52%</a:t>
            </a:r>
          </a:p>
        </p:txBody>
      </p:sp>
      <p:sp>
        <p:nvSpPr>
          <p:cNvPr id="47" name="pbf3">
            <a:extLst>
              <a:ext uri="{FF2B5EF4-FFF2-40B4-BE49-F238E27FC236}">
                <a16:creationId xmlns:a16="http://schemas.microsoft.com/office/drawing/2014/main" id="{BAF90B5D-0E40-4A09-B180-70F0BBD67FFF}"/>
              </a:ext>
            </a:extLst>
          </p:cNvPr>
          <p:cNvSpPr txBox="1"/>
          <p:nvPr/>
        </p:nvSpPr>
        <p:spPr>
          <a:xfrm>
            <a:off x="9194800" y="5359400"/>
            <a:ext cx="2184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E shkurtër, bisedore</a:t>
            </a:r>
          </a:p>
        </p:txBody>
      </p:sp>
    </p:spTree>
    <p:extLst>
      <p:ext uri="{BB962C8B-B14F-4D97-AF65-F5344CB8AC3E}">
        <p14:creationId xmlns:p14="http://schemas.microsoft.com/office/powerpoint/2010/main" val="2415965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4B8A6-E785-026D-E8B4-AE81D55A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/>
              <a:t>Modeli në Veprim · Shembuj Parashikimi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327F93-4207-4056-B03C-FBE1E72813D3}"/>
              </a:ext>
            </a:extLst>
          </p:cNvPr>
          <p:cNvSpPr txBox="1"/>
          <p:nvPr/>
        </p:nvSpPr>
        <p:spPr>
          <a:xfrm>
            <a:off x="838200" y="1778000"/>
            <a:ext cx="10515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40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Dy postime të paparashikuara të kaluara nëpër modelin CatBoost — vetëm me informacion para-publikues.</a:t>
            </a:r>
          </a:p>
        </p:txBody>
      </p:sp>
      <p:sp>
        <p:nvSpPr>
          <p:cNvPr id="4" name="ex0">
            <a:extLst>
              <a:ext uri="{FF2B5EF4-FFF2-40B4-BE49-F238E27FC236}">
                <a16:creationId xmlns:a16="http://schemas.microsoft.com/office/drawing/2014/main" id="{06DF13C8-2ADB-48AB-A308-AE86711C5727}"/>
              </a:ext>
            </a:extLst>
          </p:cNvPr>
          <p:cNvSpPr/>
          <p:nvPr/>
        </p:nvSpPr>
        <p:spPr>
          <a:xfrm>
            <a:off x="838200" y="2362200"/>
            <a:ext cx="5029200" cy="3987800"/>
          </a:xfrm>
          <a:prstGeom prst="roundRect">
            <a:avLst/>
          </a:prstGeom>
          <a:solidFill>
            <a:srgbClr val="161B22"/>
          </a:solidFill>
          <a:ln w="15875" cap="flat" cmpd="sng" algn="ctr">
            <a:solidFill>
              <a:srgbClr val="22D3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5" name="exstrip0">
            <a:extLst>
              <a:ext uri="{FF2B5EF4-FFF2-40B4-BE49-F238E27FC236}">
                <a16:creationId xmlns:a16="http://schemas.microsoft.com/office/drawing/2014/main" id="{CFDF943D-9E62-4BD7-87B2-B376439D4DF8}"/>
              </a:ext>
            </a:extLst>
          </p:cNvPr>
          <p:cNvSpPr/>
          <p:nvPr/>
        </p:nvSpPr>
        <p:spPr>
          <a:xfrm>
            <a:off x="838200" y="2362200"/>
            <a:ext cx="5029200" cy="1016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6" name="ex1">
            <a:extLst>
              <a:ext uri="{FF2B5EF4-FFF2-40B4-BE49-F238E27FC236}">
                <a16:creationId xmlns:a16="http://schemas.microsoft.com/office/drawing/2014/main" id="{36BB183D-E4E6-470F-AEF7-FC5675D1DA32}"/>
              </a:ext>
            </a:extLst>
          </p:cNvPr>
          <p:cNvSpPr/>
          <p:nvPr/>
        </p:nvSpPr>
        <p:spPr>
          <a:xfrm>
            <a:off x="6324600" y="2362200"/>
            <a:ext cx="5029200" cy="3987800"/>
          </a:xfrm>
          <a:prstGeom prst="roundRect">
            <a:avLst/>
          </a:prstGeom>
          <a:solidFill>
            <a:srgbClr val="161B22"/>
          </a:solidFill>
          <a:ln w="15875" cap="flat" cmpd="sng" algn="ctr">
            <a:solidFill>
              <a:srgbClr val="A78B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7" name="exstrip1">
            <a:extLst>
              <a:ext uri="{FF2B5EF4-FFF2-40B4-BE49-F238E27FC236}">
                <a16:creationId xmlns:a16="http://schemas.microsoft.com/office/drawing/2014/main" id="{942E55AC-BCF9-418A-A84C-D390F86715F1}"/>
              </a:ext>
            </a:extLst>
          </p:cNvPr>
          <p:cNvSpPr/>
          <p:nvPr/>
        </p:nvSpPr>
        <p:spPr>
          <a:xfrm>
            <a:off x="6324600" y="2362200"/>
            <a:ext cx="5029200" cy="101600"/>
          </a:xfrm>
          <a:prstGeom prst="rect">
            <a:avLst/>
          </a:prstGeom>
          <a:solidFill>
            <a:srgbClr val="A78B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1F9690-E28A-4138-AB4E-74E87E4CE41A}"/>
              </a:ext>
            </a:extLst>
          </p:cNvPr>
          <p:cNvSpPr txBox="1"/>
          <p:nvPr/>
        </p:nvSpPr>
        <p:spPr>
          <a:xfrm>
            <a:off x="1066800" y="26162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5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Instagram · Imazh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D389C0-7176-481E-BAB2-D70D8381CB6C}"/>
              </a:ext>
            </a:extLst>
          </p:cNvPr>
          <p:cNvSpPr txBox="1"/>
          <p:nvPr/>
        </p:nvSpPr>
        <p:spPr>
          <a:xfrm>
            <a:off x="1066800" y="2971800"/>
            <a:ext cx="4572000" cy="4770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sq-AL" sz="1250" i="1" dirty="0">
                <a:solidFill>
                  <a:srgbClr val="C9D1D9"/>
                </a:solidFill>
                <a:latin typeface="Calibri"/>
              </a:rPr>
              <a:t>“Perëndim i mrekullueshëm në plazh! 🌅 #travel #adventure #nature”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7DA801-EE00-4303-9DD3-19F43F07E075}"/>
              </a:ext>
            </a:extLst>
          </p:cNvPr>
          <p:cNvSpPr/>
          <p:nvPr/>
        </p:nvSpPr>
        <p:spPr>
          <a:xfrm>
            <a:off x="1066800" y="3708400"/>
            <a:ext cx="2209800" cy="635000"/>
          </a:xfrm>
          <a:prstGeom prst="roundRect">
            <a:avLst/>
          </a:prstGeom>
          <a:solidFill>
            <a:srgbClr val="0D11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4194E1-0391-49A9-BE69-D11E0532BD94}"/>
              </a:ext>
            </a:extLst>
          </p:cNvPr>
          <p:cNvSpPr txBox="1"/>
          <p:nvPr/>
        </p:nvSpPr>
        <p:spPr>
          <a:xfrm>
            <a:off x="1193800" y="3784600"/>
            <a:ext cx="1955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0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Pëlqime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DF7E3C-6C61-4C2B-AB10-9E630A7E6A85}"/>
              </a:ext>
            </a:extLst>
          </p:cNvPr>
          <p:cNvSpPr txBox="1"/>
          <p:nvPr/>
        </p:nvSpPr>
        <p:spPr>
          <a:xfrm>
            <a:off x="1193800" y="3937000"/>
            <a:ext cx="1955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900" b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342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117DC3-BE75-45E9-82AF-F981C7801550}"/>
              </a:ext>
            </a:extLst>
          </p:cNvPr>
          <p:cNvSpPr txBox="1"/>
          <p:nvPr/>
        </p:nvSpPr>
        <p:spPr>
          <a:xfrm>
            <a:off x="2286000" y="39878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±78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DBD90C-D0F4-4E27-8D58-227BF9F3F9B8}"/>
              </a:ext>
            </a:extLst>
          </p:cNvPr>
          <p:cNvSpPr/>
          <p:nvPr/>
        </p:nvSpPr>
        <p:spPr>
          <a:xfrm>
            <a:off x="3429000" y="3708400"/>
            <a:ext cx="2209800" cy="635000"/>
          </a:xfrm>
          <a:prstGeom prst="roundRect">
            <a:avLst/>
          </a:prstGeom>
          <a:solidFill>
            <a:srgbClr val="0D11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A3F6B1-6EAF-40AF-BE29-EBFDC075790A}"/>
              </a:ext>
            </a:extLst>
          </p:cNvPr>
          <p:cNvSpPr txBox="1"/>
          <p:nvPr/>
        </p:nvSpPr>
        <p:spPr>
          <a:xfrm>
            <a:off x="3556000" y="3784600"/>
            <a:ext cx="1955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0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Komente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03838E-E94E-4C1A-902C-D030972B7568}"/>
              </a:ext>
            </a:extLst>
          </p:cNvPr>
          <p:cNvSpPr txBox="1"/>
          <p:nvPr/>
        </p:nvSpPr>
        <p:spPr>
          <a:xfrm>
            <a:off x="3556000" y="3937000"/>
            <a:ext cx="1955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900" b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9D7207-6215-47C5-9301-ED3AD33DB7C5}"/>
              </a:ext>
            </a:extLst>
          </p:cNvPr>
          <p:cNvSpPr txBox="1"/>
          <p:nvPr/>
        </p:nvSpPr>
        <p:spPr>
          <a:xfrm>
            <a:off x="4648200" y="39878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±6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D3963FD-E4A2-41AC-ABD2-49350BCB6F36}"/>
              </a:ext>
            </a:extLst>
          </p:cNvPr>
          <p:cNvSpPr/>
          <p:nvPr/>
        </p:nvSpPr>
        <p:spPr>
          <a:xfrm>
            <a:off x="1066800" y="4470400"/>
            <a:ext cx="2209800" cy="635000"/>
          </a:xfrm>
          <a:prstGeom prst="roundRect">
            <a:avLst/>
          </a:prstGeom>
          <a:solidFill>
            <a:srgbClr val="0D11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961F4F-5320-4A3D-95F8-450F0AF25677}"/>
              </a:ext>
            </a:extLst>
          </p:cNvPr>
          <p:cNvSpPr txBox="1"/>
          <p:nvPr/>
        </p:nvSpPr>
        <p:spPr>
          <a:xfrm>
            <a:off x="1193800" y="4546600"/>
            <a:ext cx="1955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0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Eng. Rate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3EFF36-F12B-4BEC-A8A3-3E1F8848860E}"/>
              </a:ext>
            </a:extLst>
          </p:cNvPr>
          <p:cNvSpPr txBox="1"/>
          <p:nvPr/>
        </p:nvSpPr>
        <p:spPr>
          <a:xfrm>
            <a:off x="1193800" y="4699000"/>
            <a:ext cx="1955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900" b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8.4%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6BBA97-7349-4B01-8803-04EAB36CFBE4}"/>
              </a:ext>
            </a:extLst>
          </p:cNvPr>
          <p:cNvSpPr txBox="1"/>
          <p:nvPr/>
        </p:nvSpPr>
        <p:spPr>
          <a:xfrm>
            <a:off x="2286000" y="47498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Viral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1BB1527-86F7-4B3D-9A6C-AACCABF8BF09}"/>
              </a:ext>
            </a:extLst>
          </p:cNvPr>
          <p:cNvSpPr/>
          <p:nvPr/>
        </p:nvSpPr>
        <p:spPr>
          <a:xfrm>
            <a:off x="3429000" y="4470400"/>
            <a:ext cx="2209800" cy="635000"/>
          </a:xfrm>
          <a:prstGeom prst="roundRect">
            <a:avLst/>
          </a:prstGeom>
          <a:solidFill>
            <a:srgbClr val="0D11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6D9918-9845-45E7-BE4F-5BAA836B8831}"/>
              </a:ext>
            </a:extLst>
          </p:cNvPr>
          <p:cNvSpPr txBox="1"/>
          <p:nvPr/>
        </p:nvSpPr>
        <p:spPr>
          <a:xfrm>
            <a:off x="3556000" y="4546600"/>
            <a:ext cx="1955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0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Prob. Virale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19C0EB-A5D8-4E19-A4FB-35B505409D02}"/>
              </a:ext>
            </a:extLst>
          </p:cNvPr>
          <p:cNvSpPr txBox="1"/>
          <p:nvPr/>
        </p:nvSpPr>
        <p:spPr>
          <a:xfrm>
            <a:off x="3556000" y="4699000"/>
            <a:ext cx="1955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900" b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78%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D25C5-1A8E-4AEB-A6A5-1FBDA3C74A0E}"/>
              </a:ext>
            </a:extLst>
          </p:cNvPr>
          <p:cNvSpPr txBox="1"/>
          <p:nvPr/>
        </p:nvSpPr>
        <p:spPr>
          <a:xfrm>
            <a:off x="4648200" y="47498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★★★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A59B5C-C01B-45F5-8BCF-4267052F91B2}"/>
              </a:ext>
            </a:extLst>
          </p:cNvPr>
          <p:cNvSpPr/>
          <p:nvPr/>
        </p:nvSpPr>
        <p:spPr>
          <a:xfrm>
            <a:off x="1066800" y="5257800"/>
            <a:ext cx="4572000" cy="12700"/>
          </a:xfrm>
          <a:prstGeom prst="rect">
            <a:avLst/>
          </a:prstGeom>
          <a:solidFill>
            <a:srgbClr val="3036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BAC2C9-B866-4931-BDA1-AF99F17D7915}"/>
              </a:ext>
            </a:extLst>
          </p:cNvPr>
          <p:cNvSpPr txBox="1"/>
          <p:nvPr/>
        </p:nvSpPr>
        <p:spPr>
          <a:xfrm>
            <a:off x="1066800" y="5359400"/>
            <a:ext cx="457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2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🎯 Kohë optimale: 18:00–20:00 — potencial i fortë viral</a:t>
            </a:r>
            <a:endParaRPr lang="sq-AL" sz="1200">
              <a:solidFill>
                <a:srgbClr val="E6EDF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4CCC31-CEFE-489D-8D6F-79AD6D8EBC2F}"/>
              </a:ext>
            </a:extLst>
          </p:cNvPr>
          <p:cNvSpPr txBox="1"/>
          <p:nvPr/>
        </p:nvSpPr>
        <p:spPr>
          <a:xfrm>
            <a:off x="6553200" y="26162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500" b="1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LinkedIn · Artikull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90E43E-3D3E-4B9E-9AD4-F5AB60C86D1E}"/>
              </a:ext>
            </a:extLst>
          </p:cNvPr>
          <p:cNvSpPr txBox="1"/>
          <p:nvPr/>
        </p:nvSpPr>
        <p:spPr>
          <a:xfrm>
            <a:off x="6553200" y="2971800"/>
            <a:ext cx="4572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250" i="1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“5 Trendet e AI që formojnë 2026 #AI #Technology #Innovation”</a:t>
            </a:r>
            <a:endParaRPr lang="sq-AL" sz="1250" i="1">
              <a:solidFill>
                <a:srgbClr val="C9D1D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3516714-B0F5-4840-B019-C44C274A6625}"/>
              </a:ext>
            </a:extLst>
          </p:cNvPr>
          <p:cNvSpPr/>
          <p:nvPr/>
        </p:nvSpPr>
        <p:spPr>
          <a:xfrm>
            <a:off x="6553200" y="3708400"/>
            <a:ext cx="2209800" cy="635000"/>
          </a:xfrm>
          <a:prstGeom prst="roundRect">
            <a:avLst/>
          </a:prstGeom>
          <a:solidFill>
            <a:srgbClr val="0D11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E08CAB-DF64-4422-8545-D7B2D7EABD4F}"/>
              </a:ext>
            </a:extLst>
          </p:cNvPr>
          <p:cNvSpPr txBox="1"/>
          <p:nvPr/>
        </p:nvSpPr>
        <p:spPr>
          <a:xfrm>
            <a:off x="6680200" y="3784600"/>
            <a:ext cx="1955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0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Pëlqime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CC008E8-4ED1-471A-9C76-86067266FF41}"/>
              </a:ext>
            </a:extLst>
          </p:cNvPr>
          <p:cNvSpPr txBox="1"/>
          <p:nvPr/>
        </p:nvSpPr>
        <p:spPr>
          <a:xfrm>
            <a:off x="6680200" y="3937000"/>
            <a:ext cx="1955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900" b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234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2DFEB8-25F4-4C7F-A86B-83DA97F4D73F}"/>
              </a:ext>
            </a:extLst>
          </p:cNvPr>
          <p:cNvSpPr txBox="1"/>
          <p:nvPr/>
        </p:nvSpPr>
        <p:spPr>
          <a:xfrm>
            <a:off x="7772400" y="39878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 b="1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±56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7A4FBF9-3BE4-4502-B620-B8D7CBCF7CD7}"/>
              </a:ext>
            </a:extLst>
          </p:cNvPr>
          <p:cNvSpPr/>
          <p:nvPr/>
        </p:nvSpPr>
        <p:spPr>
          <a:xfrm>
            <a:off x="8915400" y="3708400"/>
            <a:ext cx="2209800" cy="635000"/>
          </a:xfrm>
          <a:prstGeom prst="roundRect">
            <a:avLst/>
          </a:prstGeom>
          <a:solidFill>
            <a:srgbClr val="0D11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78B443-7B5A-42BF-B942-76A2E7AC4CE3}"/>
              </a:ext>
            </a:extLst>
          </p:cNvPr>
          <p:cNvSpPr txBox="1"/>
          <p:nvPr/>
        </p:nvSpPr>
        <p:spPr>
          <a:xfrm>
            <a:off x="9042400" y="3784600"/>
            <a:ext cx="1955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0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Komente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B64B06-4DC4-4B3B-97B0-937947C685C2}"/>
              </a:ext>
            </a:extLst>
          </p:cNvPr>
          <p:cNvSpPr txBox="1"/>
          <p:nvPr/>
        </p:nvSpPr>
        <p:spPr>
          <a:xfrm>
            <a:off x="9042400" y="3937000"/>
            <a:ext cx="1955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900" b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C4B229-FA02-40CF-90B0-03673F56AA75}"/>
              </a:ext>
            </a:extLst>
          </p:cNvPr>
          <p:cNvSpPr txBox="1"/>
          <p:nvPr/>
        </p:nvSpPr>
        <p:spPr>
          <a:xfrm>
            <a:off x="10134600" y="39878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 b="1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±4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0B674D9-3055-497E-BC88-4BCED2900979}"/>
              </a:ext>
            </a:extLst>
          </p:cNvPr>
          <p:cNvSpPr/>
          <p:nvPr/>
        </p:nvSpPr>
        <p:spPr>
          <a:xfrm>
            <a:off x="6553200" y="4470400"/>
            <a:ext cx="2209800" cy="635000"/>
          </a:xfrm>
          <a:prstGeom prst="roundRect">
            <a:avLst/>
          </a:prstGeom>
          <a:solidFill>
            <a:srgbClr val="0D11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7BF1B2-D4A4-4D1D-A443-F212EDF579D1}"/>
              </a:ext>
            </a:extLst>
          </p:cNvPr>
          <p:cNvSpPr txBox="1"/>
          <p:nvPr/>
        </p:nvSpPr>
        <p:spPr>
          <a:xfrm>
            <a:off x="6680200" y="4546600"/>
            <a:ext cx="1955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0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Eng. Rate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B8AC0B-EED0-4A3D-96A7-E46A05B2403B}"/>
              </a:ext>
            </a:extLst>
          </p:cNvPr>
          <p:cNvSpPr txBox="1"/>
          <p:nvPr/>
        </p:nvSpPr>
        <p:spPr>
          <a:xfrm>
            <a:off x="6680200" y="4699000"/>
            <a:ext cx="1955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900" b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5.8%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F6BC0C-E072-42BD-B8BD-71B7368714A6}"/>
              </a:ext>
            </a:extLst>
          </p:cNvPr>
          <p:cNvSpPr txBox="1"/>
          <p:nvPr/>
        </p:nvSpPr>
        <p:spPr>
          <a:xfrm>
            <a:off x="7772400" y="47498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 b="1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Mesatar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2EC7A78-19DE-4B79-B937-0316E5F3D9C8}"/>
              </a:ext>
            </a:extLst>
          </p:cNvPr>
          <p:cNvSpPr/>
          <p:nvPr/>
        </p:nvSpPr>
        <p:spPr>
          <a:xfrm>
            <a:off x="8915400" y="4470400"/>
            <a:ext cx="2209800" cy="635000"/>
          </a:xfrm>
          <a:prstGeom prst="roundRect">
            <a:avLst/>
          </a:prstGeom>
          <a:solidFill>
            <a:srgbClr val="0D111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6C9F6B-217F-4345-9C95-CB971671C9C7}"/>
              </a:ext>
            </a:extLst>
          </p:cNvPr>
          <p:cNvSpPr txBox="1"/>
          <p:nvPr/>
        </p:nvSpPr>
        <p:spPr>
          <a:xfrm>
            <a:off x="9042400" y="4546600"/>
            <a:ext cx="1955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0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Prob. Virale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4D052D-849E-481D-9FAE-0401D8862BFD}"/>
              </a:ext>
            </a:extLst>
          </p:cNvPr>
          <p:cNvSpPr txBox="1"/>
          <p:nvPr/>
        </p:nvSpPr>
        <p:spPr>
          <a:xfrm>
            <a:off x="9042400" y="4699000"/>
            <a:ext cx="1955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900" b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65%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9ADF14-D960-4BE6-9798-84E38A7205C0}"/>
              </a:ext>
            </a:extLst>
          </p:cNvPr>
          <p:cNvSpPr txBox="1"/>
          <p:nvPr/>
        </p:nvSpPr>
        <p:spPr>
          <a:xfrm>
            <a:off x="10134600" y="47498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100" b="1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★★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30D1A4F-3350-4379-8303-E336EF98D7F3}"/>
              </a:ext>
            </a:extLst>
          </p:cNvPr>
          <p:cNvSpPr/>
          <p:nvPr/>
        </p:nvSpPr>
        <p:spPr>
          <a:xfrm>
            <a:off x="6553200" y="5257800"/>
            <a:ext cx="4572000" cy="12700"/>
          </a:xfrm>
          <a:prstGeom prst="rect">
            <a:avLst/>
          </a:prstGeom>
          <a:solidFill>
            <a:srgbClr val="3036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sq-AL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39A036-A5F6-4D5C-8DE3-1240C86C5A98}"/>
              </a:ext>
            </a:extLst>
          </p:cNvPr>
          <p:cNvSpPr txBox="1"/>
          <p:nvPr/>
        </p:nvSpPr>
        <p:spPr>
          <a:xfrm>
            <a:off x="6553200" y="5359400"/>
            <a:ext cx="457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sq-AL" sz="12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💼 Përmbajtja profesionale rezonon — angazhim i mirë</a:t>
            </a:r>
          </a:p>
        </p:txBody>
      </p:sp>
    </p:spTree>
    <p:extLst>
      <p:ext uri="{BB962C8B-B14F-4D97-AF65-F5344CB8AC3E}">
        <p14:creationId xmlns:p14="http://schemas.microsoft.com/office/powerpoint/2010/main" val="753719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1BD5D-29EE-9DE3-6DC5-229C8376E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2800" b="1" dirty="0"/>
              <a:t>Diskutimi</a:t>
            </a:r>
          </a:p>
        </p:txBody>
      </p:sp>
      <p:sp>
        <p:nvSpPr>
          <p:cNvPr id="840" name="hero"/>
          <p:cNvSpPr/>
          <p:nvPr/>
        </p:nvSpPr>
        <p:spPr>
          <a:xfrm>
            <a:off x="838200" y="1905000"/>
            <a:ext cx="10515600" cy="1371600"/>
          </a:xfrm>
          <a:prstGeom prst="roundRect">
            <a:avLst>
              <a:gd name="adj" fmla="val 6000"/>
            </a:avLst>
          </a:prstGeom>
          <a:gradFill>
            <a:gsLst>
              <a:gs pos="0">
                <a:srgbClr val="22D3EE">
                  <a:alpha val="20000"/>
                </a:srgbClr>
              </a:gs>
              <a:gs pos="100000">
                <a:srgbClr val="A78BFA">
                  <a:alpha val="20000"/>
                </a:srgbClr>
              </a:gs>
            </a:gsLst>
            <a:lin ang="0"/>
          </a:gradFill>
          <a:ln w="15875">
            <a:solidFill>
              <a:srgbClr val="22D3EE"/>
            </a:solidFill>
          </a:ln>
        </p:spPr>
        <p:txBody>
          <a:bodyPr lIns="137160" tIns="91440" rIns="137160" bIns="91440" anchor="ctr"/>
          <a:lstStyle/>
          <a:p>
            <a:r>
              <a:rPr lang="sq-AL" sz="1100" b="1" spc="300" dirty="0">
                <a:solidFill>
                  <a:srgbClr val="22D3EE"/>
                </a:solidFill>
              </a:rPr>
              <a:t>GJETJA KYÇE</a:t>
            </a:r>
          </a:p>
          <a:p>
            <a:pPr>
              <a:spcBef>
                <a:spcPts val="300"/>
              </a:spcBef>
            </a:pPr>
            <a:r>
              <a:rPr lang="sq-AL" sz="1700" b="1" dirty="0"/>
              <a:t>Sentimenti dhe veçoritë tekstuale së bashku shpjegojnë 68% të fuqisë totale parashikuese — redaktimi i përmbajtjes para publikimit është faktori më i ndikueshëm.</a:t>
            </a:r>
          </a:p>
        </p:txBody>
      </p:sp>
      <p:sp>
        <p:nvSpPr>
          <p:cNvPr id="841" name="c841"/>
          <p:cNvSpPr/>
          <p:nvPr/>
        </p:nvSpPr>
        <p:spPr>
          <a:xfrm>
            <a:off x="838200" y="3556000"/>
            <a:ext cx="3378200" cy="2286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</p:spPr>
        <p:txBody>
          <a:bodyPr lIns="118872" tIns="100584" rIns="118872" bIns="100584" anchor="t"/>
          <a:lstStyle/>
          <a:p>
            <a:r>
              <a:rPr lang="sq-AL" sz="1500" b="1" dirty="0">
                <a:solidFill>
                  <a:srgbClr val="34D399"/>
                </a:solidFill>
              </a:rPr>
              <a:t>CatBoost ▸ SVM</a:t>
            </a:r>
          </a:p>
          <a:p>
            <a:pPr>
              <a:spcBef>
                <a:spcPts val="400"/>
              </a:spcBef>
            </a:pPr>
            <a:r>
              <a:rPr lang="sq-AL" sz="1300" dirty="0">
                <a:solidFill>
                  <a:srgbClr val="C9D1D9"/>
                </a:solidFill>
              </a:rPr>
              <a:t>Diferencë mesatare ΔR² = +0,11 në favor të CatBoost në të nëntë objektivat (p &lt; 0,01, t-test i çiftëzuar).</a:t>
            </a:r>
          </a:p>
        </p:txBody>
      </p:sp>
      <p:sp>
        <p:nvSpPr>
          <p:cNvPr id="842" name="c842"/>
          <p:cNvSpPr/>
          <p:nvPr/>
        </p:nvSpPr>
        <p:spPr>
          <a:xfrm>
            <a:off x="4406900" y="3556000"/>
            <a:ext cx="3378200" cy="2286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A78BFA"/>
            </a:solidFill>
          </a:ln>
        </p:spPr>
        <p:txBody>
          <a:bodyPr lIns="118872" tIns="100584" rIns="118872" bIns="100584" anchor="t"/>
          <a:lstStyle/>
          <a:p>
            <a:r>
              <a:rPr lang="sq-AL" sz="1500" b="1" dirty="0">
                <a:solidFill>
                  <a:srgbClr val="A78BFA"/>
                </a:solidFill>
              </a:rPr>
              <a:t>Mbi literaturën</a:t>
            </a:r>
          </a:p>
          <a:p>
            <a:pPr>
              <a:spcBef>
                <a:spcPts val="400"/>
              </a:spcBef>
            </a:pPr>
            <a:r>
              <a:rPr lang="sq-AL" sz="1300" dirty="0">
                <a:solidFill>
                  <a:srgbClr val="C9D1D9"/>
                </a:solidFill>
              </a:rPr>
              <a:t>Rezultatet konsistente me Zhang et al. dhe i tejkalojnë me +0,06, falë inxhinierisë më të pasur të veçorive.</a:t>
            </a:r>
          </a:p>
        </p:txBody>
      </p:sp>
      <p:sp>
        <p:nvSpPr>
          <p:cNvPr id="843" name="c843"/>
          <p:cNvSpPr/>
          <p:nvPr/>
        </p:nvSpPr>
        <p:spPr>
          <a:xfrm>
            <a:off x="7975600" y="3556000"/>
            <a:ext cx="3378200" cy="2286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60A5FA"/>
            </a:solidFill>
          </a:ln>
        </p:spPr>
        <p:txBody>
          <a:bodyPr lIns="118872" tIns="100584" rIns="118872" bIns="100584" anchor="t"/>
          <a:lstStyle/>
          <a:p>
            <a:r>
              <a:rPr lang="sq-AL" sz="1500" b="1" dirty="0">
                <a:solidFill>
                  <a:srgbClr val="60A5FA"/>
                </a:solidFill>
              </a:rPr>
              <a:t>Implikimi praktik</a:t>
            </a:r>
          </a:p>
          <a:p>
            <a:pPr>
              <a:spcBef>
                <a:spcPts val="400"/>
              </a:spcBef>
            </a:pPr>
            <a:r>
              <a:rPr lang="sq-AL" sz="1300" dirty="0">
                <a:solidFill>
                  <a:srgbClr val="C9D1D9"/>
                </a:solidFill>
              </a:rPr>
              <a:t>Menaxherët mund të kryejnë A/B testing virtual të drafteve para publikimit për të zgjedhur variantin më të mirë.</a:t>
            </a:r>
          </a:p>
        </p:txBody>
      </p:sp>
    </p:spTree>
    <p:extLst>
      <p:ext uri="{BB962C8B-B14F-4D97-AF65-F5344CB8AC3E}">
        <p14:creationId xmlns:p14="http://schemas.microsoft.com/office/powerpoint/2010/main" val="4003072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7838-F355-B1EA-DA95-B4817D0A0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2800" b="1" dirty="0"/>
              <a:t>Kufizimet dhe Puna e Ardhshme</a:t>
            </a:r>
          </a:p>
        </p:txBody>
      </p:sp>
      <p:sp>
        <p:nvSpPr>
          <p:cNvPr id="850" name="l850"/>
          <p:cNvSpPr/>
          <p:nvPr/>
        </p:nvSpPr>
        <p:spPr>
          <a:xfrm>
            <a:off x="838200" y="18796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sq-AL" sz="1200" b="1" spc="300" dirty="0">
                <a:solidFill>
                  <a:srgbClr val="F59E0B"/>
                </a:solidFill>
              </a:rPr>
              <a:t>⚠  KUFIZIMET</a:t>
            </a:r>
          </a:p>
        </p:txBody>
      </p:sp>
      <p:sp>
        <p:nvSpPr>
          <p:cNvPr id="851" name="c851"/>
          <p:cNvSpPr/>
          <p:nvPr/>
        </p:nvSpPr>
        <p:spPr>
          <a:xfrm>
            <a:off x="838200" y="2260600"/>
            <a:ext cx="3378200" cy="1778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txBody>
          <a:bodyPr lIns="118872" tIns="91440" rIns="118872" bIns="91440" anchor="t"/>
          <a:lstStyle/>
          <a:p>
            <a:r>
              <a:rPr lang="sq-AL" sz="1400" b="1" dirty="0">
                <a:solidFill>
                  <a:srgbClr val="F59E0B"/>
                </a:solidFill>
              </a:rPr>
              <a:t>Varësia nga platforma</a:t>
            </a:r>
          </a:p>
          <a:p>
            <a:pPr>
              <a:spcBef>
                <a:spcPts val="300"/>
              </a:spcBef>
            </a:pPr>
            <a:r>
              <a:rPr lang="sq-AL" sz="1250" dirty="0">
                <a:solidFill>
                  <a:srgbClr val="C9D1D9"/>
                </a:solidFill>
              </a:rPr>
              <a:t>Modeli i trajnuar në Instagram/Twitter mund të humbasë saktësi mbi TikTok ose LinkedIn.</a:t>
            </a:r>
          </a:p>
        </p:txBody>
      </p:sp>
      <p:sp>
        <p:nvSpPr>
          <p:cNvPr id="852" name="c852"/>
          <p:cNvSpPr/>
          <p:nvPr/>
        </p:nvSpPr>
        <p:spPr>
          <a:xfrm>
            <a:off x="4406900" y="2260600"/>
            <a:ext cx="3378200" cy="1778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txBody>
          <a:bodyPr lIns="118872" tIns="91440" rIns="118872" bIns="91440" anchor="t"/>
          <a:lstStyle/>
          <a:p>
            <a:r>
              <a:rPr lang="sq-AL" sz="1400" b="1" dirty="0">
                <a:solidFill>
                  <a:srgbClr val="F59E0B"/>
                </a:solidFill>
              </a:rPr>
              <a:t>Specifika gjuhësore</a:t>
            </a:r>
          </a:p>
          <a:p>
            <a:pPr>
              <a:spcBef>
                <a:spcPts val="300"/>
              </a:spcBef>
            </a:pPr>
            <a:r>
              <a:rPr lang="sq-AL" sz="1250" dirty="0">
                <a:solidFill>
                  <a:srgbClr val="C9D1D9"/>
                </a:solidFill>
              </a:rPr>
              <a:t>VADER dhe BERT janë optimale në anglisht; gjuhët si shqipja kërkojnë adaptime.</a:t>
            </a:r>
          </a:p>
        </p:txBody>
      </p:sp>
      <p:sp>
        <p:nvSpPr>
          <p:cNvPr id="853" name="c853"/>
          <p:cNvSpPr/>
          <p:nvPr/>
        </p:nvSpPr>
        <p:spPr>
          <a:xfrm>
            <a:off x="7975600" y="2260600"/>
            <a:ext cx="3378200" cy="1778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txBody>
          <a:bodyPr lIns="118872" tIns="91440" rIns="118872" bIns="91440" anchor="t"/>
          <a:lstStyle/>
          <a:p>
            <a:r>
              <a:rPr lang="sq-AL" sz="1400" b="1" dirty="0">
                <a:solidFill>
                  <a:srgbClr val="F59E0B"/>
                </a:solidFill>
              </a:rPr>
              <a:t>Evoluimi i temave</a:t>
            </a:r>
          </a:p>
          <a:p>
            <a:pPr>
              <a:spcBef>
                <a:spcPts val="300"/>
              </a:spcBef>
            </a:pPr>
            <a:r>
              <a:rPr lang="sq-AL" sz="1250" dirty="0">
                <a:solidFill>
                  <a:srgbClr val="C9D1D9"/>
                </a:solidFill>
              </a:rPr>
              <a:t>Sjellja e përdoruesve dhe temat sociale ndryshojnë me kalimin e kohës.</a:t>
            </a:r>
          </a:p>
        </p:txBody>
      </p:sp>
      <p:sp>
        <p:nvSpPr>
          <p:cNvPr id="860" name="l860"/>
          <p:cNvSpPr/>
          <p:nvPr/>
        </p:nvSpPr>
        <p:spPr>
          <a:xfrm>
            <a:off x="838200" y="43180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sq-AL" sz="1200" b="1" spc="300" dirty="0">
                <a:solidFill>
                  <a:srgbClr val="34D399"/>
                </a:solidFill>
              </a:rPr>
              <a:t>→  PUNA E ARDHSHME</a:t>
            </a:r>
          </a:p>
        </p:txBody>
      </p:sp>
      <p:sp>
        <p:nvSpPr>
          <p:cNvPr id="861" name="c861"/>
          <p:cNvSpPr/>
          <p:nvPr/>
        </p:nvSpPr>
        <p:spPr>
          <a:xfrm>
            <a:off x="838200" y="4699000"/>
            <a:ext cx="5080000" cy="1524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</p:spPr>
        <p:txBody>
          <a:bodyPr lIns="118872" tIns="91440" rIns="118872" bIns="91440" anchor="t"/>
          <a:lstStyle/>
          <a:p>
            <a:r>
              <a:rPr lang="sq-AL" sz="1400" b="1" dirty="0">
                <a:solidFill>
                  <a:srgbClr val="34D399"/>
                </a:solidFill>
              </a:rPr>
              <a:t>Adaptim shumëgjuhësor</a:t>
            </a:r>
          </a:p>
          <a:p>
            <a:pPr>
              <a:spcBef>
                <a:spcPts val="300"/>
              </a:spcBef>
            </a:pPr>
            <a:r>
              <a:rPr lang="sq-AL" sz="1250" dirty="0">
                <a:solidFill>
                  <a:srgbClr val="C9D1D9"/>
                </a:solidFill>
              </a:rPr>
              <a:t>Integrimi i modeleve të gjuhës specifike (p.sh. për shqipen) dhe transfer learning ndërmjet platformave.</a:t>
            </a:r>
          </a:p>
        </p:txBody>
      </p:sp>
      <p:sp>
        <p:nvSpPr>
          <p:cNvPr id="862" name="c862"/>
          <p:cNvSpPr/>
          <p:nvPr/>
        </p:nvSpPr>
        <p:spPr>
          <a:xfrm>
            <a:off x="6273800" y="4699000"/>
            <a:ext cx="5080000" cy="1524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</p:spPr>
        <p:txBody>
          <a:bodyPr lIns="118872" tIns="91440" rIns="118872" bIns="91440" anchor="t"/>
          <a:lstStyle/>
          <a:p>
            <a:r>
              <a:rPr lang="sq-AL" sz="1400" b="1" dirty="0">
                <a:solidFill>
                  <a:srgbClr val="34D399"/>
                </a:solidFill>
              </a:rPr>
              <a:t>Veçori multimodale</a:t>
            </a:r>
          </a:p>
          <a:p>
            <a:pPr>
              <a:spcBef>
                <a:spcPts val="300"/>
              </a:spcBef>
            </a:pPr>
            <a:r>
              <a:rPr lang="sq-AL" sz="1250" dirty="0">
                <a:solidFill>
                  <a:srgbClr val="C9D1D9"/>
                </a:solidFill>
              </a:rPr>
              <a:t>Shtimi i analizës së imazheve/videos dhe ri-trajnim periodik për t'iu përshtatur trendeve të reja.</a:t>
            </a:r>
          </a:p>
        </p:txBody>
      </p:sp>
    </p:spTree>
    <p:extLst>
      <p:ext uri="{BB962C8B-B14F-4D97-AF65-F5344CB8AC3E}">
        <p14:creationId xmlns:p14="http://schemas.microsoft.com/office/powerpoint/2010/main" val="284974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035B5-FB18-1093-9E51-A8C1873A8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sz="2800" b="1" dirty="0"/>
              <a:t>Konkluzioni</a:t>
            </a:r>
          </a:p>
        </p:txBody>
      </p:sp>
      <p:sp>
        <p:nvSpPr>
          <p:cNvPr id="871" name="bd871"/>
          <p:cNvSpPr/>
          <p:nvPr/>
        </p:nvSpPr>
        <p:spPr>
          <a:xfrm>
            <a:off x="838200" y="2133600"/>
            <a:ext cx="431800" cy="4318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sq-AL" sz="1500" b="1" dirty="0">
                <a:solidFill>
                  <a:srgbClr val="0D1117"/>
                </a:solidFill>
              </a:rPr>
              <a:t>✓</a:t>
            </a:r>
          </a:p>
        </p:txBody>
      </p:sp>
      <p:sp>
        <p:nvSpPr>
          <p:cNvPr id="872" name="tx871"/>
          <p:cNvSpPr/>
          <p:nvPr/>
        </p:nvSpPr>
        <p:spPr>
          <a:xfrm>
            <a:off x="1473200" y="2057400"/>
            <a:ext cx="57150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sq-AL" sz="1450" dirty="0">
                <a:solidFill>
                  <a:srgbClr val="E6EDF3"/>
                </a:solidFill>
              </a:rPr>
              <a:t>Reagimi i audiencës modelohet me saktësi pa metrika post-publikuese (R² = 0,853).</a:t>
            </a:r>
          </a:p>
        </p:txBody>
      </p:sp>
      <p:sp>
        <p:nvSpPr>
          <p:cNvPr id="873" name="bd873"/>
          <p:cNvSpPr/>
          <p:nvPr/>
        </p:nvSpPr>
        <p:spPr>
          <a:xfrm>
            <a:off x="838200" y="3022600"/>
            <a:ext cx="431800" cy="4318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sq-AL" sz="1500" b="1" dirty="0">
                <a:solidFill>
                  <a:srgbClr val="0D1117"/>
                </a:solidFill>
              </a:rPr>
              <a:t>✓</a:t>
            </a:r>
          </a:p>
        </p:txBody>
      </p:sp>
      <p:sp>
        <p:nvSpPr>
          <p:cNvPr id="874" name="tx873"/>
          <p:cNvSpPr/>
          <p:nvPr/>
        </p:nvSpPr>
        <p:spPr>
          <a:xfrm>
            <a:off x="1473200" y="2946400"/>
            <a:ext cx="57150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sq-AL" sz="1450" dirty="0">
                <a:solidFill>
                  <a:srgbClr val="E6EDF3"/>
                </a:solidFill>
              </a:rPr>
              <a:t>CatBoost tejkalon SVM dhe modelet bazë në të nëntë objektivat.</a:t>
            </a:r>
          </a:p>
        </p:txBody>
      </p:sp>
      <p:sp>
        <p:nvSpPr>
          <p:cNvPr id="875" name="bd875"/>
          <p:cNvSpPr/>
          <p:nvPr/>
        </p:nvSpPr>
        <p:spPr>
          <a:xfrm>
            <a:off x="838200" y="3911600"/>
            <a:ext cx="431800" cy="4318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sq-AL" sz="1500" b="1" dirty="0">
                <a:solidFill>
                  <a:srgbClr val="0D1117"/>
                </a:solidFill>
              </a:rPr>
              <a:t>✓</a:t>
            </a:r>
          </a:p>
        </p:txBody>
      </p:sp>
      <p:sp>
        <p:nvSpPr>
          <p:cNvPr id="876" name="tx875"/>
          <p:cNvSpPr/>
          <p:nvPr/>
        </p:nvSpPr>
        <p:spPr>
          <a:xfrm>
            <a:off x="1473200" y="3835400"/>
            <a:ext cx="57150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sq-AL" sz="1450" dirty="0">
                <a:solidFill>
                  <a:srgbClr val="E6EDF3"/>
                </a:solidFill>
              </a:rPr>
              <a:t>Sentimenti + teksti dominojnë: 68% e fuqisë parashikuese.</a:t>
            </a:r>
          </a:p>
        </p:txBody>
      </p:sp>
      <p:sp>
        <p:nvSpPr>
          <p:cNvPr id="877" name="bd877"/>
          <p:cNvSpPr/>
          <p:nvPr/>
        </p:nvSpPr>
        <p:spPr>
          <a:xfrm>
            <a:off x="838200" y="4800600"/>
            <a:ext cx="431800" cy="4318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sq-AL" sz="1500" b="1" dirty="0">
                <a:solidFill>
                  <a:srgbClr val="0D1117"/>
                </a:solidFill>
              </a:rPr>
              <a:t>✓</a:t>
            </a:r>
          </a:p>
        </p:txBody>
      </p:sp>
      <p:sp>
        <p:nvSpPr>
          <p:cNvPr id="878" name="tx877"/>
          <p:cNvSpPr/>
          <p:nvPr/>
        </p:nvSpPr>
        <p:spPr>
          <a:xfrm>
            <a:off x="1473200" y="4724400"/>
            <a:ext cx="57150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sq-AL" sz="1450" dirty="0">
                <a:solidFill>
                  <a:srgbClr val="E6EDF3"/>
                </a:solidFill>
              </a:rPr>
              <a:t>Pipeline i riprodhueshëm me interpretueshmëri SHAP të integruar.</a:t>
            </a:r>
          </a:p>
        </p:txBody>
      </p:sp>
      <p:sp>
        <p:nvSpPr>
          <p:cNvPr id="880" name="thanks"/>
          <p:cNvSpPr/>
          <p:nvPr/>
        </p:nvSpPr>
        <p:spPr>
          <a:xfrm>
            <a:off x="7620000" y="2133600"/>
            <a:ext cx="3733800" cy="33020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22D3EE">
                  <a:alpha val="18000"/>
                </a:srgbClr>
              </a:gs>
              <a:gs pos="100000">
                <a:srgbClr val="A78BFA">
                  <a:alpha val="18000"/>
                </a:srgbClr>
              </a:gs>
            </a:gsLst>
            <a:lin ang="2700000"/>
          </a:gradFill>
          <a:ln w="15875">
            <a:solidFill>
              <a:srgbClr val="A78BFA"/>
            </a:solidFill>
          </a:ln>
        </p:spPr>
        <p:txBody>
          <a:bodyPr lIns="118872" tIns="118872" rIns="118872" bIns="118872" anchor="ctr"/>
          <a:lstStyle/>
          <a:p>
            <a:pPr algn="ctr"/>
            <a:r>
              <a:rPr lang="sq-AL" sz="2400" b="1" dirty="0">
                <a:solidFill>
                  <a:srgbClr val="FFFFFF"/>
                </a:solidFill>
              </a:rPr>
              <a:t>Faleminderit!</a:t>
            </a:r>
          </a:p>
          <a:p>
            <a:pPr algn="ctr">
              <a:spcBef>
                <a:spcPts val="600"/>
              </a:spcBef>
            </a:pPr>
            <a:r>
              <a:rPr lang="sq-AL" sz="1300" b="1" dirty="0">
                <a:solidFill>
                  <a:srgbClr val="22D3EE"/>
                </a:solidFill>
              </a:rPr>
              <a:t>Pyetje?</a:t>
            </a:r>
          </a:p>
          <a:p>
            <a:pPr algn="ctr">
              <a:spcBef>
                <a:spcPts val="800"/>
              </a:spcBef>
            </a:pPr>
            <a:r>
              <a:rPr lang="sq-AL" sz="1250" dirty="0">
                <a:solidFill>
                  <a:srgbClr val="E6EDF3"/>
                </a:solidFill>
              </a:rPr>
              <a:t>Shefket Bylygbashi</a:t>
            </a:r>
          </a:p>
          <a:p>
            <a:pPr algn="ctr"/>
            <a:r>
              <a:rPr lang="sq-AL" sz="1250" dirty="0">
                <a:solidFill>
                  <a:srgbClr val="E6EDF3"/>
                </a:solidFill>
              </a:rPr>
              <a:t>Arton Gërguri</a:t>
            </a:r>
          </a:p>
          <a:p>
            <a:pPr algn="ctr">
              <a:spcBef>
                <a:spcPts val="300"/>
              </a:spcBef>
            </a:pPr>
            <a:r>
              <a:rPr lang="sq-AL" sz="1100" dirty="0">
                <a:solidFill>
                  <a:srgbClr val="8B949E"/>
                </a:solidFill>
              </a:rPr>
              <a:t>Grupi 10 · FIEK · UP</a:t>
            </a:r>
          </a:p>
        </p:txBody>
      </p:sp>
    </p:spTree>
    <p:extLst>
      <p:ext uri="{BB962C8B-B14F-4D97-AF65-F5344CB8AC3E}">
        <p14:creationId xmlns:p14="http://schemas.microsoft.com/office/powerpoint/2010/main" val="3493454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0040751628]">
  <a:themeElements>
    <a:clrScheme name="Office">
      <a:dk1>
        <a:srgbClr val="0D1117"/>
      </a:dk1>
      <a:lt1>
        <a:srgbClr val="E6EDF3"/>
      </a:lt1>
      <a:dk2>
        <a:srgbClr val="161B22"/>
      </a:dk2>
      <a:lt2>
        <a:srgbClr val="8B949E"/>
      </a:lt2>
      <a:accent1>
        <a:srgbClr val="22D3EE"/>
      </a:accent1>
      <a:accent2>
        <a:srgbClr val="A78BFA"/>
      </a:accent2>
      <a:accent3>
        <a:srgbClr val="34D399"/>
      </a:accent3>
      <a:accent4>
        <a:srgbClr val="F59E0B"/>
      </a:accent4>
      <a:accent5>
        <a:srgbClr val="F472B6"/>
      </a:accent5>
      <a:accent6>
        <a:srgbClr val="60A5FA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C6F00EA-C2C2-478D-80C0-76FE7A13FDA5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0f3fa025-6441-4499-981b-d0dc47a1f30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1537</Words>
  <Application>Microsoft Office PowerPoint</Application>
  <PresentationFormat>Widescreen</PresentationFormat>
  <Paragraphs>281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Consolas</vt:lpstr>
      <vt:lpstr>Segoe UI</vt:lpstr>
      <vt:lpstr>Segoe UI Semibold</vt:lpstr>
      <vt:lpstr>Office Theme [1780040751628]</vt:lpstr>
      <vt:lpstr>PUNIM SHKENCOR · METODOLOGJI HULUMTUESE Analiza e Sentimentit në të Dhënat e Rrjeteve Sociale Parashikimi i Reagimit ndaj Postimeve</vt:lpstr>
      <vt:lpstr>Konteksti dhe Motivimi</vt:lpstr>
      <vt:lpstr>Problemi dhe Hendeku Kërkimor</vt:lpstr>
      <vt:lpstr>Pyetjet Kërkimore</vt:lpstr>
      <vt:lpstr>Kontributi Shkencor</vt:lpstr>
      <vt:lpstr>Puna e Ndërlidhur</vt:lpstr>
      <vt:lpstr>PJESA KRYESORE Metodologjia dhe Pipeline-i</vt:lpstr>
      <vt:lpstr>Formulimi i Problemit dhe Dataset-i</vt:lpstr>
      <vt:lpstr>Inxhinieria e Veçorive</vt:lpstr>
      <vt:lpstr>Pipeline-i Parashikues</vt:lpstr>
      <vt:lpstr>Arkitektura e Sistemit</vt:lpstr>
      <vt:lpstr>Hipotezat dhe Validimi</vt:lpstr>
      <vt:lpstr>Rezultatet e Regresionit · CatBoost</vt:lpstr>
      <vt:lpstr>Krahasimi i Modeleve (R² · Likes)</vt:lpstr>
      <vt:lpstr>Performanca e Klasifikimit</vt:lpstr>
      <vt:lpstr>Rëndësia e Veçorive (SHAP)</vt:lpstr>
      <vt:lpstr>Performanca sipas Platformës</vt:lpstr>
      <vt:lpstr>Modeli në Veprim · Shembuj Parashikimi</vt:lpstr>
      <vt:lpstr>Diskutimi</vt:lpstr>
      <vt:lpstr>Kufizimet dhe Puna e Ardhshme</vt:lpstr>
      <vt:lpstr>Konkluzioni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Arton Gërguri</dc:creator>
  <cp:lastModifiedBy>Arton Gërguri</cp:lastModifiedBy>
  <cp:revision>5</cp:revision>
  <dcterms:created xsi:type="dcterms:W3CDTF">2026-05-29T07:43:25Z</dcterms:created>
  <dcterms:modified xsi:type="dcterms:W3CDTF">2026-05-29T08:32:40Z</dcterms:modified>
</cp:coreProperties>
</file>